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838" r:id="rId1"/>
  </p:sldMasterIdLst>
  <p:notesMasterIdLst>
    <p:notesMasterId r:id="rId19"/>
  </p:notesMasterIdLst>
  <p:handoutMasterIdLst>
    <p:handoutMasterId r:id="rId20"/>
  </p:handoutMasterIdLst>
  <p:sldIdLst>
    <p:sldId id="427" r:id="rId2"/>
    <p:sldId id="440" r:id="rId3"/>
    <p:sldId id="481" r:id="rId4"/>
    <p:sldId id="442" r:id="rId5"/>
    <p:sldId id="491" r:id="rId6"/>
    <p:sldId id="482" r:id="rId7"/>
    <p:sldId id="486" r:id="rId8"/>
    <p:sldId id="496" r:id="rId9"/>
    <p:sldId id="487" r:id="rId10"/>
    <p:sldId id="488" r:id="rId11"/>
    <p:sldId id="490" r:id="rId12"/>
    <p:sldId id="497" r:id="rId13"/>
    <p:sldId id="498" r:id="rId14"/>
    <p:sldId id="499" r:id="rId15"/>
    <p:sldId id="461" r:id="rId16"/>
    <p:sldId id="501" r:id="rId17"/>
    <p:sldId id="485" r:id="rId18"/>
  </p:sldIdLst>
  <p:sldSz cx="9906000" cy="6858000" type="A4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>
          <p15:clr>
            <a:srgbClr val="A4A3A4"/>
          </p15:clr>
        </p15:guide>
        <p15:guide id="2" pos="311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EEBDF"/>
    <a:srgbClr val="B8C2E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8" autoAdjust="0"/>
    <p:restoredTop sz="93478" autoAdjust="0"/>
  </p:normalViewPr>
  <p:slideViewPr>
    <p:cSldViewPr snapToGrid="0">
      <p:cViewPr>
        <p:scale>
          <a:sx n="100" d="100"/>
          <a:sy n="100" d="100"/>
        </p:scale>
        <p:origin x="3348" y="1196"/>
      </p:cViewPr>
      <p:guideLst>
        <p:guide orient="horz" pos="2158"/>
        <p:guide pos="311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401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C6C58E5-B335-43D1-8539-84214CC4298E}" type="datetime1">
              <a:rPr lang="ko-KR" altLang="en-US"/>
              <a:pPr lvl="0">
                <a:defRPr/>
              </a:pPr>
              <a:t>2025-08-14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88E8FDA6-6DC9-4EAB-920B-F536BAB80F47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4D4F443-80F1-45FE-964F-4B7F08BCAEFC}" type="datetime1">
              <a:rPr lang="ko-KR" altLang="en-US"/>
              <a:pPr lvl="0">
                <a:defRPr/>
              </a:pPr>
              <a:t>2025-08-14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77900" y="1239838"/>
            <a:ext cx="48418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749B5091-BB0E-4248-8F7A-EFA923AEA320}" type="slidenum">
              <a:rPr lang="ko-KR" altLang="en-US"/>
              <a:pPr lvl="0"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1pPr>
    <a:lvl2pPr marL="578759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2pPr>
    <a:lvl3pPr marL="115752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3pPr>
    <a:lvl4pPr marL="173628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4pPr>
    <a:lvl5pPr marL="2315040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5pPr>
    <a:lvl6pPr marL="2893802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6pPr>
    <a:lvl7pPr marL="3472561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7pPr>
    <a:lvl8pPr marL="4051323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8pPr>
    <a:lvl9pPr marL="4630082" algn="l" defTabSz="1157521" rtl="0" eaLnBrk="1" latinLnBrk="1" hangingPunct="1">
      <a:defRPr sz="152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9B5091-BB0E-4248-8F7A-EFA923AEA320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2047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9D15-9965-49DA-177B-6319AFCF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2AEF14-2A61-7034-B08A-6BFB22191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2F4212-5FBD-427C-91DE-5F54A86C4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1D535F-6B74-EF55-E0CA-747A5F994E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6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5E4E5-A6D2-4C81-6B4C-AE6C5A7DB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AC7CD8-45C5-B227-88AC-A7B79A688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54CE3F-71AD-4F3F-8670-0E513AACF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9F5AC1-2AB0-A20F-5663-4E1A414490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764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A009-61C5-7536-FFF4-12957669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60BB9B-A726-8B27-5ADF-B66E6828B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7290A8-4738-7B26-EFD7-3EA8A001E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39423-B5DE-2078-CB77-C741708FE1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34651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66622-A34E-5D57-CF3B-8A103597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013FDBE-EB7F-044A-0001-E5517A48BE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ABF719-9BA4-5DEA-8F78-5C0FFDB4A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BC2277-3EF9-2067-1A12-925B3B6C3C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5169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ADE8B-4463-87EB-5AD9-188FD8B62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9F6CCC-35DD-4F1E-EBAB-F58AAC260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92D5E1-6D91-018F-A1A6-6C7EA6D48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51DE6B-88D7-6DCF-8541-4D5DB41E12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6564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DA07-FCDE-F2F0-A6A0-B8E257B59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326438-6F02-99F6-F703-E1EED6E26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8FCFE2-13E3-0116-4626-E325995D41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536317-CB68-109C-A450-7A1A62EEE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9827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5709D-08B9-5D93-464A-15D42FB22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2328212-3CCD-E6F1-3A31-F677C705D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B18E2C8-2C0C-1152-0D31-EAC4AA94EB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341DB6-51D4-3441-A5A0-0CF71F4E8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2002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759A-3234-2A35-4406-ABEFF0DC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7BE45A-CA09-68D3-FBE1-06E218497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D6780A2-63B6-8AC4-750A-FEE4B1C10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86BDAF-4D15-D171-16DA-F4F064666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63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7593-9DFC-8B7F-0499-D72FC726D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3CC316-3C4F-96EF-1834-AF7CC8A397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81DB6B-5EA9-1E2E-7544-79298072C3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9F5A25-652C-2E21-1837-481E69A29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49940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CFA68-A73C-7DF8-7B17-D47FD1E1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A5D283-A258-044A-C2E0-2C264C1185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F409DA-11A1-4B00-46CF-17A9B899DF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0C98DE-6873-BFE0-B7B7-94CAC7684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0866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ED48A-0F0F-773C-0C6A-504F9BCB6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284C05-FD01-856F-4BD3-050BCCA499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FD4793-8A0E-7F66-BE9E-F598E7606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D8B546-6B00-0400-0EC5-C546ACEC6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459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EE65-1109-7785-CE8D-2A55624E0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255E3D-547C-1C1B-1F68-FF028AA52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D4AA62-212C-84C4-BFC7-4676A6B06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F7E20-986B-53C3-5656-B69703524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9328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BA19D-8781-B492-602F-1B8E34387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95047C-1141-50D3-A5BC-8BCD846D30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5C6CD-1547-DE05-2B96-CC3F1E0FC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D42A83-2A95-6E1C-BBDA-9078F87E7B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7287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FDF9D-40C2-089B-D418-CAC0E9CA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69FA1C-E577-6691-3A0A-1EF6247E8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7A0452-7D76-0216-9018-2400E2E0D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053E42-470C-5D50-77E9-045263615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6077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42C3-BCA2-A581-895A-86B6ECA6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4AA9FB-C7F6-7B8E-7E06-8D62D101DD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F7DF8-0807-FA2E-0D10-76D58936F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36CEB3-BDDC-2ADE-ACD4-823B60E87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749B5091-BB0E-4248-8F7A-EFA923AEA320}" type="slidenum">
              <a:rPr lang="ko-KR" altLang="en-US" smtClean="0"/>
              <a:pPr lvl="0">
                <a:defRPr/>
              </a:pPr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0037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244" y="3648941"/>
            <a:ext cx="2302498" cy="4267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1467" y="2550857"/>
            <a:ext cx="8983066" cy="129479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1467" y="4148242"/>
            <a:ext cx="8983066" cy="1655762"/>
          </a:xfrm>
        </p:spPr>
        <p:txBody>
          <a:bodyPr/>
          <a:lstStyle>
            <a:lvl1pPr marL="0" indent="0" algn="l">
              <a:buNone/>
              <a:defRPr sz="2400" i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61467" y="3989995"/>
            <a:ext cx="6641356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08403" y="6469469"/>
            <a:ext cx="2301640" cy="3044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29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705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608" y="314078"/>
            <a:ext cx="1181545" cy="21900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57" y="587299"/>
            <a:ext cx="9729578" cy="5584432"/>
          </a:xfrm>
        </p:spPr>
        <p:txBody>
          <a:bodyPr/>
          <a:lstStyle>
            <a:lvl1pPr marL="182563" indent="-182563" latinLnBrk="0">
              <a:lnSpc>
                <a:spcPct val="12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22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8163" indent="-355600" latinLnBrk="0">
              <a:lnSpc>
                <a:spcPct val="120000"/>
              </a:lnSpc>
              <a:buFont typeface="Wingdings" panose="05000000000000000000" pitchFamily="2" charset="2"/>
              <a:buChar char="ü"/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19138" indent="-273050" latinLnBrk="0">
              <a:lnSpc>
                <a:spcPct val="120000"/>
              </a:lnSpc>
              <a:buFont typeface="Wingdings" panose="05000000000000000000" pitchFamily="2" charset="2"/>
              <a:buChar char="§"/>
              <a:defRPr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84250" indent="-266700" latinLnBrk="0">
              <a:lnSpc>
                <a:spcPct val="120000"/>
              </a:lnSpc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08403" y="6469469"/>
            <a:ext cx="2301640" cy="304403"/>
          </a:xfrm>
        </p:spPr>
        <p:txBody>
          <a:bodyPr/>
          <a:lstStyle>
            <a:lvl1pPr>
              <a:defRPr b="1">
                <a:solidFill>
                  <a:schemeClr val="tx2"/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pPr/>
              <a:t>‹#›</a:t>
            </a:fld>
            <a:r>
              <a:rPr lang="ko-KR" altLang="en-US" dirty="0"/>
              <a:t> </a:t>
            </a:r>
            <a:r>
              <a:rPr lang="en-US" altLang="ko-KR" dirty="0"/>
              <a:t>/ 10</a:t>
            </a:r>
            <a:endParaRPr lang="ko-KR" altLang="en-US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176421" y="471116"/>
            <a:ext cx="8431004" cy="45719"/>
          </a:xfrm>
          <a:prstGeom prst="rect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sp>
        <p:nvSpPr>
          <p:cNvPr id="14" name="Footer Placeholder 4"/>
          <p:cNvSpPr txBox="1">
            <a:spLocks/>
          </p:cNvSpPr>
          <p:nvPr userDrawn="1"/>
        </p:nvSpPr>
        <p:spPr>
          <a:xfrm>
            <a:off x="102413" y="6469469"/>
            <a:ext cx="3343275" cy="304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50" b="1" kern="1200">
                <a:solidFill>
                  <a:schemeClr val="tx2"/>
                </a:solidFill>
                <a:latin typeface="Arial Narrow" panose="020B060602020203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i="1" dirty="0">
                <a:solidFill>
                  <a:schemeClr val="bg2"/>
                </a:solidFill>
              </a:rPr>
              <a:t>Embedded</a:t>
            </a:r>
            <a:r>
              <a:rPr lang="en-US" altLang="ko-KR" i="1" baseline="0" dirty="0">
                <a:solidFill>
                  <a:schemeClr val="bg2"/>
                </a:solidFill>
              </a:rPr>
              <a:t> System Architecture Lab</a:t>
            </a:r>
          </a:p>
          <a:p>
            <a:r>
              <a:rPr lang="en-US" altLang="ko-KR" i="1" baseline="0" dirty="0">
                <a:solidFill>
                  <a:schemeClr val="tx2"/>
                </a:solidFill>
              </a:rPr>
              <a:t>Department of Electrical Engineering</a:t>
            </a:r>
            <a:endParaRPr lang="ko-KR" altLang="en-US" i="1" dirty="0">
              <a:solidFill>
                <a:schemeClr val="tx2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02413" y="140019"/>
            <a:ext cx="9627165" cy="329979"/>
          </a:xfrm>
        </p:spPr>
        <p:txBody>
          <a:bodyPr>
            <a:noAutofit/>
          </a:bodyPr>
          <a:lstStyle>
            <a:lvl1pPr>
              <a:defRPr sz="2400" b="1">
                <a:solidFill>
                  <a:srgbClr val="C8015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591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/>
          </p:nvPr>
        </p:nvSpPr>
        <p:spPr>
          <a:xfrm>
            <a:off x="742950" y="1329879"/>
            <a:ext cx="8420100" cy="1294790"/>
          </a:xfrm>
        </p:spPr>
        <p:txBody>
          <a:bodyPr anchor="b">
            <a:normAutofit/>
          </a:bodyPr>
          <a:lstStyle>
            <a:lvl1pPr algn="ctr">
              <a:defRPr sz="4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61467" y="3434881"/>
            <a:ext cx="89830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18" name="직사각형 9"/>
          <p:cNvSpPr/>
          <p:nvPr userDrawn="1"/>
        </p:nvSpPr>
        <p:spPr>
          <a:xfrm>
            <a:off x="461467" y="2770795"/>
            <a:ext cx="8983066" cy="45719"/>
          </a:xfrm>
          <a:prstGeom prst="rect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lvl="0" algn="ctr"/>
            <a:endParaRPr lang="ko-KR" altLang="en-US" dirty="0"/>
          </a:p>
        </p:txBody>
      </p:sp>
      <p:pic>
        <p:nvPicPr>
          <p:cNvPr id="19" name="그림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144" y="6092701"/>
            <a:ext cx="2798389" cy="4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03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8620B-A437-4F0D-A730-8BB93955CBD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2513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file:///C:\Users\esa02\Downloads\Presentation\babysleeping_crop_compare.wmv" TargetMode="External"/><Relationship Id="rId7" Type="http://schemas.openxmlformats.org/officeDocument/2006/relationships/image" Target="../media/image4.png"/><Relationship Id="rId2" Type="http://schemas.openxmlformats.org/officeDocument/2006/relationships/video" Target="file:///C:\Users\esa02\Downloads\Presentation\camera_comparison.wmv" TargetMode="External"/><Relationship Id="rId1" Type="http://schemas.microsoft.com/office/2007/relationships/media" Target="file:///C:\Users\esa02\Downloads\Presentation\camera_comparison.wmv" TargetMode="Externa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2.xml"/><Relationship Id="rId4" Type="http://schemas.openxmlformats.org/officeDocument/2006/relationships/video" Target="file:///C:\Users\esa02\Downloads\Presentation\babysleeping_crop_compare.wmv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file:///C:\Users\esa02\Downloads\Presentation\babysleeping-iir-alpha10-delta0.2.wmv" TargetMode="External"/><Relationship Id="rId1" Type="http://schemas.microsoft.com/office/2007/relationships/media" Target="file:///C:\Users\esa02\Downloads\Presentation\babysleeping-iir-alpha10-delta0.2.wmv" TargetMode="Externa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" Type="http://schemas.openxmlformats.org/officeDocument/2006/relationships/video" Target="file:///C:\Users\esa02\Downloads\Presentation\BPMag.wmv" TargetMode="Externa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microsoft.com/office/2007/relationships/media" Target="file:///C:\Users\esa02\Downloads\Presentation\BPMag.wmv" TargetMode="Externa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notesSlide" Target="../notesSlides/notesSlide13.xml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Learning based video motion magnification(W4)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b="1" dirty="0" err="1"/>
              <a:t>Seungheon</a:t>
            </a:r>
            <a:r>
              <a:rPr lang="en-US" altLang="ko-KR" b="1" dirty="0"/>
              <a:t> Choi</a:t>
            </a:r>
          </a:p>
          <a:p>
            <a:r>
              <a:rPr lang="en-US" altLang="ko-KR" dirty="0"/>
              <a:t>Department of Electronic Engineering</a:t>
            </a:r>
          </a:p>
          <a:p>
            <a:r>
              <a:rPr lang="en-US" altLang="ko-KR" dirty="0"/>
              <a:t>Kyungpook National University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128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ECAAC-C567-4673-4B0E-EB7B1636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27606EF-A9D6-00DB-67AB-DB1CE5B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6237D350-37DF-23C6-6DCF-07E9262F2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3845002"/>
          </a:xfrm>
        </p:spPr>
        <p:txBody>
          <a:bodyPr>
            <a:normAutofit/>
          </a:bodyPr>
          <a:lstStyle/>
          <a:p>
            <a:r>
              <a:rPr lang="en-US" altLang="ko-KR" dirty="0"/>
              <a:t>1. Feedback</a:t>
            </a:r>
          </a:p>
          <a:p>
            <a:r>
              <a:rPr lang="en-US" altLang="ko-KR" dirty="0"/>
              <a:t>2. Gantt chart</a:t>
            </a:r>
          </a:p>
          <a:p>
            <a:r>
              <a:rPr lang="en-US" altLang="ko-KR" dirty="0"/>
              <a:t>3. Eulerian Video Magnification</a:t>
            </a:r>
          </a:p>
          <a:p>
            <a:r>
              <a:rPr lang="en-US" altLang="ko-KR" dirty="0"/>
              <a:t>4. Phase-Based Video Magnification</a:t>
            </a:r>
          </a:p>
          <a:p>
            <a:r>
              <a:rPr lang="en-US" altLang="ko-KR" dirty="0"/>
              <a:t>5. Learning-based Axial Video Motion Magnification</a:t>
            </a:r>
          </a:p>
          <a:p>
            <a:r>
              <a:rPr lang="en-US" altLang="ko-KR" dirty="0"/>
              <a:t>6. Conclusion</a:t>
            </a:r>
          </a:p>
          <a:p>
            <a:pPr lvl="1"/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D4C24ED-5520-BD17-A25B-5FE2576E6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2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7113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736C3-755B-A434-BB8A-8A302356A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F4D738D-20BE-2B6F-FE65-72C9B8F6D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Feedback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E900BAF-49D3-F13E-8529-BAD0C955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3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52" name="내용 개체 틀 1">
            <a:extLst>
              <a:ext uri="{FF2B5EF4-FFF2-40B4-BE49-F238E27FC236}">
                <a16:creationId xmlns:a16="http://schemas.microsoft.com/office/drawing/2014/main" id="{24DE3B63-76A6-B613-283D-3A495519A82B}"/>
              </a:ext>
            </a:extLst>
          </p:cNvPr>
          <p:cNvSpPr txBox="1">
            <a:spLocks/>
          </p:cNvSpPr>
          <p:nvPr/>
        </p:nvSpPr>
        <p:spPr>
          <a:xfrm>
            <a:off x="0" y="469997"/>
            <a:ext cx="9729578" cy="5257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563" indent="-182563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8163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19138" indent="-2730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84250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dirty="0"/>
              <a:t> Problems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기존 구조 </a:t>
            </a:r>
            <a:endParaRPr lang="en-US" altLang="ko-KR" sz="18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Encoder </a:t>
            </a:r>
            <a:r>
              <a:rPr lang="en-US" altLang="ko-KR" sz="1600" dirty="0">
                <a:sym typeface="Wingdings" panose="05000000000000000000" pitchFamily="2" charset="2"/>
              </a:rPr>
              <a:t> BPF  Amplification  Decoder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문제점</a:t>
            </a:r>
            <a:endParaRPr lang="en-US" altLang="ko-KR" sz="18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실제 영상에서 고스트</a:t>
            </a:r>
            <a:r>
              <a:rPr lang="en-US" altLang="ko-KR" sz="1600" dirty="0"/>
              <a:t>(ghosting) </a:t>
            </a:r>
            <a:r>
              <a:rPr lang="ko-KR" altLang="en-US" sz="1600" dirty="0"/>
              <a:t>현상 발생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원인</a:t>
            </a:r>
            <a:endParaRPr lang="en-US" altLang="ko-KR" sz="18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필터구조의 위상 누적문제</a:t>
            </a:r>
            <a:r>
              <a:rPr lang="en-US" altLang="ko-KR" sz="1600" dirty="0"/>
              <a:t> + </a:t>
            </a:r>
            <a:r>
              <a:rPr lang="ko-KR" altLang="en-US" sz="1600" dirty="0"/>
              <a:t>불완전한 </a:t>
            </a:r>
            <a:r>
              <a:rPr lang="en-US" altLang="ko-KR" sz="1600" dirty="0"/>
              <a:t>motion </a:t>
            </a:r>
            <a:r>
              <a:rPr lang="ko-KR" altLang="en-US" sz="1600" dirty="0"/>
              <a:t>분리 </a:t>
            </a:r>
            <a:r>
              <a:rPr lang="en-US" altLang="ko-KR" sz="1600" dirty="0"/>
              <a:t>+ real video </a:t>
            </a:r>
            <a:r>
              <a:rPr lang="ko-KR" altLang="en-US" sz="1600" dirty="0"/>
              <a:t>노이즈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/>
              <a:t>개선방향</a:t>
            </a:r>
            <a:endParaRPr lang="en-US" altLang="ko-KR" sz="18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Phase-based </a:t>
            </a:r>
            <a:r>
              <a:rPr lang="ko-KR" altLang="en-US" sz="1600" dirty="0"/>
              <a:t>구조</a:t>
            </a:r>
            <a:endParaRPr lang="en-US" altLang="ko-KR" sz="1600" dirty="0"/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위상 정보를 활용한 모션 증폭</a:t>
            </a:r>
            <a:r>
              <a:rPr lang="en-US" altLang="ko-KR" sz="1600" dirty="0"/>
              <a:t>/</a:t>
            </a:r>
            <a:r>
              <a:rPr lang="ko-KR" altLang="en-US" sz="1600" dirty="0"/>
              <a:t>감소로 </a:t>
            </a:r>
            <a:r>
              <a:rPr lang="en-US" altLang="ko-KR" sz="1600" dirty="0"/>
              <a:t>ghosting </a:t>
            </a:r>
            <a:r>
              <a:rPr lang="ko-KR" altLang="en-US" sz="1600" dirty="0"/>
              <a:t>감소</a:t>
            </a:r>
            <a:endParaRPr lang="en-US" altLang="ko-KR" sz="16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201086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85675-3FEA-6CC0-812D-87986038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6032BB20-3AD5-794B-429B-72A284B5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Gantt chart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5C825BB-8B66-45F1-A0B7-136CBD108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4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C42286-BE32-2175-4A93-AA54E1BC19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420114"/>
              </p:ext>
            </p:extLst>
          </p:nvPr>
        </p:nvGraphicFramePr>
        <p:xfrm>
          <a:off x="246354" y="1278780"/>
          <a:ext cx="9413291" cy="46782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9035">
                  <a:extLst>
                    <a:ext uri="{9D8B030D-6E8A-4147-A177-3AD203B41FA5}">
                      <a16:colId xmlns:a16="http://schemas.microsoft.com/office/drawing/2014/main" val="3970873885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85526748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418267262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2505224699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1118137737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232174725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831305581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486438122"/>
                    </a:ext>
                  </a:extLst>
                </a:gridCol>
                <a:gridCol w="713032">
                  <a:extLst>
                    <a:ext uri="{9D8B030D-6E8A-4147-A177-3AD203B41FA5}">
                      <a16:colId xmlns:a16="http://schemas.microsoft.com/office/drawing/2014/main" val="3652681326"/>
                    </a:ext>
                  </a:extLst>
                </a:gridCol>
              </a:tblGrid>
              <a:tr h="345056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week1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week2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week3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Week4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8592226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논문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71250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코드 실행 및 결과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5886805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학습 데이터 파악 및 학습 재현</a:t>
                      </a:r>
                      <a:endParaRPr lang="en-US" altLang="ko-KR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030739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Code 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구조 분석 및 모델 구조 이해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950557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모션 </a:t>
                      </a:r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smoothing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 목적에 맞춘 모델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788799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+mn-ea"/>
                          <a:ea typeface="+mn-ea"/>
                        </a:rPr>
                        <a:t>Phase-base</a:t>
                      </a:r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방식 적용 전략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548000"/>
                  </a:ext>
                </a:extLst>
              </a:tr>
              <a:tr h="6160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+mn-ea"/>
                          <a:ea typeface="+mn-ea"/>
                        </a:rPr>
                        <a:t>결과 분석 및 디버깅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69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752A62-8C4C-B894-1D49-2EE2A197BE0C}"/>
              </a:ext>
            </a:extLst>
          </p:cNvPr>
          <p:cNvCxnSpPr>
            <a:cxnSpLocks/>
          </p:cNvCxnSpPr>
          <p:nvPr/>
        </p:nvCxnSpPr>
        <p:spPr>
          <a:xfrm flipV="1">
            <a:off x="9352290" y="5957030"/>
            <a:ext cx="0" cy="30478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801D543-F2F3-5BC8-DABD-0F65AA8E0E45}"/>
              </a:ext>
            </a:extLst>
          </p:cNvPr>
          <p:cNvSpPr txBox="1"/>
          <p:nvPr/>
        </p:nvSpPr>
        <p:spPr>
          <a:xfrm>
            <a:off x="9044444" y="6222239"/>
            <a:ext cx="10387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today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68252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424A0-6EF8-AFC3-63F6-CDBF912B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CF9539-3432-F193-29DC-94852F33D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Eulerian Video Magnification vs Phase-based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1962183-C312-133A-C42E-5BE80216F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5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4A28E7-990A-5592-86D3-4A5226EFF120}"/>
              </a:ext>
            </a:extLst>
          </p:cNvPr>
          <p:cNvSpPr txBox="1"/>
          <p:nvPr/>
        </p:nvSpPr>
        <p:spPr>
          <a:xfrm>
            <a:off x="1266566" y="3308270"/>
            <a:ext cx="1648208" cy="3257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17" dirty="0"/>
              <a:t>Source (</a:t>
            </a:r>
            <a:r>
              <a:rPr lang="en-US" sz="1517" b="1" dirty="0"/>
              <a:t>300 fps</a:t>
            </a:r>
            <a:r>
              <a:rPr lang="en-US" sz="1517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DBC66-B756-83FF-779F-E890F783BEBE}"/>
              </a:ext>
            </a:extLst>
          </p:cNvPr>
          <p:cNvSpPr txBox="1"/>
          <p:nvPr/>
        </p:nvSpPr>
        <p:spPr>
          <a:xfrm>
            <a:off x="1598846" y="5695229"/>
            <a:ext cx="886781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Source</a:t>
            </a:r>
            <a:endParaRPr lang="en-US" sz="1517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433DFB-086C-B0B9-5AE7-FB58FBAC65F7}"/>
              </a:ext>
            </a:extLst>
          </p:cNvPr>
          <p:cNvSpPr txBox="1"/>
          <p:nvPr/>
        </p:nvSpPr>
        <p:spPr>
          <a:xfrm>
            <a:off x="7252462" y="5681496"/>
            <a:ext cx="1896673" cy="425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7" b="1" dirty="0">
                <a:solidFill>
                  <a:srgbClr val="00B050"/>
                </a:solidFill>
              </a:rPr>
              <a:t>Phase-based</a:t>
            </a:r>
          </a:p>
        </p:txBody>
      </p:sp>
      <p:pic>
        <p:nvPicPr>
          <p:cNvPr id="9" name="camera_comparison">
            <a:hlinkClick r:id="" action="ppaction://media"/>
            <a:extLst>
              <a:ext uri="{FF2B5EF4-FFF2-40B4-BE49-F238E27FC236}">
                <a16:creationId xmlns:a16="http://schemas.microsoft.com/office/drawing/2014/main" id="{6B0A77BC-782E-0FCF-CC9B-49198F254DC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 rotWithShape="1">
          <a:blip r:embed="rId7"/>
          <a:srcRect l="1000" t="18941" r="1000" b="24172"/>
          <a:stretch>
            <a:fillRect/>
          </a:stretch>
        </p:blipFill>
        <p:spPr>
          <a:xfrm>
            <a:off x="641932" y="1417885"/>
            <a:ext cx="8837488" cy="2164283"/>
          </a:xfrm>
          <a:prstGeom prst="rect">
            <a:avLst/>
          </a:prstGeom>
        </p:spPr>
      </p:pic>
      <p:pic>
        <p:nvPicPr>
          <p:cNvPr id="10" name="babysleeping_crop_compare.wmv">
            <a:hlinkClick r:id="" action="ppaction://media"/>
            <a:extLst>
              <a:ext uri="{FF2B5EF4-FFF2-40B4-BE49-F238E27FC236}">
                <a16:creationId xmlns:a16="http://schemas.microsoft.com/office/drawing/2014/main" id="{31FA73F8-7701-6513-63F6-8674F00AF17F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3"/>
              </p:ext>
            </p:extLst>
          </p:nvPr>
        </p:nvPicPr>
        <p:blipFill rotWithShape="1">
          <a:blip r:embed="rId8"/>
          <a:srcRect t="7208" b="833"/>
          <a:stretch/>
        </p:blipFill>
        <p:spPr>
          <a:xfrm>
            <a:off x="641932" y="3958696"/>
            <a:ext cx="8837487" cy="17269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3E89193-C2E4-AFEA-46A3-3CDFFA2EA0F4}"/>
              </a:ext>
            </a:extLst>
          </p:cNvPr>
          <p:cNvSpPr txBox="1"/>
          <p:nvPr/>
        </p:nvSpPr>
        <p:spPr>
          <a:xfrm flipH="1">
            <a:off x="3815198" y="1041357"/>
            <a:ext cx="2401845" cy="4258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167" b="1" dirty="0"/>
              <a:t>Amplified noise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E0B6B-968B-A337-7E81-EC6D76196FEF}"/>
              </a:ext>
            </a:extLst>
          </p:cNvPr>
          <p:cNvSpPr txBox="1"/>
          <p:nvPr/>
        </p:nvSpPr>
        <p:spPr>
          <a:xfrm>
            <a:off x="1598846" y="3582542"/>
            <a:ext cx="886781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Source</a:t>
            </a:r>
            <a:endParaRPr lang="en-US" sz="1517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EB9EB-02B0-3474-C631-D810F7E9B503}"/>
              </a:ext>
            </a:extLst>
          </p:cNvPr>
          <p:cNvSpPr/>
          <p:nvPr/>
        </p:nvSpPr>
        <p:spPr>
          <a:xfrm>
            <a:off x="6593682" y="1453424"/>
            <a:ext cx="2885738" cy="2129118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5C010-3592-AA74-5427-7E7E928648D0}"/>
              </a:ext>
            </a:extLst>
          </p:cNvPr>
          <p:cNvSpPr/>
          <p:nvPr/>
        </p:nvSpPr>
        <p:spPr>
          <a:xfrm>
            <a:off x="6593682" y="3953144"/>
            <a:ext cx="2885738" cy="1732511"/>
          </a:xfrm>
          <a:prstGeom prst="rect">
            <a:avLst/>
          </a:prstGeom>
          <a:noFill/>
          <a:ln w="508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4779E4-E5DD-69E1-3D43-C0095278023F}"/>
              </a:ext>
            </a:extLst>
          </p:cNvPr>
          <p:cNvSpPr/>
          <p:nvPr/>
        </p:nvSpPr>
        <p:spPr>
          <a:xfrm>
            <a:off x="6392719" y="1323701"/>
            <a:ext cx="3262377" cy="4738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DC38B3-B3DC-058B-21BF-7188ECDD7D36}"/>
              </a:ext>
            </a:extLst>
          </p:cNvPr>
          <p:cNvSpPr txBox="1"/>
          <p:nvPr/>
        </p:nvSpPr>
        <p:spPr>
          <a:xfrm>
            <a:off x="4283515" y="3582168"/>
            <a:ext cx="1636410" cy="3424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25" dirty="0"/>
              <a:t>[Wu et al. 2012]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DA7BBF-A6C3-10DD-51B0-31644C618990}"/>
              </a:ext>
            </a:extLst>
          </p:cNvPr>
          <p:cNvSpPr txBox="1"/>
          <p:nvPr/>
        </p:nvSpPr>
        <p:spPr>
          <a:xfrm>
            <a:off x="4239475" y="5698908"/>
            <a:ext cx="1741952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[Wu et al. 2012]</a:t>
            </a:r>
          </a:p>
        </p:txBody>
      </p:sp>
    </p:spTree>
    <p:extLst>
      <p:ext uri="{BB962C8B-B14F-4D97-AF65-F5344CB8AC3E}">
        <p14:creationId xmlns:p14="http://schemas.microsoft.com/office/powerpoint/2010/main" val="22624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7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8" dur="1050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  <p:bldLst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C40D8-B7BA-98AB-85D7-F78ED5DFA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A427F34-9E1F-E8CC-327B-C82426ADE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Eulerian Video Magnification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27674D-01CB-457A-ADCA-BE2E5B50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6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EA64B530-CE5A-F835-64D2-96260203F166}"/>
              </a:ext>
            </a:extLst>
          </p:cNvPr>
          <p:cNvSpPr txBox="1">
            <a:spLocks/>
          </p:cNvSpPr>
          <p:nvPr/>
        </p:nvSpPr>
        <p:spPr>
          <a:xfrm>
            <a:off x="0" y="606242"/>
            <a:ext cx="9729578" cy="391986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82563" indent="-182563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2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38163" indent="-355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719138" indent="-2730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984250" indent="-2667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altLang="ko-KR" sz="1700" dirty="0">
                <a:latin typeface="+mn-ea"/>
              </a:rPr>
              <a:t>Idea : </a:t>
            </a:r>
            <a:r>
              <a:rPr lang="ko-KR" altLang="en-US" sz="1700" dirty="0">
                <a:latin typeface="+mn-ea"/>
              </a:rPr>
              <a:t>픽셀 위치 고정</a:t>
            </a:r>
            <a:r>
              <a:rPr lang="en-US" altLang="ko-KR" sz="1700" dirty="0">
                <a:latin typeface="+mn-ea"/>
              </a:rPr>
              <a:t>, </a:t>
            </a:r>
            <a:r>
              <a:rPr lang="ko-KR" altLang="en-US" sz="1700" dirty="0">
                <a:latin typeface="+mn-ea"/>
              </a:rPr>
              <a:t>시간축에서 변화 관찰</a:t>
            </a:r>
            <a:endParaRPr lang="en-US" altLang="ko-KR" sz="1700" dirty="0">
              <a:latin typeface="+mn-ea"/>
            </a:endParaRPr>
          </a:p>
          <a:p>
            <a:pPr marL="285750" indent="-285750"/>
            <a:r>
              <a:rPr lang="ko-KR" altLang="en-US" sz="1700" dirty="0">
                <a:latin typeface="+mn-ea"/>
              </a:rPr>
              <a:t>절차</a:t>
            </a:r>
            <a:endParaRPr lang="en-US" altLang="ko-KR" sz="17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프레임 시퀀스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공간 필터링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시간축 필터링</a:t>
            </a:r>
            <a:r>
              <a:rPr lang="en-US" altLang="ko-KR" sz="1400" dirty="0">
                <a:latin typeface="+mn-ea"/>
              </a:rPr>
              <a:t>(BPF)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특정 주파수 대역 추출</a:t>
            </a:r>
            <a:endParaRPr lang="en-US" altLang="ko-KR" sz="1400" dirty="0">
              <a:latin typeface="+mn-ea"/>
              <a:sym typeface="Wingdings" panose="05000000000000000000" pitchFamily="2" charset="2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증폭 후 원본에 합성</a:t>
            </a:r>
            <a:endParaRPr lang="en-US" altLang="ko-KR" sz="1400" dirty="0">
              <a:latin typeface="+mn-ea"/>
              <a:sym typeface="Wingdings" panose="05000000000000000000" pitchFamily="2" charset="2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400" dirty="0">
              <a:latin typeface="+mn-ea"/>
              <a:sym typeface="Wingdings" panose="05000000000000000000" pitchFamily="2" charset="2"/>
            </a:endParaRPr>
          </a:p>
          <a:p>
            <a:pPr marL="342900" indent="-342900"/>
            <a:r>
              <a:rPr lang="ko-KR" altLang="en-US" sz="1600" dirty="0">
                <a:latin typeface="+mn-ea"/>
                <a:sym typeface="Wingdings" panose="05000000000000000000" pitchFamily="2" charset="2"/>
              </a:rPr>
              <a:t>장점</a:t>
            </a:r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구현 간단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작은 움직임에 효과적임</a:t>
            </a:r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pPr marL="342900" indent="-342900"/>
            <a:r>
              <a:rPr lang="ko-KR" altLang="en-US" sz="1600" dirty="0">
                <a:latin typeface="+mn-ea"/>
                <a:sym typeface="Wingdings" panose="05000000000000000000" pitchFamily="2" charset="2"/>
              </a:rPr>
              <a:t>단점</a:t>
            </a:r>
            <a:endParaRPr lang="en-US" altLang="ko-KR" sz="1600" dirty="0">
              <a:latin typeface="+mn-ea"/>
              <a:sym typeface="Wingdings" panose="05000000000000000000" pitchFamily="2" charset="2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큰 움직임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위상변화에 취약</a:t>
            </a:r>
            <a:endParaRPr lang="en-US" altLang="ko-KR" sz="1400" dirty="0">
              <a:latin typeface="+mn-ea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400" dirty="0">
                <a:latin typeface="+mn-ea"/>
              </a:rPr>
              <a:t>노이즈도 같이 증폭됨</a:t>
            </a:r>
            <a:endParaRPr lang="en-US" altLang="ko-KR" sz="1400" dirty="0">
              <a:latin typeface="+mn-ea"/>
            </a:endParaRPr>
          </a:p>
          <a:p>
            <a:endParaRPr lang="ko-KR" altLang="en-US" sz="1700" dirty="0">
              <a:latin typeface="+mn-ea"/>
            </a:endParaRPr>
          </a:p>
        </p:txBody>
      </p:sp>
      <p:pic>
        <p:nvPicPr>
          <p:cNvPr id="8" name="babysleeping-iir-alpha10-delta0.2">
            <a:hlinkClick r:id="" action="ppaction://media"/>
            <a:extLst>
              <a:ext uri="{FF2B5EF4-FFF2-40B4-BE49-F238E27FC236}">
                <a16:creationId xmlns:a16="http://schemas.microsoft.com/office/drawing/2014/main" id="{D3DD62D2-677F-7C22-113A-C7EECE5DBDD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74748" y="4026450"/>
            <a:ext cx="3911347" cy="221710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98DB678-BAE4-79C4-B25A-F9C166453777}"/>
              </a:ext>
            </a:extLst>
          </p:cNvPr>
          <p:cNvGrpSpPr/>
          <p:nvPr/>
        </p:nvGrpSpPr>
        <p:grpSpPr>
          <a:xfrm>
            <a:off x="4157606" y="4017248"/>
            <a:ext cx="3928490" cy="2213761"/>
            <a:chOff x="2019301" y="1986969"/>
            <a:chExt cx="5237987" cy="295168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844501-D032-51C2-5F9B-0311D655761C}"/>
                </a:ext>
              </a:extLst>
            </p:cNvPr>
            <p:cNvSpPr/>
            <p:nvPr/>
          </p:nvSpPr>
          <p:spPr>
            <a:xfrm>
              <a:off x="2019301" y="19869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39216F-95B6-9938-C48E-9F111919FC62}"/>
                </a:ext>
              </a:extLst>
            </p:cNvPr>
            <p:cNvSpPr/>
            <p:nvPr/>
          </p:nvSpPr>
          <p:spPr>
            <a:xfrm>
              <a:off x="2019301" y="221118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70D99A-581C-5A12-6A5E-4F5B3346137E}"/>
                </a:ext>
              </a:extLst>
            </p:cNvPr>
            <p:cNvSpPr/>
            <p:nvPr/>
          </p:nvSpPr>
          <p:spPr>
            <a:xfrm>
              <a:off x="2019301" y="24418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45319EE-B4A1-C942-3FBA-BC33057B51E1}"/>
                </a:ext>
              </a:extLst>
            </p:cNvPr>
            <p:cNvSpPr/>
            <p:nvPr/>
          </p:nvSpPr>
          <p:spPr>
            <a:xfrm>
              <a:off x="2019301" y="26660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2173FF1-8672-6E8F-3FFE-BF957EA9CB08}"/>
                </a:ext>
              </a:extLst>
            </p:cNvPr>
            <p:cNvSpPr/>
            <p:nvPr/>
          </p:nvSpPr>
          <p:spPr>
            <a:xfrm>
              <a:off x="2019301" y="289027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F5B07B3-D80C-2146-142D-5500D2624733}"/>
                </a:ext>
              </a:extLst>
            </p:cNvPr>
            <p:cNvSpPr/>
            <p:nvPr/>
          </p:nvSpPr>
          <p:spPr>
            <a:xfrm>
              <a:off x="2019301" y="312094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6520F28-5CFB-DA77-BC10-ACC1CB3547AD}"/>
                </a:ext>
              </a:extLst>
            </p:cNvPr>
            <p:cNvSpPr/>
            <p:nvPr/>
          </p:nvSpPr>
          <p:spPr>
            <a:xfrm>
              <a:off x="2019301" y="334515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12547D6-2561-AC7E-B55E-82E50FCDD954}"/>
                </a:ext>
              </a:extLst>
            </p:cNvPr>
            <p:cNvSpPr/>
            <p:nvPr/>
          </p:nvSpPr>
          <p:spPr>
            <a:xfrm>
              <a:off x="2019301" y="35693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43A93D5-43F7-7B5F-BA5B-F3B3CFF0413F}"/>
                </a:ext>
              </a:extLst>
            </p:cNvPr>
            <p:cNvSpPr/>
            <p:nvPr/>
          </p:nvSpPr>
          <p:spPr>
            <a:xfrm>
              <a:off x="2019301" y="380004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9AC8FAD-9CE5-F4CC-BA56-CC2182310231}"/>
                </a:ext>
              </a:extLst>
            </p:cNvPr>
            <p:cNvSpPr/>
            <p:nvPr/>
          </p:nvSpPr>
          <p:spPr>
            <a:xfrm>
              <a:off x="2019301" y="40242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93805F9-BB68-DFAB-5B5E-BE0A61C14A01}"/>
                </a:ext>
              </a:extLst>
            </p:cNvPr>
            <p:cNvSpPr/>
            <p:nvPr/>
          </p:nvSpPr>
          <p:spPr>
            <a:xfrm>
              <a:off x="2019301" y="42484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9BEA515-C622-5814-1DE5-7D35709532F7}"/>
                </a:ext>
              </a:extLst>
            </p:cNvPr>
            <p:cNvSpPr/>
            <p:nvPr/>
          </p:nvSpPr>
          <p:spPr>
            <a:xfrm>
              <a:off x="2019301" y="447913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DF3C9BE-5B78-D49D-6903-9F0E3A09BD0C}"/>
                </a:ext>
              </a:extLst>
            </p:cNvPr>
            <p:cNvSpPr/>
            <p:nvPr/>
          </p:nvSpPr>
          <p:spPr>
            <a:xfrm>
              <a:off x="2019301" y="471411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646631-0111-712E-4C69-E90F7391A33F}"/>
                </a:ext>
              </a:extLst>
            </p:cNvPr>
            <p:cNvSpPr/>
            <p:nvPr/>
          </p:nvSpPr>
          <p:spPr>
            <a:xfrm>
              <a:off x="2247901" y="19869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E791DD7-67B0-5702-799C-C0DF59B75EE3}"/>
                </a:ext>
              </a:extLst>
            </p:cNvPr>
            <p:cNvSpPr/>
            <p:nvPr/>
          </p:nvSpPr>
          <p:spPr>
            <a:xfrm>
              <a:off x="2247901" y="221118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9FDED25-FD8E-A756-81F3-578A88FC4C02}"/>
                </a:ext>
              </a:extLst>
            </p:cNvPr>
            <p:cNvSpPr/>
            <p:nvPr/>
          </p:nvSpPr>
          <p:spPr>
            <a:xfrm>
              <a:off x="2247901" y="24418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5C4F163-633B-8223-A719-6DA37A74AC65}"/>
                </a:ext>
              </a:extLst>
            </p:cNvPr>
            <p:cNvSpPr/>
            <p:nvPr/>
          </p:nvSpPr>
          <p:spPr>
            <a:xfrm>
              <a:off x="2247901" y="26660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57CEBB3-44C9-299A-1539-C06B7C6A7B18}"/>
                </a:ext>
              </a:extLst>
            </p:cNvPr>
            <p:cNvSpPr/>
            <p:nvPr/>
          </p:nvSpPr>
          <p:spPr>
            <a:xfrm>
              <a:off x="2247901" y="289027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E1F6696-20F3-7D4E-5772-FA6F0558129D}"/>
                </a:ext>
              </a:extLst>
            </p:cNvPr>
            <p:cNvSpPr/>
            <p:nvPr/>
          </p:nvSpPr>
          <p:spPr>
            <a:xfrm>
              <a:off x="2247901" y="312094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5C04944-095D-0AEA-D6DB-3EB1523A89E9}"/>
                </a:ext>
              </a:extLst>
            </p:cNvPr>
            <p:cNvSpPr/>
            <p:nvPr/>
          </p:nvSpPr>
          <p:spPr>
            <a:xfrm>
              <a:off x="2247901" y="334515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D01233-43E5-885A-E639-62523539DC1C}"/>
                </a:ext>
              </a:extLst>
            </p:cNvPr>
            <p:cNvSpPr/>
            <p:nvPr/>
          </p:nvSpPr>
          <p:spPr>
            <a:xfrm>
              <a:off x="2247901" y="356936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5E5D063-053C-0C9C-F2EC-BCD277555573}"/>
                </a:ext>
              </a:extLst>
            </p:cNvPr>
            <p:cNvSpPr/>
            <p:nvPr/>
          </p:nvSpPr>
          <p:spPr>
            <a:xfrm>
              <a:off x="2247901" y="380004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FCFF0A7-CC33-2B7E-C7D6-B3CA50BA70A0}"/>
                </a:ext>
              </a:extLst>
            </p:cNvPr>
            <p:cNvSpPr/>
            <p:nvPr/>
          </p:nvSpPr>
          <p:spPr>
            <a:xfrm>
              <a:off x="2247901" y="402425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A6CE765-F308-E810-B457-B43C1A6D3328}"/>
                </a:ext>
              </a:extLst>
            </p:cNvPr>
            <p:cNvSpPr/>
            <p:nvPr/>
          </p:nvSpPr>
          <p:spPr>
            <a:xfrm>
              <a:off x="2247901" y="424846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CACBCD6-8141-21B7-4D09-A2D3675BBCC4}"/>
                </a:ext>
              </a:extLst>
            </p:cNvPr>
            <p:cNvSpPr/>
            <p:nvPr/>
          </p:nvSpPr>
          <p:spPr>
            <a:xfrm>
              <a:off x="2247901" y="447913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4864A87-3D1B-1710-12DD-6F94C75D3C3F}"/>
                </a:ext>
              </a:extLst>
            </p:cNvPr>
            <p:cNvSpPr/>
            <p:nvPr/>
          </p:nvSpPr>
          <p:spPr>
            <a:xfrm>
              <a:off x="2247901" y="471411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B1A0ED8-1C81-C0F1-B2BD-84305FFA9BB1}"/>
                </a:ext>
              </a:extLst>
            </p:cNvPr>
            <p:cNvSpPr/>
            <p:nvPr/>
          </p:nvSpPr>
          <p:spPr>
            <a:xfrm>
              <a:off x="2471928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C48CB27-81F6-168D-CAE0-8427C90D9AE7}"/>
                </a:ext>
              </a:extLst>
            </p:cNvPr>
            <p:cNvSpPr/>
            <p:nvPr/>
          </p:nvSpPr>
          <p:spPr>
            <a:xfrm>
              <a:off x="2471928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6B53F17-C7D9-859F-2B19-8F78E2DAF3B8}"/>
                </a:ext>
              </a:extLst>
            </p:cNvPr>
            <p:cNvSpPr/>
            <p:nvPr/>
          </p:nvSpPr>
          <p:spPr>
            <a:xfrm>
              <a:off x="2471928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77D6CF1-C977-73EB-2076-FFA375E623A7}"/>
                </a:ext>
              </a:extLst>
            </p:cNvPr>
            <p:cNvSpPr/>
            <p:nvPr/>
          </p:nvSpPr>
          <p:spPr>
            <a:xfrm>
              <a:off x="2471928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D208934-B79A-A858-78F8-7506F145798B}"/>
                </a:ext>
              </a:extLst>
            </p:cNvPr>
            <p:cNvSpPr/>
            <p:nvPr/>
          </p:nvSpPr>
          <p:spPr>
            <a:xfrm>
              <a:off x="2471928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5F2A229-B85F-094C-9977-2F84DDC3F433}"/>
                </a:ext>
              </a:extLst>
            </p:cNvPr>
            <p:cNvSpPr/>
            <p:nvPr/>
          </p:nvSpPr>
          <p:spPr>
            <a:xfrm>
              <a:off x="2471928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8D48E42-F2B3-65F4-0B8F-C0E0F7E37FCF}"/>
                </a:ext>
              </a:extLst>
            </p:cNvPr>
            <p:cNvSpPr/>
            <p:nvPr/>
          </p:nvSpPr>
          <p:spPr>
            <a:xfrm>
              <a:off x="2471928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680F48-842D-A960-465E-C0C112C7084A}"/>
                </a:ext>
              </a:extLst>
            </p:cNvPr>
            <p:cNvSpPr/>
            <p:nvPr/>
          </p:nvSpPr>
          <p:spPr>
            <a:xfrm>
              <a:off x="2471928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68479AC-D849-0E23-95D9-A23B36960A2F}"/>
                </a:ext>
              </a:extLst>
            </p:cNvPr>
            <p:cNvSpPr/>
            <p:nvPr/>
          </p:nvSpPr>
          <p:spPr>
            <a:xfrm>
              <a:off x="2471928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7480D3F-AC41-5ADD-77B7-8C59E295B568}"/>
                </a:ext>
              </a:extLst>
            </p:cNvPr>
            <p:cNvSpPr/>
            <p:nvPr/>
          </p:nvSpPr>
          <p:spPr>
            <a:xfrm>
              <a:off x="2471928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7618F47-58CE-2342-B5AE-E381FFD2655A}"/>
                </a:ext>
              </a:extLst>
            </p:cNvPr>
            <p:cNvSpPr/>
            <p:nvPr/>
          </p:nvSpPr>
          <p:spPr>
            <a:xfrm>
              <a:off x="2471928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E500CD6-493E-466E-4EE1-1ED122E8986D}"/>
                </a:ext>
              </a:extLst>
            </p:cNvPr>
            <p:cNvSpPr/>
            <p:nvPr/>
          </p:nvSpPr>
          <p:spPr>
            <a:xfrm>
              <a:off x="2471928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25C827B-D4C5-C6E6-7445-2CDBC8B36405}"/>
                </a:ext>
              </a:extLst>
            </p:cNvPr>
            <p:cNvSpPr/>
            <p:nvPr/>
          </p:nvSpPr>
          <p:spPr>
            <a:xfrm>
              <a:off x="2471928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94935D8-E71F-4683-54A4-C35D06DE1435}"/>
                </a:ext>
              </a:extLst>
            </p:cNvPr>
            <p:cNvSpPr/>
            <p:nvPr/>
          </p:nvSpPr>
          <p:spPr>
            <a:xfrm>
              <a:off x="2700528" y="19869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C8DF322-6DB2-1338-D9ED-D65BABC9A5FC}"/>
                </a:ext>
              </a:extLst>
            </p:cNvPr>
            <p:cNvSpPr/>
            <p:nvPr/>
          </p:nvSpPr>
          <p:spPr>
            <a:xfrm>
              <a:off x="2700528" y="221118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B06409-C249-576D-0220-3C02F705427C}"/>
                </a:ext>
              </a:extLst>
            </p:cNvPr>
            <p:cNvSpPr/>
            <p:nvPr/>
          </p:nvSpPr>
          <p:spPr>
            <a:xfrm>
              <a:off x="2700528" y="24418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5884FF4-4F3B-C293-21DF-C75CA7B47886}"/>
                </a:ext>
              </a:extLst>
            </p:cNvPr>
            <p:cNvSpPr/>
            <p:nvPr/>
          </p:nvSpPr>
          <p:spPr>
            <a:xfrm>
              <a:off x="2700528" y="26660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F5D6B97C-3CCD-8C3D-FA6C-F53A13AC8A20}"/>
                </a:ext>
              </a:extLst>
            </p:cNvPr>
            <p:cNvSpPr/>
            <p:nvPr/>
          </p:nvSpPr>
          <p:spPr>
            <a:xfrm>
              <a:off x="2700528" y="289027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E81E107-E93B-7300-658F-291A5D0B7586}"/>
                </a:ext>
              </a:extLst>
            </p:cNvPr>
            <p:cNvSpPr/>
            <p:nvPr/>
          </p:nvSpPr>
          <p:spPr>
            <a:xfrm>
              <a:off x="2700528" y="312094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BCD3BC6-7B04-40BB-5883-25E293D52347}"/>
                </a:ext>
              </a:extLst>
            </p:cNvPr>
            <p:cNvSpPr/>
            <p:nvPr/>
          </p:nvSpPr>
          <p:spPr>
            <a:xfrm>
              <a:off x="2700528" y="334515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4E62032-558F-D4A5-71F0-C939C13477E6}"/>
                </a:ext>
              </a:extLst>
            </p:cNvPr>
            <p:cNvSpPr/>
            <p:nvPr/>
          </p:nvSpPr>
          <p:spPr>
            <a:xfrm>
              <a:off x="2700528" y="35693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E96A4F7F-60FC-E8B1-089D-5B095A1BAE1A}"/>
                </a:ext>
              </a:extLst>
            </p:cNvPr>
            <p:cNvSpPr/>
            <p:nvPr/>
          </p:nvSpPr>
          <p:spPr>
            <a:xfrm>
              <a:off x="2700528" y="380004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55846DD-8946-6BD1-BD61-9007C8798A0C}"/>
                </a:ext>
              </a:extLst>
            </p:cNvPr>
            <p:cNvSpPr/>
            <p:nvPr/>
          </p:nvSpPr>
          <p:spPr>
            <a:xfrm>
              <a:off x="2700528" y="40242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4A673360-5172-2356-54A6-2A58B09FBDDB}"/>
                </a:ext>
              </a:extLst>
            </p:cNvPr>
            <p:cNvSpPr/>
            <p:nvPr/>
          </p:nvSpPr>
          <p:spPr>
            <a:xfrm>
              <a:off x="2700528" y="42484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98B755A1-B65A-7154-52D6-C2EB21405B8D}"/>
                </a:ext>
              </a:extLst>
            </p:cNvPr>
            <p:cNvSpPr/>
            <p:nvPr/>
          </p:nvSpPr>
          <p:spPr>
            <a:xfrm>
              <a:off x="2700528" y="447913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D50275-8246-6B1C-582B-46E7BC24DFDE}"/>
                </a:ext>
              </a:extLst>
            </p:cNvPr>
            <p:cNvSpPr/>
            <p:nvPr/>
          </p:nvSpPr>
          <p:spPr>
            <a:xfrm>
              <a:off x="2700528" y="471411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0ECF406-9B83-B8A4-1D4F-4BAFB794A7D9}"/>
                </a:ext>
              </a:extLst>
            </p:cNvPr>
            <p:cNvSpPr/>
            <p:nvPr/>
          </p:nvSpPr>
          <p:spPr>
            <a:xfrm>
              <a:off x="2932176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53075F64-077E-B337-0194-4B47202A84DA}"/>
                </a:ext>
              </a:extLst>
            </p:cNvPr>
            <p:cNvSpPr/>
            <p:nvPr/>
          </p:nvSpPr>
          <p:spPr>
            <a:xfrm>
              <a:off x="2932176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9ED8A2C-8A2D-26B3-2785-9A373B744805}"/>
                </a:ext>
              </a:extLst>
            </p:cNvPr>
            <p:cNvSpPr/>
            <p:nvPr/>
          </p:nvSpPr>
          <p:spPr>
            <a:xfrm>
              <a:off x="2932176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2D3F6C5-C599-EA87-CAE9-9443F98AEFAD}"/>
                </a:ext>
              </a:extLst>
            </p:cNvPr>
            <p:cNvSpPr/>
            <p:nvPr/>
          </p:nvSpPr>
          <p:spPr>
            <a:xfrm>
              <a:off x="2932176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528260A-9253-31BB-53A1-826F6B944F0E}"/>
                </a:ext>
              </a:extLst>
            </p:cNvPr>
            <p:cNvSpPr/>
            <p:nvPr/>
          </p:nvSpPr>
          <p:spPr>
            <a:xfrm>
              <a:off x="2932176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94FA4428-E34F-D076-8267-C55C98D92ADF}"/>
                </a:ext>
              </a:extLst>
            </p:cNvPr>
            <p:cNvSpPr/>
            <p:nvPr/>
          </p:nvSpPr>
          <p:spPr>
            <a:xfrm>
              <a:off x="2932176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5130678-735B-9D77-6D14-D42FE0E87C3F}"/>
                </a:ext>
              </a:extLst>
            </p:cNvPr>
            <p:cNvSpPr/>
            <p:nvPr/>
          </p:nvSpPr>
          <p:spPr>
            <a:xfrm>
              <a:off x="2932176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2D3A338-D06C-A581-EAFB-8D2EFFE76812}"/>
                </a:ext>
              </a:extLst>
            </p:cNvPr>
            <p:cNvSpPr/>
            <p:nvPr/>
          </p:nvSpPr>
          <p:spPr>
            <a:xfrm>
              <a:off x="2932176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C84EC69-D65D-C190-B5CE-600AB23AEC37}"/>
                </a:ext>
              </a:extLst>
            </p:cNvPr>
            <p:cNvSpPr/>
            <p:nvPr/>
          </p:nvSpPr>
          <p:spPr>
            <a:xfrm>
              <a:off x="2932176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74E1FE1E-0509-44D7-5E28-7968266112E1}"/>
                </a:ext>
              </a:extLst>
            </p:cNvPr>
            <p:cNvSpPr/>
            <p:nvPr/>
          </p:nvSpPr>
          <p:spPr>
            <a:xfrm>
              <a:off x="2932176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D7FFBAB-12F8-9A1F-BDB0-10117F93602B}"/>
                </a:ext>
              </a:extLst>
            </p:cNvPr>
            <p:cNvSpPr/>
            <p:nvPr/>
          </p:nvSpPr>
          <p:spPr>
            <a:xfrm>
              <a:off x="2932176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79938CC-9DFB-A103-B5A5-D6B8CCF7001D}"/>
                </a:ext>
              </a:extLst>
            </p:cNvPr>
            <p:cNvSpPr/>
            <p:nvPr/>
          </p:nvSpPr>
          <p:spPr>
            <a:xfrm>
              <a:off x="2932176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CDA47730-DE40-1A4E-338C-FC15C7AAAFE4}"/>
                </a:ext>
              </a:extLst>
            </p:cNvPr>
            <p:cNvSpPr/>
            <p:nvPr/>
          </p:nvSpPr>
          <p:spPr>
            <a:xfrm>
              <a:off x="2932176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0F8529CB-CB56-E47E-9667-5A674ACC62A7}"/>
                </a:ext>
              </a:extLst>
            </p:cNvPr>
            <p:cNvSpPr/>
            <p:nvPr/>
          </p:nvSpPr>
          <p:spPr>
            <a:xfrm>
              <a:off x="3160776" y="19869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3686F73-0691-1A14-2D3B-5F9F5E5D63F0}"/>
                </a:ext>
              </a:extLst>
            </p:cNvPr>
            <p:cNvSpPr/>
            <p:nvPr/>
          </p:nvSpPr>
          <p:spPr>
            <a:xfrm>
              <a:off x="3160776" y="221118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5365AE3-25BA-6050-5F5F-1024068FB55E}"/>
                </a:ext>
              </a:extLst>
            </p:cNvPr>
            <p:cNvSpPr/>
            <p:nvPr/>
          </p:nvSpPr>
          <p:spPr>
            <a:xfrm>
              <a:off x="3160776" y="24418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F6E0CE0-4C88-9F40-2D07-14B3D361B3F6}"/>
                </a:ext>
              </a:extLst>
            </p:cNvPr>
            <p:cNvSpPr/>
            <p:nvPr/>
          </p:nvSpPr>
          <p:spPr>
            <a:xfrm>
              <a:off x="3160776" y="26660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EC3FC2B4-E427-94A8-B354-2740DD386948}"/>
                </a:ext>
              </a:extLst>
            </p:cNvPr>
            <p:cNvSpPr/>
            <p:nvPr/>
          </p:nvSpPr>
          <p:spPr>
            <a:xfrm>
              <a:off x="3160776" y="289027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70FB53A7-BC0E-7253-9739-A32C496C2925}"/>
                </a:ext>
              </a:extLst>
            </p:cNvPr>
            <p:cNvSpPr/>
            <p:nvPr/>
          </p:nvSpPr>
          <p:spPr>
            <a:xfrm>
              <a:off x="3160776" y="312094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60417DC2-767E-E66F-E048-5A5DEF0908AF}"/>
                </a:ext>
              </a:extLst>
            </p:cNvPr>
            <p:cNvSpPr/>
            <p:nvPr/>
          </p:nvSpPr>
          <p:spPr>
            <a:xfrm>
              <a:off x="3160776" y="334515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3EF9174E-80F3-793C-11AB-13CECC0F5912}"/>
                </a:ext>
              </a:extLst>
            </p:cNvPr>
            <p:cNvSpPr/>
            <p:nvPr/>
          </p:nvSpPr>
          <p:spPr>
            <a:xfrm>
              <a:off x="3160776" y="35693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B7E3DD3-6DB3-9064-EAF6-48B4358AF289}"/>
                </a:ext>
              </a:extLst>
            </p:cNvPr>
            <p:cNvSpPr/>
            <p:nvPr/>
          </p:nvSpPr>
          <p:spPr>
            <a:xfrm>
              <a:off x="3160776" y="380004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B0B362C-5F9D-0810-50CF-20D05F937B17}"/>
                </a:ext>
              </a:extLst>
            </p:cNvPr>
            <p:cNvSpPr/>
            <p:nvPr/>
          </p:nvSpPr>
          <p:spPr>
            <a:xfrm>
              <a:off x="3160776" y="40242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930AE99-589A-4967-3F3B-AA81D865F031}"/>
                </a:ext>
              </a:extLst>
            </p:cNvPr>
            <p:cNvSpPr/>
            <p:nvPr/>
          </p:nvSpPr>
          <p:spPr>
            <a:xfrm>
              <a:off x="3160776" y="42484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C1839DA9-D55D-47A3-D906-5110640A455A}"/>
                </a:ext>
              </a:extLst>
            </p:cNvPr>
            <p:cNvSpPr/>
            <p:nvPr/>
          </p:nvSpPr>
          <p:spPr>
            <a:xfrm>
              <a:off x="3160776" y="447913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2D166A57-83BC-14B3-F3AE-AA5E38B4EB3B}"/>
                </a:ext>
              </a:extLst>
            </p:cNvPr>
            <p:cNvSpPr/>
            <p:nvPr/>
          </p:nvSpPr>
          <p:spPr>
            <a:xfrm>
              <a:off x="3160776" y="471411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BD511266-805D-849A-95C9-999462F5AF17}"/>
                </a:ext>
              </a:extLst>
            </p:cNvPr>
            <p:cNvSpPr/>
            <p:nvPr/>
          </p:nvSpPr>
          <p:spPr>
            <a:xfrm>
              <a:off x="3384803" y="198697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05DAEEB-3FC7-ACE9-9270-743225BA44AE}"/>
                </a:ext>
              </a:extLst>
            </p:cNvPr>
            <p:cNvSpPr/>
            <p:nvPr/>
          </p:nvSpPr>
          <p:spPr>
            <a:xfrm>
              <a:off x="3384803" y="221118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EF10C0DD-DFB1-60E9-5A2B-9B800C5387B5}"/>
                </a:ext>
              </a:extLst>
            </p:cNvPr>
            <p:cNvSpPr/>
            <p:nvPr/>
          </p:nvSpPr>
          <p:spPr>
            <a:xfrm>
              <a:off x="3384803" y="244185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092FCE18-A626-E165-CD28-F0262501E77D}"/>
                </a:ext>
              </a:extLst>
            </p:cNvPr>
            <p:cNvSpPr/>
            <p:nvPr/>
          </p:nvSpPr>
          <p:spPr>
            <a:xfrm>
              <a:off x="3384803" y="266606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F8A66DFF-F0D2-A137-F3CB-6BB5A818E5BA}"/>
                </a:ext>
              </a:extLst>
            </p:cNvPr>
            <p:cNvSpPr/>
            <p:nvPr/>
          </p:nvSpPr>
          <p:spPr>
            <a:xfrm>
              <a:off x="3384803" y="289027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34594CD-F10F-5137-749D-D9600068D25A}"/>
                </a:ext>
              </a:extLst>
            </p:cNvPr>
            <p:cNvSpPr/>
            <p:nvPr/>
          </p:nvSpPr>
          <p:spPr>
            <a:xfrm>
              <a:off x="3384803" y="312094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4644754-1C05-3D53-AF26-1CB19941829B}"/>
                </a:ext>
              </a:extLst>
            </p:cNvPr>
            <p:cNvSpPr/>
            <p:nvPr/>
          </p:nvSpPr>
          <p:spPr>
            <a:xfrm>
              <a:off x="3384803" y="334516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6A412BC-EFE0-A886-C32B-36E6FBBCF6EA}"/>
                </a:ext>
              </a:extLst>
            </p:cNvPr>
            <p:cNvSpPr/>
            <p:nvPr/>
          </p:nvSpPr>
          <p:spPr>
            <a:xfrm>
              <a:off x="3384803" y="35693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9C183B2-ADFF-A9D5-EBB7-4FA7F4830524}"/>
                </a:ext>
              </a:extLst>
            </p:cNvPr>
            <p:cNvSpPr/>
            <p:nvPr/>
          </p:nvSpPr>
          <p:spPr>
            <a:xfrm>
              <a:off x="3384803" y="380004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2ECB030-2AD5-8F13-12BF-E9950EE78923}"/>
                </a:ext>
              </a:extLst>
            </p:cNvPr>
            <p:cNvSpPr/>
            <p:nvPr/>
          </p:nvSpPr>
          <p:spPr>
            <a:xfrm>
              <a:off x="3384803" y="40242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734792C-7F1B-E6EA-FA95-59910072FEF6}"/>
                </a:ext>
              </a:extLst>
            </p:cNvPr>
            <p:cNvSpPr/>
            <p:nvPr/>
          </p:nvSpPr>
          <p:spPr>
            <a:xfrm>
              <a:off x="3384803" y="42484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50596BF0-B617-DEA1-2F82-97BE2F67C311}"/>
                </a:ext>
              </a:extLst>
            </p:cNvPr>
            <p:cNvSpPr/>
            <p:nvPr/>
          </p:nvSpPr>
          <p:spPr>
            <a:xfrm>
              <a:off x="3384803" y="447913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D49010B-E5BA-0467-DAA8-4849FB017E37}"/>
                </a:ext>
              </a:extLst>
            </p:cNvPr>
            <p:cNvSpPr/>
            <p:nvPr/>
          </p:nvSpPr>
          <p:spPr>
            <a:xfrm>
              <a:off x="3384803" y="471411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053DF935-78CB-997D-1AA1-B1047AD057F5}"/>
                </a:ext>
              </a:extLst>
            </p:cNvPr>
            <p:cNvSpPr/>
            <p:nvPr/>
          </p:nvSpPr>
          <p:spPr>
            <a:xfrm>
              <a:off x="3613403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EB2F028-C470-DA43-CD60-EECA37DF2A76}"/>
                </a:ext>
              </a:extLst>
            </p:cNvPr>
            <p:cNvSpPr/>
            <p:nvPr/>
          </p:nvSpPr>
          <p:spPr>
            <a:xfrm>
              <a:off x="3613403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61BD36E-9732-978D-3AC0-FA48A598F8FD}"/>
                </a:ext>
              </a:extLst>
            </p:cNvPr>
            <p:cNvSpPr/>
            <p:nvPr/>
          </p:nvSpPr>
          <p:spPr>
            <a:xfrm>
              <a:off x="3613403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1AA1BDBA-390C-2438-4383-31A580475C83}"/>
                </a:ext>
              </a:extLst>
            </p:cNvPr>
            <p:cNvSpPr/>
            <p:nvPr/>
          </p:nvSpPr>
          <p:spPr>
            <a:xfrm>
              <a:off x="3613403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8ABC3F4-1CF2-CC32-D68B-C7D4E3253F3C}"/>
                </a:ext>
              </a:extLst>
            </p:cNvPr>
            <p:cNvSpPr/>
            <p:nvPr/>
          </p:nvSpPr>
          <p:spPr>
            <a:xfrm>
              <a:off x="3613403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C11D2CD-53EA-86C8-566E-26DA200C6CE2}"/>
                </a:ext>
              </a:extLst>
            </p:cNvPr>
            <p:cNvSpPr/>
            <p:nvPr/>
          </p:nvSpPr>
          <p:spPr>
            <a:xfrm>
              <a:off x="3613403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16F943FC-090D-EF1D-F120-FF958E205645}"/>
                </a:ext>
              </a:extLst>
            </p:cNvPr>
            <p:cNvSpPr/>
            <p:nvPr/>
          </p:nvSpPr>
          <p:spPr>
            <a:xfrm>
              <a:off x="3613403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50CE1E5-CF92-4772-C90B-4BC4710E3FF5}"/>
                </a:ext>
              </a:extLst>
            </p:cNvPr>
            <p:cNvSpPr/>
            <p:nvPr/>
          </p:nvSpPr>
          <p:spPr>
            <a:xfrm>
              <a:off x="3613403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10A493C2-EBE3-1983-498D-A9A6BE54FDCB}"/>
                </a:ext>
              </a:extLst>
            </p:cNvPr>
            <p:cNvSpPr/>
            <p:nvPr/>
          </p:nvSpPr>
          <p:spPr>
            <a:xfrm>
              <a:off x="3613403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F8953FA6-20BD-ED40-4553-4F4341278FAC}"/>
                </a:ext>
              </a:extLst>
            </p:cNvPr>
            <p:cNvSpPr/>
            <p:nvPr/>
          </p:nvSpPr>
          <p:spPr>
            <a:xfrm>
              <a:off x="3613403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9AE29699-4264-FA46-02F4-787F50574532}"/>
                </a:ext>
              </a:extLst>
            </p:cNvPr>
            <p:cNvSpPr/>
            <p:nvPr/>
          </p:nvSpPr>
          <p:spPr>
            <a:xfrm>
              <a:off x="3613403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AC5C75F2-80DB-0BE5-E0B7-CC3D91791CAC}"/>
                </a:ext>
              </a:extLst>
            </p:cNvPr>
            <p:cNvSpPr/>
            <p:nvPr/>
          </p:nvSpPr>
          <p:spPr>
            <a:xfrm>
              <a:off x="3613403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A73908FB-B7C0-1179-0EAA-906614DAB211}"/>
                </a:ext>
              </a:extLst>
            </p:cNvPr>
            <p:cNvSpPr/>
            <p:nvPr/>
          </p:nvSpPr>
          <p:spPr>
            <a:xfrm>
              <a:off x="3613403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29DD49D7-6BB7-C410-58D6-3018CF1C9D29}"/>
                </a:ext>
              </a:extLst>
            </p:cNvPr>
            <p:cNvSpPr/>
            <p:nvPr/>
          </p:nvSpPr>
          <p:spPr>
            <a:xfrm>
              <a:off x="3842003" y="19869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F7D45260-5516-994B-D9D9-2B6E69CE7949}"/>
                </a:ext>
              </a:extLst>
            </p:cNvPr>
            <p:cNvSpPr/>
            <p:nvPr/>
          </p:nvSpPr>
          <p:spPr>
            <a:xfrm>
              <a:off x="3842003" y="221118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C971E2C0-6306-4FC0-C19C-36E81E357D1A}"/>
                </a:ext>
              </a:extLst>
            </p:cNvPr>
            <p:cNvSpPr/>
            <p:nvPr/>
          </p:nvSpPr>
          <p:spPr>
            <a:xfrm>
              <a:off x="3842003" y="24418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067DF9F2-1A4E-3F22-2C22-35E1D1B7960D}"/>
                </a:ext>
              </a:extLst>
            </p:cNvPr>
            <p:cNvSpPr/>
            <p:nvPr/>
          </p:nvSpPr>
          <p:spPr>
            <a:xfrm>
              <a:off x="3842003" y="26660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C4365C7-5A14-238E-AF47-9954ACAACDEB}"/>
                </a:ext>
              </a:extLst>
            </p:cNvPr>
            <p:cNvSpPr/>
            <p:nvPr/>
          </p:nvSpPr>
          <p:spPr>
            <a:xfrm>
              <a:off x="3842003" y="289027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8BCD5AFA-C508-0E58-28B1-38BDB1D36506}"/>
                </a:ext>
              </a:extLst>
            </p:cNvPr>
            <p:cNvSpPr/>
            <p:nvPr/>
          </p:nvSpPr>
          <p:spPr>
            <a:xfrm>
              <a:off x="3842003" y="312094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EFC005B3-7ECB-FABD-906C-4EB7538B2C4A}"/>
                </a:ext>
              </a:extLst>
            </p:cNvPr>
            <p:cNvSpPr/>
            <p:nvPr/>
          </p:nvSpPr>
          <p:spPr>
            <a:xfrm>
              <a:off x="3842003" y="334515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187A071-D315-4F78-E99B-3712846A74E1}"/>
                </a:ext>
              </a:extLst>
            </p:cNvPr>
            <p:cNvSpPr/>
            <p:nvPr/>
          </p:nvSpPr>
          <p:spPr>
            <a:xfrm>
              <a:off x="3842003" y="35693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1BEA34D4-94EE-6253-F592-5C7A81E7160F}"/>
                </a:ext>
              </a:extLst>
            </p:cNvPr>
            <p:cNvSpPr/>
            <p:nvPr/>
          </p:nvSpPr>
          <p:spPr>
            <a:xfrm>
              <a:off x="3842003" y="380004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0FDFA270-8AF4-B552-CF7B-1D9C8B62B56D}"/>
                </a:ext>
              </a:extLst>
            </p:cNvPr>
            <p:cNvSpPr/>
            <p:nvPr/>
          </p:nvSpPr>
          <p:spPr>
            <a:xfrm>
              <a:off x="3842003" y="40242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22F8994F-493F-EBF1-D9C4-051BEC009853}"/>
                </a:ext>
              </a:extLst>
            </p:cNvPr>
            <p:cNvSpPr/>
            <p:nvPr/>
          </p:nvSpPr>
          <p:spPr>
            <a:xfrm>
              <a:off x="3842003" y="42484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FF3E230-6B89-0A75-CF94-FE7B2F3F4A20}"/>
                </a:ext>
              </a:extLst>
            </p:cNvPr>
            <p:cNvSpPr/>
            <p:nvPr/>
          </p:nvSpPr>
          <p:spPr>
            <a:xfrm>
              <a:off x="3842003" y="447913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1DF4516-3ED4-BC88-EE8B-EA69352774A1}"/>
                </a:ext>
              </a:extLst>
            </p:cNvPr>
            <p:cNvSpPr/>
            <p:nvPr/>
          </p:nvSpPr>
          <p:spPr>
            <a:xfrm>
              <a:off x="3842003" y="471411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288D3219-5DC5-9E0A-6897-640F72DC9338}"/>
                </a:ext>
              </a:extLst>
            </p:cNvPr>
            <p:cNvSpPr/>
            <p:nvPr/>
          </p:nvSpPr>
          <p:spPr>
            <a:xfrm>
              <a:off x="4070603" y="19869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EEA36E4-4BC4-3C51-C604-5CE29A09DC18}"/>
                </a:ext>
              </a:extLst>
            </p:cNvPr>
            <p:cNvSpPr/>
            <p:nvPr/>
          </p:nvSpPr>
          <p:spPr>
            <a:xfrm>
              <a:off x="4070603" y="221118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84DF0DD9-A50A-7C5A-1158-94F6A557EDD0}"/>
                </a:ext>
              </a:extLst>
            </p:cNvPr>
            <p:cNvSpPr/>
            <p:nvPr/>
          </p:nvSpPr>
          <p:spPr>
            <a:xfrm>
              <a:off x="4070603" y="24418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F78F9ECC-8A39-CCA0-D8CF-49968BB27D6C}"/>
                </a:ext>
              </a:extLst>
            </p:cNvPr>
            <p:cNvSpPr/>
            <p:nvPr/>
          </p:nvSpPr>
          <p:spPr>
            <a:xfrm>
              <a:off x="4070603" y="26660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6AA0B5E2-5CAB-44FB-A2C5-6DCFCB1C5E17}"/>
                </a:ext>
              </a:extLst>
            </p:cNvPr>
            <p:cNvSpPr/>
            <p:nvPr/>
          </p:nvSpPr>
          <p:spPr>
            <a:xfrm>
              <a:off x="4070603" y="289027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E39A3B9A-241F-FF51-CF21-19F840CD3252}"/>
                </a:ext>
              </a:extLst>
            </p:cNvPr>
            <p:cNvSpPr/>
            <p:nvPr/>
          </p:nvSpPr>
          <p:spPr>
            <a:xfrm>
              <a:off x="4070603" y="312094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5DEEFB3-01B4-F4E1-F13E-C01572172B4B}"/>
                </a:ext>
              </a:extLst>
            </p:cNvPr>
            <p:cNvSpPr/>
            <p:nvPr/>
          </p:nvSpPr>
          <p:spPr>
            <a:xfrm>
              <a:off x="4070603" y="334515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C69551B5-6F4A-8326-6E91-FF5F4F4BB6FD}"/>
                </a:ext>
              </a:extLst>
            </p:cNvPr>
            <p:cNvSpPr/>
            <p:nvPr/>
          </p:nvSpPr>
          <p:spPr>
            <a:xfrm>
              <a:off x="4070603" y="356936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859B6C4-FFDE-508F-3278-B8E562A78F2C}"/>
                </a:ext>
              </a:extLst>
            </p:cNvPr>
            <p:cNvSpPr/>
            <p:nvPr/>
          </p:nvSpPr>
          <p:spPr>
            <a:xfrm>
              <a:off x="4070603" y="380004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29DFFE9-10D1-021C-E690-B69AB1F90F62}"/>
                </a:ext>
              </a:extLst>
            </p:cNvPr>
            <p:cNvSpPr/>
            <p:nvPr/>
          </p:nvSpPr>
          <p:spPr>
            <a:xfrm>
              <a:off x="4070603" y="402425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25F8BCD-21F4-B699-8980-D34FCED7A834}"/>
                </a:ext>
              </a:extLst>
            </p:cNvPr>
            <p:cNvSpPr/>
            <p:nvPr/>
          </p:nvSpPr>
          <p:spPr>
            <a:xfrm>
              <a:off x="4070603" y="424846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18B444B6-2F41-428F-CAFB-0E5601FB5FDF}"/>
                </a:ext>
              </a:extLst>
            </p:cNvPr>
            <p:cNvSpPr/>
            <p:nvPr/>
          </p:nvSpPr>
          <p:spPr>
            <a:xfrm>
              <a:off x="4070603" y="447913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9CFE9BC5-DCE0-B150-4A38-5E9E25052DFC}"/>
                </a:ext>
              </a:extLst>
            </p:cNvPr>
            <p:cNvSpPr/>
            <p:nvPr/>
          </p:nvSpPr>
          <p:spPr>
            <a:xfrm>
              <a:off x="4070603" y="471411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CCA5B479-59A1-0304-41E5-15FBC152A407}"/>
                </a:ext>
              </a:extLst>
            </p:cNvPr>
            <p:cNvSpPr/>
            <p:nvPr/>
          </p:nvSpPr>
          <p:spPr>
            <a:xfrm>
              <a:off x="4294630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5DACCD6-85DB-D009-B93D-74280BA500F0}"/>
                </a:ext>
              </a:extLst>
            </p:cNvPr>
            <p:cNvSpPr/>
            <p:nvPr/>
          </p:nvSpPr>
          <p:spPr>
            <a:xfrm>
              <a:off x="4294630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D2617C75-9786-160C-E73B-B71A4B180C13}"/>
                </a:ext>
              </a:extLst>
            </p:cNvPr>
            <p:cNvSpPr/>
            <p:nvPr/>
          </p:nvSpPr>
          <p:spPr>
            <a:xfrm>
              <a:off x="4294630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9B9135C2-DD13-BA86-E579-8EA40C5301C0}"/>
                </a:ext>
              </a:extLst>
            </p:cNvPr>
            <p:cNvSpPr/>
            <p:nvPr/>
          </p:nvSpPr>
          <p:spPr>
            <a:xfrm>
              <a:off x="4294630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E73FA439-33EF-14C6-F501-E3133A243A56}"/>
                </a:ext>
              </a:extLst>
            </p:cNvPr>
            <p:cNvSpPr/>
            <p:nvPr/>
          </p:nvSpPr>
          <p:spPr>
            <a:xfrm>
              <a:off x="4294630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22AA77B4-4574-51DF-EE0D-75ABF87D0BA2}"/>
                </a:ext>
              </a:extLst>
            </p:cNvPr>
            <p:cNvSpPr/>
            <p:nvPr/>
          </p:nvSpPr>
          <p:spPr>
            <a:xfrm>
              <a:off x="4294630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C59CBEB5-AF9B-C475-312F-CF7454D12A3F}"/>
                </a:ext>
              </a:extLst>
            </p:cNvPr>
            <p:cNvSpPr/>
            <p:nvPr/>
          </p:nvSpPr>
          <p:spPr>
            <a:xfrm>
              <a:off x="4294630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FEA36A47-5209-AC9A-579F-129E121CDC3D}"/>
                </a:ext>
              </a:extLst>
            </p:cNvPr>
            <p:cNvSpPr/>
            <p:nvPr/>
          </p:nvSpPr>
          <p:spPr>
            <a:xfrm>
              <a:off x="4294630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65DB429B-4E9D-E544-8DBE-D5F3D38AC288}"/>
                </a:ext>
              </a:extLst>
            </p:cNvPr>
            <p:cNvSpPr/>
            <p:nvPr/>
          </p:nvSpPr>
          <p:spPr>
            <a:xfrm>
              <a:off x="4294630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A2DF8A37-D205-A382-C361-AE34A4BE332C}"/>
                </a:ext>
              </a:extLst>
            </p:cNvPr>
            <p:cNvSpPr/>
            <p:nvPr/>
          </p:nvSpPr>
          <p:spPr>
            <a:xfrm>
              <a:off x="4294630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BCABB494-1EC7-DF6C-63A6-D94203E966F1}"/>
                </a:ext>
              </a:extLst>
            </p:cNvPr>
            <p:cNvSpPr/>
            <p:nvPr/>
          </p:nvSpPr>
          <p:spPr>
            <a:xfrm>
              <a:off x="4294630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302A9D7C-C50B-DAFA-2F54-649D2210D75D}"/>
                </a:ext>
              </a:extLst>
            </p:cNvPr>
            <p:cNvSpPr/>
            <p:nvPr/>
          </p:nvSpPr>
          <p:spPr>
            <a:xfrm>
              <a:off x="4294630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7F8C927-C846-ADB1-B3D8-026E6632BBBF}"/>
                </a:ext>
              </a:extLst>
            </p:cNvPr>
            <p:cNvSpPr/>
            <p:nvPr/>
          </p:nvSpPr>
          <p:spPr>
            <a:xfrm>
              <a:off x="4294630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D50284F-CF80-457A-5DA7-4267B8688E63}"/>
                </a:ext>
              </a:extLst>
            </p:cNvPr>
            <p:cNvSpPr/>
            <p:nvPr/>
          </p:nvSpPr>
          <p:spPr>
            <a:xfrm>
              <a:off x="4523230" y="19869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373DC1A5-00FD-D4DE-655B-AAD2F062CB48}"/>
                </a:ext>
              </a:extLst>
            </p:cNvPr>
            <p:cNvSpPr/>
            <p:nvPr/>
          </p:nvSpPr>
          <p:spPr>
            <a:xfrm>
              <a:off x="4523230" y="221118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35726F83-8FD0-BC3B-EE2B-483F15F9CD94}"/>
                </a:ext>
              </a:extLst>
            </p:cNvPr>
            <p:cNvSpPr/>
            <p:nvPr/>
          </p:nvSpPr>
          <p:spPr>
            <a:xfrm>
              <a:off x="4523230" y="24418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3BDB104-52CC-1D94-8AC8-76BD5E645E60}"/>
                </a:ext>
              </a:extLst>
            </p:cNvPr>
            <p:cNvSpPr/>
            <p:nvPr/>
          </p:nvSpPr>
          <p:spPr>
            <a:xfrm>
              <a:off x="4523230" y="26660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414177B-3610-7766-9D27-4D190CEAE1AD}"/>
                </a:ext>
              </a:extLst>
            </p:cNvPr>
            <p:cNvSpPr/>
            <p:nvPr/>
          </p:nvSpPr>
          <p:spPr>
            <a:xfrm>
              <a:off x="4523230" y="289027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19A5068F-6638-C84F-6C4C-5949B5E2A38B}"/>
                </a:ext>
              </a:extLst>
            </p:cNvPr>
            <p:cNvSpPr/>
            <p:nvPr/>
          </p:nvSpPr>
          <p:spPr>
            <a:xfrm>
              <a:off x="4523230" y="312094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194675B-C039-022E-1FDB-667D99226B4D}"/>
                </a:ext>
              </a:extLst>
            </p:cNvPr>
            <p:cNvSpPr/>
            <p:nvPr/>
          </p:nvSpPr>
          <p:spPr>
            <a:xfrm>
              <a:off x="4523230" y="334515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0872505B-0E25-B600-449D-2A09078195DA}"/>
                </a:ext>
              </a:extLst>
            </p:cNvPr>
            <p:cNvSpPr/>
            <p:nvPr/>
          </p:nvSpPr>
          <p:spPr>
            <a:xfrm>
              <a:off x="4523230" y="35693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444F768F-54D2-E9F5-A68A-758F4C8D4A35}"/>
                </a:ext>
              </a:extLst>
            </p:cNvPr>
            <p:cNvSpPr/>
            <p:nvPr/>
          </p:nvSpPr>
          <p:spPr>
            <a:xfrm>
              <a:off x="4523230" y="380004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48ED560E-BB1C-DC4E-2C48-D43FF4A75C26}"/>
                </a:ext>
              </a:extLst>
            </p:cNvPr>
            <p:cNvSpPr/>
            <p:nvPr/>
          </p:nvSpPr>
          <p:spPr>
            <a:xfrm>
              <a:off x="4523230" y="40242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85CBE7D-3D90-3641-5F98-D432A232DB96}"/>
                </a:ext>
              </a:extLst>
            </p:cNvPr>
            <p:cNvSpPr/>
            <p:nvPr/>
          </p:nvSpPr>
          <p:spPr>
            <a:xfrm>
              <a:off x="4523230" y="42484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445869C4-7786-2B39-CAB3-06CC60FD5453}"/>
                </a:ext>
              </a:extLst>
            </p:cNvPr>
            <p:cNvSpPr/>
            <p:nvPr/>
          </p:nvSpPr>
          <p:spPr>
            <a:xfrm>
              <a:off x="4523230" y="447913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33B0993-6982-ADCA-4221-474AD079FF33}"/>
                </a:ext>
              </a:extLst>
            </p:cNvPr>
            <p:cNvSpPr/>
            <p:nvPr/>
          </p:nvSpPr>
          <p:spPr>
            <a:xfrm>
              <a:off x="4523230" y="471411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C9C6AEB-67DC-4AB2-3CEF-83720D4D1037}"/>
                </a:ext>
              </a:extLst>
            </p:cNvPr>
            <p:cNvSpPr/>
            <p:nvPr/>
          </p:nvSpPr>
          <p:spPr>
            <a:xfrm>
              <a:off x="4754878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693FB74-662D-111E-67DA-3D969866498E}"/>
                </a:ext>
              </a:extLst>
            </p:cNvPr>
            <p:cNvSpPr/>
            <p:nvPr/>
          </p:nvSpPr>
          <p:spPr>
            <a:xfrm>
              <a:off x="4754878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A249527D-5AD5-1457-FC45-E2E2AF98BA8C}"/>
                </a:ext>
              </a:extLst>
            </p:cNvPr>
            <p:cNvSpPr/>
            <p:nvPr/>
          </p:nvSpPr>
          <p:spPr>
            <a:xfrm>
              <a:off x="4754878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160731F0-3608-5F11-397D-08A4FCF0DBA5}"/>
                </a:ext>
              </a:extLst>
            </p:cNvPr>
            <p:cNvSpPr/>
            <p:nvPr/>
          </p:nvSpPr>
          <p:spPr>
            <a:xfrm>
              <a:off x="4754878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C080BE95-385C-7EF5-66AA-2B63FD78AD81}"/>
                </a:ext>
              </a:extLst>
            </p:cNvPr>
            <p:cNvSpPr/>
            <p:nvPr/>
          </p:nvSpPr>
          <p:spPr>
            <a:xfrm>
              <a:off x="4754878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18796377-13F2-F4BF-026A-BEE642F2C874}"/>
                </a:ext>
              </a:extLst>
            </p:cNvPr>
            <p:cNvSpPr/>
            <p:nvPr/>
          </p:nvSpPr>
          <p:spPr>
            <a:xfrm>
              <a:off x="4754878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62E7250-B3FC-EC38-9875-3F0FE6B61ED0}"/>
                </a:ext>
              </a:extLst>
            </p:cNvPr>
            <p:cNvSpPr/>
            <p:nvPr/>
          </p:nvSpPr>
          <p:spPr>
            <a:xfrm>
              <a:off x="4754878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630AC029-F784-C118-95B9-70756CA97F19}"/>
                </a:ext>
              </a:extLst>
            </p:cNvPr>
            <p:cNvSpPr/>
            <p:nvPr/>
          </p:nvSpPr>
          <p:spPr>
            <a:xfrm>
              <a:off x="4754878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D442DEC1-A809-8304-38A1-170434AD4076}"/>
                </a:ext>
              </a:extLst>
            </p:cNvPr>
            <p:cNvSpPr/>
            <p:nvPr/>
          </p:nvSpPr>
          <p:spPr>
            <a:xfrm>
              <a:off x="4754878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6917B93E-0B41-1278-DD9E-C038E16B7E4C}"/>
                </a:ext>
              </a:extLst>
            </p:cNvPr>
            <p:cNvSpPr/>
            <p:nvPr/>
          </p:nvSpPr>
          <p:spPr>
            <a:xfrm>
              <a:off x="4754878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C5FD2B7C-4CB9-1833-259D-5BDAEEE4666B}"/>
                </a:ext>
              </a:extLst>
            </p:cNvPr>
            <p:cNvSpPr/>
            <p:nvPr/>
          </p:nvSpPr>
          <p:spPr>
            <a:xfrm>
              <a:off x="4754878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780C4B5D-29E2-C06D-C13C-A950C700B643}"/>
                </a:ext>
              </a:extLst>
            </p:cNvPr>
            <p:cNvSpPr/>
            <p:nvPr/>
          </p:nvSpPr>
          <p:spPr>
            <a:xfrm>
              <a:off x="4754878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7F83EC4-DD2A-E262-F61F-920CEA68BB8D}"/>
                </a:ext>
              </a:extLst>
            </p:cNvPr>
            <p:cNvSpPr/>
            <p:nvPr/>
          </p:nvSpPr>
          <p:spPr>
            <a:xfrm>
              <a:off x="4754878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CE3099F0-B7D2-EFAF-2092-87B21356B39C}"/>
                </a:ext>
              </a:extLst>
            </p:cNvPr>
            <p:cNvSpPr/>
            <p:nvPr/>
          </p:nvSpPr>
          <p:spPr>
            <a:xfrm>
              <a:off x="4983478" y="19869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D34C03A6-9A35-F4EB-4F7A-430E341CDB67}"/>
                </a:ext>
              </a:extLst>
            </p:cNvPr>
            <p:cNvSpPr/>
            <p:nvPr/>
          </p:nvSpPr>
          <p:spPr>
            <a:xfrm>
              <a:off x="4983478" y="221118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343B186F-664E-00C6-078C-E03A56161DE4}"/>
                </a:ext>
              </a:extLst>
            </p:cNvPr>
            <p:cNvSpPr/>
            <p:nvPr/>
          </p:nvSpPr>
          <p:spPr>
            <a:xfrm>
              <a:off x="4983478" y="24418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CFA0BF35-B21A-563D-B720-31629BCEEEFD}"/>
                </a:ext>
              </a:extLst>
            </p:cNvPr>
            <p:cNvSpPr/>
            <p:nvPr/>
          </p:nvSpPr>
          <p:spPr>
            <a:xfrm>
              <a:off x="4983478" y="26660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522E8FB9-637C-F4B2-A00E-84D73922B3F6}"/>
                </a:ext>
              </a:extLst>
            </p:cNvPr>
            <p:cNvSpPr/>
            <p:nvPr/>
          </p:nvSpPr>
          <p:spPr>
            <a:xfrm>
              <a:off x="4983478" y="289027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FF6B3CD8-BBCC-EC9C-F37D-D146D11633DC}"/>
                </a:ext>
              </a:extLst>
            </p:cNvPr>
            <p:cNvSpPr/>
            <p:nvPr/>
          </p:nvSpPr>
          <p:spPr>
            <a:xfrm>
              <a:off x="4983478" y="312094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C24F3278-3E4A-EE05-EBC8-D2871ACDC535}"/>
                </a:ext>
              </a:extLst>
            </p:cNvPr>
            <p:cNvSpPr/>
            <p:nvPr/>
          </p:nvSpPr>
          <p:spPr>
            <a:xfrm>
              <a:off x="4983478" y="334515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2B45CD1-5CA6-0062-0295-4B65B4A9E141}"/>
                </a:ext>
              </a:extLst>
            </p:cNvPr>
            <p:cNvSpPr/>
            <p:nvPr/>
          </p:nvSpPr>
          <p:spPr>
            <a:xfrm>
              <a:off x="4983478" y="356936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3EBD2B50-1D94-78DC-DC89-4A7B3481077D}"/>
                </a:ext>
              </a:extLst>
            </p:cNvPr>
            <p:cNvSpPr/>
            <p:nvPr/>
          </p:nvSpPr>
          <p:spPr>
            <a:xfrm>
              <a:off x="4983478" y="380004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11F3DD9E-B801-F3D6-E5C0-F0BAA0A7B429}"/>
                </a:ext>
              </a:extLst>
            </p:cNvPr>
            <p:cNvSpPr/>
            <p:nvPr/>
          </p:nvSpPr>
          <p:spPr>
            <a:xfrm>
              <a:off x="4983478" y="402425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652C5EAE-8470-D3F3-EEC4-423142A0718A}"/>
                </a:ext>
              </a:extLst>
            </p:cNvPr>
            <p:cNvSpPr/>
            <p:nvPr/>
          </p:nvSpPr>
          <p:spPr>
            <a:xfrm>
              <a:off x="4983478" y="424846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C2B525D3-F0EC-5DF3-AC04-D3209B9CDA4C}"/>
                </a:ext>
              </a:extLst>
            </p:cNvPr>
            <p:cNvSpPr/>
            <p:nvPr/>
          </p:nvSpPr>
          <p:spPr>
            <a:xfrm>
              <a:off x="4983478" y="447913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8F110979-641F-D8E1-69B4-A2B37F13967F}"/>
                </a:ext>
              </a:extLst>
            </p:cNvPr>
            <p:cNvSpPr/>
            <p:nvPr/>
          </p:nvSpPr>
          <p:spPr>
            <a:xfrm>
              <a:off x="4983478" y="471411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0A2D93F1-8A46-3BFD-DACC-5D3B7B7CB34F}"/>
                </a:ext>
              </a:extLst>
            </p:cNvPr>
            <p:cNvSpPr/>
            <p:nvPr/>
          </p:nvSpPr>
          <p:spPr>
            <a:xfrm>
              <a:off x="5207505" y="198697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CF52E252-A070-DE47-2CE6-4EA0EA93714C}"/>
                </a:ext>
              </a:extLst>
            </p:cNvPr>
            <p:cNvSpPr/>
            <p:nvPr/>
          </p:nvSpPr>
          <p:spPr>
            <a:xfrm>
              <a:off x="5207505" y="221118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B435648-9E34-FF0A-C862-017168850FF4}"/>
                </a:ext>
              </a:extLst>
            </p:cNvPr>
            <p:cNvSpPr/>
            <p:nvPr/>
          </p:nvSpPr>
          <p:spPr>
            <a:xfrm>
              <a:off x="5207505" y="244185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7D9CF6C3-6C67-F2C0-4EFC-1C1BA839A03F}"/>
                </a:ext>
              </a:extLst>
            </p:cNvPr>
            <p:cNvSpPr/>
            <p:nvPr/>
          </p:nvSpPr>
          <p:spPr>
            <a:xfrm>
              <a:off x="5207505" y="266606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D23C5B0-F762-9389-D1F0-8683E22B30B6}"/>
                </a:ext>
              </a:extLst>
            </p:cNvPr>
            <p:cNvSpPr/>
            <p:nvPr/>
          </p:nvSpPr>
          <p:spPr>
            <a:xfrm>
              <a:off x="5207505" y="289027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CD7B811-2990-F7D9-D808-E263503D3C26}"/>
                </a:ext>
              </a:extLst>
            </p:cNvPr>
            <p:cNvSpPr/>
            <p:nvPr/>
          </p:nvSpPr>
          <p:spPr>
            <a:xfrm>
              <a:off x="5207505" y="312094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07A414BB-64E3-197C-8A54-80930EA440AF}"/>
                </a:ext>
              </a:extLst>
            </p:cNvPr>
            <p:cNvSpPr/>
            <p:nvPr/>
          </p:nvSpPr>
          <p:spPr>
            <a:xfrm>
              <a:off x="5207505" y="334516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9424B60D-F781-213E-0825-4C93DF71A930}"/>
                </a:ext>
              </a:extLst>
            </p:cNvPr>
            <p:cNvSpPr/>
            <p:nvPr/>
          </p:nvSpPr>
          <p:spPr>
            <a:xfrm>
              <a:off x="5207505" y="35693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51BAB7B-8B8A-E6DE-2184-A693A00F119E}"/>
                </a:ext>
              </a:extLst>
            </p:cNvPr>
            <p:cNvSpPr/>
            <p:nvPr/>
          </p:nvSpPr>
          <p:spPr>
            <a:xfrm>
              <a:off x="5207505" y="380004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1DF27E87-5F9B-53D2-6D8F-DD622C8C0C05}"/>
                </a:ext>
              </a:extLst>
            </p:cNvPr>
            <p:cNvSpPr/>
            <p:nvPr/>
          </p:nvSpPr>
          <p:spPr>
            <a:xfrm>
              <a:off x="5207505" y="40242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BD56CBA-B927-60B7-3466-7857483B726F}"/>
                </a:ext>
              </a:extLst>
            </p:cNvPr>
            <p:cNvSpPr/>
            <p:nvPr/>
          </p:nvSpPr>
          <p:spPr>
            <a:xfrm>
              <a:off x="5207505" y="42484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A7D0951-0AEA-004C-E90C-566985AE3B89}"/>
                </a:ext>
              </a:extLst>
            </p:cNvPr>
            <p:cNvSpPr/>
            <p:nvPr/>
          </p:nvSpPr>
          <p:spPr>
            <a:xfrm>
              <a:off x="5207505" y="447913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57934DF5-5BF8-74ED-4852-AB969EC441DB}"/>
                </a:ext>
              </a:extLst>
            </p:cNvPr>
            <p:cNvSpPr/>
            <p:nvPr/>
          </p:nvSpPr>
          <p:spPr>
            <a:xfrm>
              <a:off x="5207505" y="471411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B768196-C9D5-96A1-C4AD-59F141F95F74}"/>
                </a:ext>
              </a:extLst>
            </p:cNvPr>
            <p:cNvSpPr/>
            <p:nvPr/>
          </p:nvSpPr>
          <p:spPr>
            <a:xfrm>
              <a:off x="5436105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565F8BE7-D563-DCDC-2ACD-9A1B84A40701}"/>
                </a:ext>
              </a:extLst>
            </p:cNvPr>
            <p:cNvSpPr/>
            <p:nvPr/>
          </p:nvSpPr>
          <p:spPr>
            <a:xfrm>
              <a:off x="5436105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848EE859-B4B0-E309-4FFC-55F533BE161F}"/>
                </a:ext>
              </a:extLst>
            </p:cNvPr>
            <p:cNvSpPr/>
            <p:nvPr/>
          </p:nvSpPr>
          <p:spPr>
            <a:xfrm>
              <a:off x="5436105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F3D9048C-721F-1602-B227-E2C38FE079F5}"/>
                </a:ext>
              </a:extLst>
            </p:cNvPr>
            <p:cNvSpPr/>
            <p:nvPr/>
          </p:nvSpPr>
          <p:spPr>
            <a:xfrm>
              <a:off x="5436105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4F19CB18-6802-07DF-9595-1C6B7458571E}"/>
                </a:ext>
              </a:extLst>
            </p:cNvPr>
            <p:cNvSpPr/>
            <p:nvPr/>
          </p:nvSpPr>
          <p:spPr>
            <a:xfrm>
              <a:off x="5436105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1B0D5CB5-0F99-0E2B-B90F-CD96DC3F42ED}"/>
                </a:ext>
              </a:extLst>
            </p:cNvPr>
            <p:cNvSpPr/>
            <p:nvPr/>
          </p:nvSpPr>
          <p:spPr>
            <a:xfrm>
              <a:off x="5436105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5971F6F-B61E-E34B-E2BD-960E3BE2DA33}"/>
                </a:ext>
              </a:extLst>
            </p:cNvPr>
            <p:cNvSpPr/>
            <p:nvPr/>
          </p:nvSpPr>
          <p:spPr>
            <a:xfrm>
              <a:off x="5436105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17818EB9-2E50-F300-4738-8E66EC87CC4B}"/>
                </a:ext>
              </a:extLst>
            </p:cNvPr>
            <p:cNvSpPr/>
            <p:nvPr/>
          </p:nvSpPr>
          <p:spPr>
            <a:xfrm>
              <a:off x="5436105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0F03C4C0-7E8D-954E-6E83-B6A35C7A5356}"/>
                </a:ext>
              </a:extLst>
            </p:cNvPr>
            <p:cNvSpPr/>
            <p:nvPr/>
          </p:nvSpPr>
          <p:spPr>
            <a:xfrm>
              <a:off x="5436105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6DBE3993-3449-8F7C-9A0D-65790D1328F3}"/>
                </a:ext>
              </a:extLst>
            </p:cNvPr>
            <p:cNvSpPr/>
            <p:nvPr/>
          </p:nvSpPr>
          <p:spPr>
            <a:xfrm>
              <a:off x="5436105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830F088-AC63-F3E2-7593-C1D3621B8669}"/>
                </a:ext>
              </a:extLst>
            </p:cNvPr>
            <p:cNvSpPr/>
            <p:nvPr/>
          </p:nvSpPr>
          <p:spPr>
            <a:xfrm>
              <a:off x="5436105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CE2E154E-A805-3A75-7CEF-E1AAC9061AE8}"/>
                </a:ext>
              </a:extLst>
            </p:cNvPr>
            <p:cNvSpPr/>
            <p:nvPr/>
          </p:nvSpPr>
          <p:spPr>
            <a:xfrm>
              <a:off x="5436105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7EE29076-F278-2A63-EFAA-B4D1DEFF573F}"/>
                </a:ext>
              </a:extLst>
            </p:cNvPr>
            <p:cNvSpPr/>
            <p:nvPr/>
          </p:nvSpPr>
          <p:spPr>
            <a:xfrm>
              <a:off x="5436105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D5D3E74-9543-7E77-56E9-1F1EF4A1286B}"/>
                </a:ext>
              </a:extLst>
            </p:cNvPr>
            <p:cNvSpPr/>
            <p:nvPr/>
          </p:nvSpPr>
          <p:spPr>
            <a:xfrm>
              <a:off x="5663184" y="198697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BAFF2E91-E0A9-65AF-8836-E60DCEA1C2AF}"/>
                </a:ext>
              </a:extLst>
            </p:cNvPr>
            <p:cNvSpPr/>
            <p:nvPr/>
          </p:nvSpPr>
          <p:spPr>
            <a:xfrm>
              <a:off x="5663184" y="221118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8085DA46-AB82-F077-9773-D7226C8A6ACA}"/>
                </a:ext>
              </a:extLst>
            </p:cNvPr>
            <p:cNvSpPr/>
            <p:nvPr/>
          </p:nvSpPr>
          <p:spPr>
            <a:xfrm>
              <a:off x="5663184" y="244185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D52AB8C0-501E-5FC8-8894-6E4577D39EB3}"/>
                </a:ext>
              </a:extLst>
            </p:cNvPr>
            <p:cNvSpPr/>
            <p:nvPr/>
          </p:nvSpPr>
          <p:spPr>
            <a:xfrm>
              <a:off x="5663184" y="266606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F502C050-DDA4-F555-AA9E-C77711FF28CE}"/>
                </a:ext>
              </a:extLst>
            </p:cNvPr>
            <p:cNvSpPr/>
            <p:nvPr/>
          </p:nvSpPr>
          <p:spPr>
            <a:xfrm>
              <a:off x="5663184" y="289027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8D937A7-B373-6B06-17DB-760E6444E321}"/>
                </a:ext>
              </a:extLst>
            </p:cNvPr>
            <p:cNvSpPr/>
            <p:nvPr/>
          </p:nvSpPr>
          <p:spPr>
            <a:xfrm>
              <a:off x="5663184" y="312094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B46CAE77-55D0-29B3-C469-F7BB496CCE9A}"/>
                </a:ext>
              </a:extLst>
            </p:cNvPr>
            <p:cNvSpPr/>
            <p:nvPr/>
          </p:nvSpPr>
          <p:spPr>
            <a:xfrm>
              <a:off x="5663184" y="334516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5DD7735-1172-468A-A946-5012027D5027}"/>
                </a:ext>
              </a:extLst>
            </p:cNvPr>
            <p:cNvSpPr/>
            <p:nvPr/>
          </p:nvSpPr>
          <p:spPr>
            <a:xfrm>
              <a:off x="5663184" y="35693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DF22933D-28BB-04B2-D442-C3A12ADAC803}"/>
                </a:ext>
              </a:extLst>
            </p:cNvPr>
            <p:cNvSpPr/>
            <p:nvPr/>
          </p:nvSpPr>
          <p:spPr>
            <a:xfrm>
              <a:off x="5663184" y="380004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6AEA3DE2-0CF7-0F56-929B-388A30520AF2}"/>
                </a:ext>
              </a:extLst>
            </p:cNvPr>
            <p:cNvSpPr/>
            <p:nvPr/>
          </p:nvSpPr>
          <p:spPr>
            <a:xfrm>
              <a:off x="5663184" y="40242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4B501EF8-650D-6666-900B-6C75C87B1A3C}"/>
                </a:ext>
              </a:extLst>
            </p:cNvPr>
            <p:cNvSpPr/>
            <p:nvPr/>
          </p:nvSpPr>
          <p:spPr>
            <a:xfrm>
              <a:off x="5663184" y="42484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041B033D-88BF-27E8-F225-6D0721AFF4F3}"/>
                </a:ext>
              </a:extLst>
            </p:cNvPr>
            <p:cNvSpPr/>
            <p:nvPr/>
          </p:nvSpPr>
          <p:spPr>
            <a:xfrm>
              <a:off x="5663184" y="447913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BA578C34-97DA-E24A-9FA8-50E891A5FAF6}"/>
                </a:ext>
              </a:extLst>
            </p:cNvPr>
            <p:cNvSpPr/>
            <p:nvPr/>
          </p:nvSpPr>
          <p:spPr>
            <a:xfrm>
              <a:off x="5663184" y="471411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CF0382FE-1F7A-116F-C0E1-3E7B94414A02}"/>
                </a:ext>
              </a:extLst>
            </p:cNvPr>
            <p:cNvSpPr/>
            <p:nvPr/>
          </p:nvSpPr>
          <p:spPr>
            <a:xfrm>
              <a:off x="5891784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F3D1DBB4-9623-7AE1-0995-832C4D792C84}"/>
                </a:ext>
              </a:extLst>
            </p:cNvPr>
            <p:cNvSpPr/>
            <p:nvPr/>
          </p:nvSpPr>
          <p:spPr>
            <a:xfrm>
              <a:off x="5891784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08AAA73D-8BB3-8CF4-806B-E37235448379}"/>
                </a:ext>
              </a:extLst>
            </p:cNvPr>
            <p:cNvSpPr/>
            <p:nvPr/>
          </p:nvSpPr>
          <p:spPr>
            <a:xfrm>
              <a:off x="5891784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D73D6E52-8466-EED4-5DC0-F9839AC51359}"/>
                </a:ext>
              </a:extLst>
            </p:cNvPr>
            <p:cNvSpPr/>
            <p:nvPr/>
          </p:nvSpPr>
          <p:spPr>
            <a:xfrm>
              <a:off x="5891784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20E41822-C164-8FFF-571A-8A277EE63937}"/>
                </a:ext>
              </a:extLst>
            </p:cNvPr>
            <p:cNvSpPr/>
            <p:nvPr/>
          </p:nvSpPr>
          <p:spPr>
            <a:xfrm>
              <a:off x="5891784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F9303ADC-4BFC-2C3F-538B-10F2E4AEF838}"/>
                </a:ext>
              </a:extLst>
            </p:cNvPr>
            <p:cNvSpPr/>
            <p:nvPr/>
          </p:nvSpPr>
          <p:spPr>
            <a:xfrm>
              <a:off x="5891784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E8AD4340-EBAF-FBE2-9990-64863FC3F463}"/>
                </a:ext>
              </a:extLst>
            </p:cNvPr>
            <p:cNvSpPr/>
            <p:nvPr/>
          </p:nvSpPr>
          <p:spPr>
            <a:xfrm>
              <a:off x="5891784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F7C6750A-B539-9089-E054-FAFFA0C8A979}"/>
                </a:ext>
              </a:extLst>
            </p:cNvPr>
            <p:cNvSpPr/>
            <p:nvPr/>
          </p:nvSpPr>
          <p:spPr>
            <a:xfrm>
              <a:off x="5891784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751AECB7-03A7-ECCE-0D82-F04F09E7B99B}"/>
                </a:ext>
              </a:extLst>
            </p:cNvPr>
            <p:cNvSpPr/>
            <p:nvPr/>
          </p:nvSpPr>
          <p:spPr>
            <a:xfrm>
              <a:off x="5891784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7C530F2D-9D26-D925-7A80-E2BF95649A8F}"/>
                </a:ext>
              </a:extLst>
            </p:cNvPr>
            <p:cNvSpPr/>
            <p:nvPr/>
          </p:nvSpPr>
          <p:spPr>
            <a:xfrm>
              <a:off x="5891784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ED5C9A2D-FBF7-CDF6-0EEE-6D85C51F68EE}"/>
                </a:ext>
              </a:extLst>
            </p:cNvPr>
            <p:cNvSpPr/>
            <p:nvPr/>
          </p:nvSpPr>
          <p:spPr>
            <a:xfrm>
              <a:off x="5891784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CBB6AF82-75A7-6F4F-2F3B-21FF96F1075F}"/>
                </a:ext>
              </a:extLst>
            </p:cNvPr>
            <p:cNvSpPr/>
            <p:nvPr/>
          </p:nvSpPr>
          <p:spPr>
            <a:xfrm>
              <a:off x="5891784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5A886DC7-94C6-0140-CA31-A05F054448ED}"/>
                </a:ext>
              </a:extLst>
            </p:cNvPr>
            <p:cNvSpPr/>
            <p:nvPr/>
          </p:nvSpPr>
          <p:spPr>
            <a:xfrm>
              <a:off x="5891784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1830C1BB-0228-E93C-0C40-6C9BAEC00191}"/>
                </a:ext>
              </a:extLst>
            </p:cNvPr>
            <p:cNvSpPr/>
            <p:nvPr/>
          </p:nvSpPr>
          <p:spPr>
            <a:xfrm>
              <a:off x="6123432" y="198697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7DDA25B5-9A27-EF2E-1FFF-4C24F4B984E5}"/>
                </a:ext>
              </a:extLst>
            </p:cNvPr>
            <p:cNvSpPr/>
            <p:nvPr/>
          </p:nvSpPr>
          <p:spPr>
            <a:xfrm>
              <a:off x="6123432" y="221118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C464E21F-E599-B06E-EC5A-9230173CCA2F}"/>
                </a:ext>
              </a:extLst>
            </p:cNvPr>
            <p:cNvSpPr/>
            <p:nvPr/>
          </p:nvSpPr>
          <p:spPr>
            <a:xfrm>
              <a:off x="6123432" y="244185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2F683607-B4FE-C461-6FD3-16771AF0F074}"/>
                </a:ext>
              </a:extLst>
            </p:cNvPr>
            <p:cNvSpPr/>
            <p:nvPr/>
          </p:nvSpPr>
          <p:spPr>
            <a:xfrm>
              <a:off x="6123432" y="266606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05C09B73-7B59-3C70-A9C5-B188EC145CAC}"/>
                </a:ext>
              </a:extLst>
            </p:cNvPr>
            <p:cNvSpPr/>
            <p:nvPr/>
          </p:nvSpPr>
          <p:spPr>
            <a:xfrm>
              <a:off x="6123432" y="289027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E39CC630-5AF2-D063-A4A4-09476B9143EF}"/>
                </a:ext>
              </a:extLst>
            </p:cNvPr>
            <p:cNvSpPr/>
            <p:nvPr/>
          </p:nvSpPr>
          <p:spPr>
            <a:xfrm>
              <a:off x="6123432" y="312094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1D05AEEA-2AD1-DFA8-FB2A-3868687D18F6}"/>
                </a:ext>
              </a:extLst>
            </p:cNvPr>
            <p:cNvSpPr/>
            <p:nvPr/>
          </p:nvSpPr>
          <p:spPr>
            <a:xfrm>
              <a:off x="6123432" y="334516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8F7C0D70-7FC6-0B15-4025-EBF26042E7F1}"/>
                </a:ext>
              </a:extLst>
            </p:cNvPr>
            <p:cNvSpPr/>
            <p:nvPr/>
          </p:nvSpPr>
          <p:spPr>
            <a:xfrm>
              <a:off x="6123432" y="35693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33192F16-D097-68A2-71A7-95B630B6B266}"/>
                </a:ext>
              </a:extLst>
            </p:cNvPr>
            <p:cNvSpPr/>
            <p:nvPr/>
          </p:nvSpPr>
          <p:spPr>
            <a:xfrm>
              <a:off x="6123432" y="380004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21BFB40C-0989-40C4-91B3-43C20E29C978}"/>
                </a:ext>
              </a:extLst>
            </p:cNvPr>
            <p:cNvSpPr/>
            <p:nvPr/>
          </p:nvSpPr>
          <p:spPr>
            <a:xfrm>
              <a:off x="6123432" y="40242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9BB91F7A-D219-1894-8F3A-1B969A075DAB}"/>
                </a:ext>
              </a:extLst>
            </p:cNvPr>
            <p:cNvSpPr/>
            <p:nvPr/>
          </p:nvSpPr>
          <p:spPr>
            <a:xfrm>
              <a:off x="6123432" y="42484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1248484A-EEFF-5224-27D2-A7306B512253}"/>
                </a:ext>
              </a:extLst>
            </p:cNvPr>
            <p:cNvSpPr/>
            <p:nvPr/>
          </p:nvSpPr>
          <p:spPr>
            <a:xfrm>
              <a:off x="6123432" y="447913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50D7F786-EDAA-4DDB-8D05-6EF830521E97}"/>
                </a:ext>
              </a:extLst>
            </p:cNvPr>
            <p:cNvSpPr/>
            <p:nvPr/>
          </p:nvSpPr>
          <p:spPr>
            <a:xfrm>
              <a:off x="6123432" y="471411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3CA5F637-86CA-4FA9-88AC-8F222522F515}"/>
                </a:ext>
              </a:extLst>
            </p:cNvPr>
            <p:cNvSpPr/>
            <p:nvPr/>
          </p:nvSpPr>
          <p:spPr>
            <a:xfrm>
              <a:off x="6352032" y="19869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80533AED-D0AD-EDB4-2554-FFFF2980970C}"/>
                </a:ext>
              </a:extLst>
            </p:cNvPr>
            <p:cNvSpPr/>
            <p:nvPr/>
          </p:nvSpPr>
          <p:spPr>
            <a:xfrm>
              <a:off x="6352032" y="221118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63F960C9-2775-5DF2-582F-2F38A41170DA}"/>
                </a:ext>
              </a:extLst>
            </p:cNvPr>
            <p:cNvSpPr/>
            <p:nvPr/>
          </p:nvSpPr>
          <p:spPr>
            <a:xfrm>
              <a:off x="6352032" y="24418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B6D8BDF5-350E-1D7E-EF44-8B5BA1CCF239}"/>
                </a:ext>
              </a:extLst>
            </p:cNvPr>
            <p:cNvSpPr/>
            <p:nvPr/>
          </p:nvSpPr>
          <p:spPr>
            <a:xfrm>
              <a:off x="6352032" y="26660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84CFAD64-1ED2-D665-8D37-26A1C5656EA5}"/>
                </a:ext>
              </a:extLst>
            </p:cNvPr>
            <p:cNvSpPr/>
            <p:nvPr/>
          </p:nvSpPr>
          <p:spPr>
            <a:xfrm>
              <a:off x="6352032" y="289027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AEA04855-5545-07C4-DF69-6A682BF33B08}"/>
                </a:ext>
              </a:extLst>
            </p:cNvPr>
            <p:cNvSpPr/>
            <p:nvPr/>
          </p:nvSpPr>
          <p:spPr>
            <a:xfrm>
              <a:off x="6352032" y="312094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09706773-76BF-5176-835E-A6DDB14B2625}"/>
                </a:ext>
              </a:extLst>
            </p:cNvPr>
            <p:cNvSpPr/>
            <p:nvPr/>
          </p:nvSpPr>
          <p:spPr>
            <a:xfrm>
              <a:off x="6352032" y="334515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CE073D53-B4EA-ABB3-9975-90A7CC36E234}"/>
                </a:ext>
              </a:extLst>
            </p:cNvPr>
            <p:cNvSpPr/>
            <p:nvPr/>
          </p:nvSpPr>
          <p:spPr>
            <a:xfrm>
              <a:off x="6352032" y="356937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25061E31-B6B9-8515-EF48-AF7577DD155C}"/>
                </a:ext>
              </a:extLst>
            </p:cNvPr>
            <p:cNvSpPr/>
            <p:nvPr/>
          </p:nvSpPr>
          <p:spPr>
            <a:xfrm>
              <a:off x="6352032" y="380004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08A84A46-2B45-9DDB-AE0A-BECEDAFACCD7}"/>
                </a:ext>
              </a:extLst>
            </p:cNvPr>
            <p:cNvSpPr/>
            <p:nvPr/>
          </p:nvSpPr>
          <p:spPr>
            <a:xfrm>
              <a:off x="6352032" y="402425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E227122A-44E1-B5DF-76FE-1E040B7FD49E}"/>
                </a:ext>
              </a:extLst>
            </p:cNvPr>
            <p:cNvSpPr/>
            <p:nvPr/>
          </p:nvSpPr>
          <p:spPr>
            <a:xfrm>
              <a:off x="6352032" y="424846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14082384-A434-33F9-E088-3AE38BE0C522}"/>
                </a:ext>
              </a:extLst>
            </p:cNvPr>
            <p:cNvSpPr/>
            <p:nvPr/>
          </p:nvSpPr>
          <p:spPr>
            <a:xfrm>
              <a:off x="6352032" y="447913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D9AE8E1B-EADA-05A0-AB76-317BFF108173}"/>
                </a:ext>
              </a:extLst>
            </p:cNvPr>
            <p:cNvSpPr/>
            <p:nvPr/>
          </p:nvSpPr>
          <p:spPr>
            <a:xfrm>
              <a:off x="6352032" y="471411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DEE67699-C4CD-AE57-A1C8-9EB33BD8DA52}"/>
                </a:ext>
              </a:extLst>
            </p:cNvPr>
            <p:cNvSpPr/>
            <p:nvPr/>
          </p:nvSpPr>
          <p:spPr>
            <a:xfrm>
              <a:off x="6576059" y="198697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9F5E1205-870C-73B4-46B9-2297B402FEED}"/>
                </a:ext>
              </a:extLst>
            </p:cNvPr>
            <p:cNvSpPr/>
            <p:nvPr/>
          </p:nvSpPr>
          <p:spPr>
            <a:xfrm>
              <a:off x="6576059" y="221118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A50FF4EC-AF77-A5D8-B532-34B2C225D8F9}"/>
                </a:ext>
              </a:extLst>
            </p:cNvPr>
            <p:cNvSpPr/>
            <p:nvPr/>
          </p:nvSpPr>
          <p:spPr>
            <a:xfrm>
              <a:off x="6576059" y="244185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69C7EE04-F0A1-92D0-8606-5002B914F7BD}"/>
                </a:ext>
              </a:extLst>
            </p:cNvPr>
            <p:cNvSpPr/>
            <p:nvPr/>
          </p:nvSpPr>
          <p:spPr>
            <a:xfrm>
              <a:off x="6576059" y="266606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E656CEFD-9EE9-2A88-9DDA-8C7EF590A9C2}"/>
                </a:ext>
              </a:extLst>
            </p:cNvPr>
            <p:cNvSpPr/>
            <p:nvPr/>
          </p:nvSpPr>
          <p:spPr>
            <a:xfrm>
              <a:off x="6576059" y="289027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E9BEBA3E-0A3B-E30F-9148-CAD9DBEEE1E7}"/>
                </a:ext>
              </a:extLst>
            </p:cNvPr>
            <p:cNvSpPr/>
            <p:nvPr/>
          </p:nvSpPr>
          <p:spPr>
            <a:xfrm>
              <a:off x="6576059" y="312095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1A20E158-0D4A-05FE-3518-892640AD37DF}"/>
                </a:ext>
              </a:extLst>
            </p:cNvPr>
            <p:cNvSpPr/>
            <p:nvPr/>
          </p:nvSpPr>
          <p:spPr>
            <a:xfrm>
              <a:off x="6576059" y="334516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18210443-CB0F-8492-B0D5-27C575C106C6}"/>
                </a:ext>
              </a:extLst>
            </p:cNvPr>
            <p:cNvSpPr/>
            <p:nvPr/>
          </p:nvSpPr>
          <p:spPr>
            <a:xfrm>
              <a:off x="6576059" y="356937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852D4027-57A1-FD85-6930-1F128879C47C}"/>
                </a:ext>
              </a:extLst>
            </p:cNvPr>
            <p:cNvSpPr/>
            <p:nvPr/>
          </p:nvSpPr>
          <p:spPr>
            <a:xfrm>
              <a:off x="6576059" y="380004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EE3A50C7-02BB-0650-B88B-9912FC4DFBA3}"/>
                </a:ext>
              </a:extLst>
            </p:cNvPr>
            <p:cNvSpPr/>
            <p:nvPr/>
          </p:nvSpPr>
          <p:spPr>
            <a:xfrm>
              <a:off x="6576059" y="402425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44C853A0-79BF-A4C9-E75E-597032889835}"/>
                </a:ext>
              </a:extLst>
            </p:cNvPr>
            <p:cNvSpPr/>
            <p:nvPr/>
          </p:nvSpPr>
          <p:spPr>
            <a:xfrm>
              <a:off x="6576059" y="424846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FDC31E5B-9101-5FBF-2D52-701CCDF64293}"/>
                </a:ext>
              </a:extLst>
            </p:cNvPr>
            <p:cNvSpPr/>
            <p:nvPr/>
          </p:nvSpPr>
          <p:spPr>
            <a:xfrm>
              <a:off x="6576059" y="447913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E838ECBC-547A-7D29-220F-E643777FA2F5}"/>
                </a:ext>
              </a:extLst>
            </p:cNvPr>
            <p:cNvSpPr/>
            <p:nvPr/>
          </p:nvSpPr>
          <p:spPr>
            <a:xfrm>
              <a:off x="6576059" y="471411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3BA9CF8B-943F-D8F3-969A-882D5E4447BB}"/>
                </a:ext>
              </a:extLst>
            </p:cNvPr>
            <p:cNvSpPr/>
            <p:nvPr/>
          </p:nvSpPr>
          <p:spPr>
            <a:xfrm>
              <a:off x="6804659" y="1986972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6F39970F-2434-8B8F-46D4-12E42A407589}"/>
                </a:ext>
              </a:extLst>
            </p:cNvPr>
            <p:cNvSpPr/>
            <p:nvPr/>
          </p:nvSpPr>
          <p:spPr>
            <a:xfrm>
              <a:off x="6804659" y="221118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FBC04AD8-ED00-68E3-DDAA-CDD7C2B0D2CA}"/>
                </a:ext>
              </a:extLst>
            </p:cNvPr>
            <p:cNvSpPr/>
            <p:nvPr/>
          </p:nvSpPr>
          <p:spPr>
            <a:xfrm>
              <a:off x="6804659" y="244185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9933413C-9301-7346-52AA-04861FA90FC1}"/>
                </a:ext>
              </a:extLst>
            </p:cNvPr>
            <p:cNvSpPr/>
            <p:nvPr/>
          </p:nvSpPr>
          <p:spPr>
            <a:xfrm>
              <a:off x="6804659" y="266606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398DAC75-1B6C-A9C2-8D39-1B90DA563076}"/>
                </a:ext>
              </a:extLst>
            </p:cNvPr>
            <p:cNvSpPr/>
            <p:nvPr/>
          </p:nvSpPr>
          <p:spPr>
            <a:xfrm>
              <a:off x="6804659" y="289027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B8AF0EFE-5B44-F966-4E27-2F945C4DD978}"/>
                </a:ext>
              </a:extLst>
            </p:cNvPr>
            <p:cNvSpPr/>
            <p:nvPr/>
          </p:nvSpPr>
          <p:spPr>
            <a:xfrm>
              <a:off x="6804659" y="312094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D317B9D1-7578-9B65-26E5-20A536FFB8FC}"/>
                </a:ext>
              </a:extLst>
            </p:cNvPr>
            <p:cNvSpPr/>
            <p:nvPr/>
          </p:nvSpPr>
          <p:spPr>
            <a:xfrm>
              <a:off x="6804659" y="334516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91648AB1-4206-0C82-54EE-439BD9B4720B}"/>
                </a:ext>
              </a:extLst>
            </p:cNvPr>
            <p:cNvSpPr/>
            <p:nvPr/>
          </p:nvSpPr>
          <p:spPr>
            <a:xfrm>
              <a:off x="6804659" y="356937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F35D69C6-C003-73F7-A17B-A0564DE4FAEF}"/>
                </a:ext>
              </a:extLst>
            </p:cNvPr>
            <p:cNvSpPr/>
            <p:nvPr/>
          </p:nvSpPr>
          <p:spPr>
            <a:xfrm>
              <a:off x="6804659" y="380004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09FED197-84B3-4E28-0707-A99337C46460}"/>
                </a:ext>
              </a:extLst>
            </p:cNvPr>
            <p:cNvSpPr/>
            <p:nvPr/>
          </p:nvSpPr>
          <p:spPr>
            <a:xfrm>
              <a:off x="6804659" y="402425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0CAE03FD-3E7B-2D18-490B-C9E99A2E0AFD}"/>
                </a:ext>
              </a:extLst>
            </p:cNvPr>
            <p:cNvSpPr/>
            <p:nvPr/>
          </p:nvSpPr>
          <p:spPr>
            <a:xfrm>
              <a:off x="6804659" y="424846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A832F720-40D8-4F29-ACAA-96A60035B987}"/>
                </a:ext>
              </a:extLst>
            </p:cNvPr>
            <p:cNvSpPr/>
            <p:nvPr/>
          </p:nvSpPr>
          <p:spPr>
            <a:xfrm>
              <a:off x="6804659" y="447913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69FCEC2-64F2-EC91-C292-FBC4A67482F1}"/>
                </a:ext>
              </a:extLst>
            </p:cNvPr>
            <p:cNvSpPr/>
            <p:nvPr/>
          </p:nvSpPr>
          <p:spPr>
            <a:xfrm>
              <a:off x="6804659" y="471411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12874B2C-0A19-0EA7-C3E3-4FC520A78BA3}"/>
                </a:ext>
              </a:extLst>
            </p:cNvPr>
            <p:cNvSpPr/>
            <p:nvPr/>
          </p:nvSpPr>
          <p:spPr>
            <a:xfrm>
              <a:off x="7028688" y="1987296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D050B41F-D1B7-D54D-7C01-A56D1A393121}"/>
                </a:ext>
              </a:extLst>
            </p:cNvPr>
            <p:cNvSpPr/>
            <p:nvPr/>
          </p:nvSpPr>
          <p:spPr>
            <a:xfrm>
              <a:off x="7028688" y="221150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555694D3-72C2-8240-3AF0-55810DE67472}"/>
                </a:ext>
              </a:extLst>
            </p:cNvPr>
            <p:cNvSpPr/>
            <p:nvPr/>
          </p:nvSpPr>
          <p:spPr>
            <a:xfrm>
              <a:off x="7028688" y="244217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EE3C5140-D9EC-CC2B-9768-A984DA1ED3D0}"/>
                </a:ext>
              </a:extLst>
            </p:cNvPr>
            <p:cNvSpPr/>
            <p:nvPr/>
          </p:nvSpPr>
          <p:spPr>
            <a:xfrm>
              <a:off x="7028688" y="2666390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FE4AB83D-9FD6-60F4-3E7B-FA0DAEEDBED2}"/>
                </a:ext>
              </a:extLst>
            </p:cNvPr>
            <p:cNvSpPr/>
            <p:nvPr/>
          </p:nvSpPr>
          <p:spPr>
            <a:xfrm>
              <a:off x="7028688" y="289060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F548C0ED-0D28-8ADC-6262-F8184626C5EF}"/>
                </a:ext>
              </a:extLst>
            </p:cNvPr>
            <p:cNvSpPr/>
            <p:nvPr/>
          </p:nvSpPr>
          <p:spPr>
            <a:xfrm>
              <a:off x="7028688" y="3121273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BBD50FCF-21F0-A06C-E377-070D85C449CD}"/>
                </a:ext>
              </a:extLst>
            </p:cNvPr>
            <p:cNvSpPr/>
            <p:nvPr/>
          </p:nvSpPr>
          <p:spPr>
            <a:xfrm>
              <a:off x="7028688" y="3345484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43655CD7-74FB-7B1E-0F93-9E189C740DDD}"/>
                </a:ext>
              </a:extLst>
            </p:cNvPr>
            <p:cNvSpPr/>
            <p:nvPr/>
          </p:nvSpPr>
          <p:spPr>
            <a:xfrm>
              <a:off x="7028688" y="3569695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B64FD30B-A8CE-7AFE-DF3B-224AA2B63344}"/>
                </a:ext>
              </a:extLst>
            </p:cNvPr>
            <p:cNvSpPr/>
            <p:nvPr/>
          </p:nvSpPr>
          <p:spPr>
            <a:xfrm>
              <a:off x="7028688" y="3800367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A789E380-C694-2683-2276-F1DFF3251E74}"/>
                </a:ext>
              </a:extLst>
            </p:cNvPr>
            <p:cNvSpPr/>
            <p:nvPr/>
          </p:nvSpPr>
          <p:spPr>
            <a:xfrm>
              <a:off x="7028688" y="4024578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B11FB17D-BF07-305A-01D5-CE4ADFFFBBD5}"/>
                </a:ext>
              </a:extLst>
            </p:cNvPr>
            <p:cNvSpPr/>
            <p:nvPr/>
          </p:nvSpPr>
          <p:spPr>
            <a:xfrm>
              <a:off x="7028688" y="424878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C30FC2B8-B8D1-0ADB-FE79-2F84A58D8344}"/>
                </a:ext>
              </a:extLst>
            </p:cNvPr>
            <p:cNvSpPr/>
            <p:nvPr/>
          </p:nvSpPr>
          <p:spPr>
            <a:xfrm>
              <a:off x="7028688" y="4479461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97380769-6283-9169-4100-4D56B7F72AA7}"/>
                </a:ext>
              </a:extLst>
            </p:cNvPr>
            <p:cNvSpPr/>
            <p:nvPr/>
          </p:nvSpPr>
          <p:spPr>
            <a:xfrm>
              <a:off x="7028688" y="4714439"/>
              <a:ext cx="228600" cy="22421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10" name="Rectangle 309">
            <a:extLst>
              <a:ext uri="{FF2B5EF4-FFF2-40B4-BE49-F238E27FC236}">
                <a16:creationId xmlns:a16="http://schemas.microsoft.com/office/drawing/2014/main" id="{7E5E87AE-E6CA-89C1-AFCA-2A4CDDF0CCEE}"/>
              </a:ext>
            </a:extLst>
          </p:cNvPr>
          <p:cNvSpPr/>
          <p:nvPr/>
        </p:nvSpPr>
        <p:spPr>
          <a:xfrm>
            <a:off x="6207002" y="4863131"/>
            <a:ext cx="171450" cy="168158"/>
          </a:xfrm>
          <a:prstGeom prst="rect">
            <a:avLst/>
          </a:prstGeom>
          <a:solidFill>
            <a:srgbClr val="0000FF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EB667F6F-1346-E7A2-3F06-1E1430D4AD15}"/>
              </a:ext>
            </a:extLst>
          </p:cNvPr>
          <p:cNvGrpSpPr/>
          <p:nvPr/>
        </p:nvGrpSpPr>
        <p:grpSpPr>
          <a:xfrm>
            <a:off x="6283417" y="3300886"/>
            <a:ext cx="2555270" cy="1561999"/>
            <a:chOff x="4782379" y="985520"/>
            <a:chExt cx="3407026" cy="2082665"/>
          </a:xfrm>
        </p:grpSpPr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E17071D4-8AD8-C108-E9B8-6BAD2E430D74}"/>
                </a:ext>
              </a:extLst>
            </p:cNvPr>
            <p:cNvGrpSpPr/>
            <p:nvPr/>
          </p:nvGrpSpPr>
          <p:grpSpPr>
            <a:xfrm>
              <a:off x="6151880" y="985520"/>
              <a:ext cx="2037525" cy="1642637"/>
              <a:chOff x="7391400" y="1295400"/>
              <a:chExt cx="2281066" cy="1838978"/>
            </a:xfrm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55AB1C80-7E83-D283-2CF5-DABAE12D3AC1}"/>
                  </a:ext>
                </a:extLst>
              </p:cNvPr>
              <p:cNvSpPr/>
              <p:nvPr/>
            </p:nvSpPr>
            <p:spPr>
              <a:xfrm>
                <a:off x="7391400" y="1295400"/>
                <a:ext cx="2281066" cy="183897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/>
              </a:p>
            </p:txBody>
          </p:sp>
          <p:pic>
            <p:nvPicPr>
              <p:cNvPr id="315" name="Picture 8" descr="C:\Users\Miki\Projects\vidphotometry\code\matlab\Figures\overview\pixel_values.png">
                <a:extLst>
                  <a:ext uri="{FF2B5EF4-FFF2-40B4-BE49-F238E27FC236}">
                    <a16:creationId xmlns:a16="http://schemas.microsoft.com/office/drawing/2014/main" id="{2FD4E79C-04DF-C086-6062-763A8D2D1E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72534" y="1402461"/>
                <a:ext cx="2128666" cy="1645539"/>
              </a:xfrm>
              <a:prstGeom prst="rect">
                <a:avLst/>
              </a:prstGeom>
              <a:noFill/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13" name="Freeform 440">
              <a:extLst>
                <a:ext uri="{FF2B5EF4-FFF2-40B4-BE49-F238E27FC236}">
                  <a16:creationId xmlns:a16="http://schemas.microsoft.com/office/drawing/2014/main" id="{AEE78F69-B283-A52E-371B-CFB945F39B2B}"/>
                </a:ext>
              </a:extLst>
            </p:cNvPr>
            <p:cNvSpPr/>
            <p:nvPr/>
          </p:nvSpPr>
          <p:spPr>
            <a:xfrm>
              <a:off x="4782379" y="1848985"/>
              <a:ext cx="1371600" cy="1219200"/>
            </a:xfrm>
            <a:custGeom>
              <a:avLst/>
              <a:gdLst>
                <a:gd name="connsiteX0" fmla="*/ 1371600 w 1371600"/>
                <a:gd name="connsiteY0" fmla="*/ 0 h 1219200"/>
                <a:gd name="connsiteX1" fmla="*/ 274320 w 1371600"/>
                <a:gd name="connsiteY1" fmla="*/ 396240 h 1219200"/>
                <a:gd name="connsiteX2" fmla="*/ 0 w 1371600"/>
                <a:gd name="connsiteY2" fmla="*/ 1219200 h 1219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1600" h="1219200">
                  <a:moveTo>
                    <a:pt x="1371600" y="0"/>
                  </a:moveTo>
                  <a:cubicBezTo>
                    <a:pt x="937260" y="96520"/>
                    <a:pt x="502920" y="193040"/>
                    <a:pt x="274320" y="396240"/>
                  </a:cubicBezTo>
                  <a:cubicBezTo>
                    <a:pt x="45720" y="599440"/>
                    <a:pt x="22860" y="909320"/>
                    <a:pt x="0" y="121920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204400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3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  <p:bldLst>
      <p:bldP spid="3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6217D-21D2-D1CB-A1FF-A7C278DA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96BF60D-B1A7-EF09-73AC-8489C9329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Eulerian Video Magnification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028333-78F0-90ED-4D12-05FAE5F19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7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93B8A7-46F9-B269-82AE-1103B5BCFFD3}"/>
                  </a:ext>
                </a:extLst>
              </p:cNvPr>
              <p:cNvSpPr txBox="1"/>
              <p:nvPr/>
            </p:nvSpPr>
            <p:spPr>
              <a:xfrm>
                <a:off x="461982" y="3208642"/>
                <a:ext cx="8908026" cy="2827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dirty="0"/>
                  <a:t>목표 신호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ko-KR" altLang="en-US" sz="12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200" b="0" dirty="0"/>
              </a:p>
              <a:p>
                <a:endParaRPr lang="en-US" altLang="ko-KR" sz="1200" dirty="0"/>
              </a:p>
              <a:p>
                <a:endParaRPr lang="en-US" altLang="ko-KR" sz="1200" b="0" dirty="0"/>
              </a:p>
              <a:p>
                <a:r>
                  <a:rPr lang="en-US" altLang="ko-KR" sz="1200" dirty="0"/>
                  <a:t>1. </a:t>
                </a:r>
                <a:r>
                  <a:rPr lang="ko-KR" altLang="en-US" sz="1200" dirty="0"/>
                  <a:t>증폭 전 실제 영상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테일러 전개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sz="1200" dirty="0"/>
              </a:p>
              <a:p>
                <a:r>
                  <a:rPr lang="en-US" altLang="ko-KR" sz="1200" dirty="0"/>
                  <a:t>2. Temporal BPF </a:t>
                </a:r>
                <a:r>
                  <a:rPr lang="ko-KR" altLang="en-US" sz="1200" dirty="0"/>
                  <a:t>결과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sz="1200" dirty="0"/>
              </a:p>
              <a:p>
                <a:r>
                  <a:rPr lang="en-US" altLang="ko-KR" sz="1200" dirty="0"/>
                  <a:t>3. </a:t>
                </a:r>
                <a:r>
                  <a:rPr lang="ko-KR" altLang="en-US" sz="1200" dirty="0"/>
                  <a:t>증폭 후 합성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sz="1200" b="0" dirty="0"/>
              </a:p>
              <a:p>
                <a:endParaRPr lang="en-US" altLang="ko-KR" sz="11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+(1+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ko-KR" alt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93B8A7-46F9-B269-82AE-1103B5BCF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82" y="3208642"/>
                <a:ext cx="8908026" cy="2827121"/>
              </a:xfrm>
              <a:prstGeom prst="rect">
                <a:avLst/>
              </a:prstGeom>
              <a:blipFill>
                <a:blip r:embed="rId3"/>
                <a:stretch>
                  <a:fillRect l="-68" t="-2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41F216B-D889-20DD-48D3-7F7DCEC6B0C7}"/>
              </a:ext>
            </a:extLst>
          </p:cNvPr>
          <p:cNvSpPr txBox="1"/>
          <p:nvPr/>
        </p:nvSpPr>
        <p:spPr>
          <a:xfrm>
            <a:off x="5395171" y="6503516"/>
            <a:ext cx="4226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Wu et al. </a:t>
            </a:r>
            <a:r>
              <a:rPr lang="en-US" altLang="ko-KR" sz="800" i="1" dirty="0"/>
              <a:t>Eulerian Video Magnification for Revealing Subtle Changes in the World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SIGGRAPH 2012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3FACF24-78AA-28F1-09D3-C671BA6E4B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162"/>
          <a:stretch>
            <a:fillRect/>
          </a:stretch>
        </p:blipFill>
        <p:spPr>
          <a:xfrm>
            <a:off x="1588613" y="736412"/>
            <a:ext cx="6294821" cy="22142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F239BE-0109-A685-6669-3F90977F5719}"/>
              </a:ext>
            </a:extLst>
          </p:cNvPr>
          <p:cNvSpPr txBox="1"/>
          <p:nvPr/>
        </p:nvSpPr>
        <p:spPr>
          <a:xfrm>
            <a:off x="6714653" y="5792863"/>
            <a:ext cx="15875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/>
              <a:t>1</a:t>
            </a:r>
            <a:r>
              <a:rPr lang="ko-KR" altLang="en-US" sz="600" dirty="0"/>
              <a:t>차 테일러 전개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0E702E-63F8-3F78-9078-BF78481616B5}"/>
              </a:ext>
            </a:extLst>
          </p:cNvPr>
          <p:cNvCxnSpPr/>
          <p:nvPr/>
        </p:nvCxnSpPr>
        <p:spPr>
          <a:xfrm>
            <a:off x="535457" y="3801533"/>
            <a:ext cx="81237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3496ADA-9586-2006-83A6-6C0F2653B9DD}"/>
              </a:ext>
            </a:extLst>
          </p:cNvPr>
          <p:cNvSpPr txBox="1"/>
          <p:nvPr/>
        </p:nvSpPr>
        <p:spPr>
          <a:xfrm>
            <a:off x="2333380" y="2848821"/>
            <a:ext cx="182248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200" dirty="0" err="1">
                <a:solidFill>
                  <a:srgbClr val="C00000"/>
                </a:solidFill>
              </a:rPr>
              <a:t>Laplacian</a:t>
            </a:r>
            <a:r>
              <a:rPr lang="en-US" sz="1200" dirty="0">
                <a:solidFill>
                  <a:srgbClr val="C00000"/>
                </a:solidFill>
              </a:rPr>
              <a:t> pyramid</a:t>
            </a:r>
          </a:p>
          <a:p>
            <a:pPr algn="ctr"/>
            <a:r>
              <a:rPr lang="en-US" sz="1200" dirty="0">
                <a:solidFill>
                  <a:srgbClr val="C00000"/>
                </a:solidFill>
              </a:rPr>
              <a:t>[Burt and </a:t>
            </a:r>
            <a:r>
              <a:rPr lang="en-US" sz="1200" dirty="0" err="1">
                <a:solidFill>
                  <a:srgbClr val="C00000"/>
                </a:solidFill>
              </a:rPr>
              <a:t>Adelson</a:t>
            </a:r>
            <a:r>
              <a:rPr lang="en-US" sz="1200" dirty="0">
                <a:solidFill>
                  <a:srgbClr val="C00000"/>
                </a:solidFill>
              </a:rPr>
              <a:t> 1983]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3E48FD9-ADE5-A8C1-315C-214B9E9ADAF4}"/>
              </a:ext>
            </a:extLst>
          </p:cNvPr>
          <p:cNvCxnSpPr>
            <a:cxnSpLocks/>
          </p:cNvCxnSpPr>
          <p:nvPr/>
        </p:nvCxnSpPr>
        <p:spPr>
          <a:xfrm flipV="1">
            <a:off x="2772833" y="2623718"/>
            <a:ext cx="114300" cy="276115"/>
          </a:xfrm>
          <a:prstGeom prst="straightConnector1">
            <a:avLst/>
          </a:prstGeom>
          <a:ln w="25400">
            <a:solidFill>
              <a:srgbClr val="C0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11CEF7E-E2E3-8F23-1AF8-219F73BE8F84}"/>
              </a:ext>
            </a:extLst>
          </p:cNvPr>
          <p:cNvSpPr txBox="1"/>
          <p:nvPr/>
        </p:nvSpPr>
        <p:spPr>
          <a:xfrm>
            <a:off x="5391142" y="2863445"/>
            <a:ext cx="225734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1050" dirty="0">
                <a:solidFill>
                  <a:srgbClr val="C00000"/>
                </a:solidFill>
              </a:rPr>
              <a:t>Temporal filtering on </a:t>
            </a:r>
            <a:r>
              <a:rPr lang="en-US" sz="1200" b="1" dirty="0">
                <a:solidFill>
                  <a:srgbClr val="C00000"/>
                </a:solidFill>
              </a:rPr>
              <a:t>intensities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B109FC1-5BC2-A148-F627-E7EE605928D5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4775200" y="2635596"/>
            <a:ext cx="615942" cy="366349"/>
          </a:xfrm>
          <a:prstGeom prst="straightConnector1">
            <a:avLst/>
          </a:prstGeom>
          <a:ln w="25400">
            <a:solidFill>
              <a:srgbClr val="C0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72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F5F7A-CA78-8079-D1B4-1BB52B4F2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105F246-C783-2768-98FF-612EA4B84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Eulerian Video Magnification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4ADC8B-3B1C-2008-312E-82CC5579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8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C6CEE4-B514-1D44-230E-50C81865E923}"/>
              </a:ext>
            </a:extLst>
          </p:cNvPr>
          <p:cNvSpPr txBox="1"/>
          <p:nvPr/>
        </p:nvSpPr>
        <p:spPr>
          <a:xfrm>
            <a:off x="5395171" y="6503516"/>
            <a:ext cx="4226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Wu et al. </a:t>
            </a:r>
            <a:r>
              <a:rPr lang="en-US" altLang="ko-KR" sz="800" i="1" dirty="0"/>
              <a:t>Eulerian Video Magnification for Revealing Subtle Changes in the World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SIGGRAPH 2012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72D2D8C-405C-04FE-FC88-90D15DAA7355}"/>
              </a:ext>
            </a:extLst>
          </p:cNvPr>
          <p:cNvGrpSpPr/>
          <p:nvPr/>
        </p:nvGrpSpPr>
        <p:grpSpPr>
          <a:xfrm>
            <a:off x="4585967" y="3392234"/>
            <a:ext cx="4451632" cy="2946809"/>
            <a:chOff x="1365615" y="1431882"/>
            <a:chExt cx="7907101" cy="4783181"/>
          </a:xfrm>
        </p:grpSpPr>
        <p:pic>
          <p:nvPicPr>
            <p:cNvPr id="2051" name="Picture 3" descr="D:\Projects\vidmag\code\matlab\Figures\motionmag1DPresentation\motionmag1D_1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616" y="1431883"/>
              <a:ext cx="7174770" cy="4783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D:\Projects\vidmag\code\matlab\Figures\motionmag1DPresentation\motionmag1D_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616" y="1431883"/>
              <a:ext cx="7174770" cy="478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3" descr="D:\Projects\vidmag\code\matlab\Figures\motionmag1DPresentation\motionmag1D_5.png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615" y="1431882"/>
              <a:ext cx="7174770" cy="4783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/>
            <p:cNvSpPr txBox="1"/>
            <p:nvPr/>
          </p:nvSpPr>
          <p:spPr>
            <a:xfrm>
              <a:off x="2051092" y="3570713"/>
              <a:ext cx="223357" cy="2997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600" dirty="0"/>
                <a:t>0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 flipH="1" flipV="1">
              <a:off x="3549653" y="2814003"/>
              <a:ext cx="1" cy="685387"/>
            </a:xfrm>
            <a:prstGeom prst="straightConnector1">
              <a:avLst/>
            </a:prstGeom>
            <a:ln w="31750">
              <a:solidFill>
                <a:srgbClr val="00C800"/>
              </a:solidFill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568370" y="2816469"/>
              <a:ext cx="512989" cy="679005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Rectangle 63"/>
                <p:cNvSpPr/>
                <p:nvPr/>
              </p:nvSpPr>
              <p:spPr>
                <a:xfrm>
                  <a:off x="3864489" y="2536476"/>
                  <a:ext cx="781525" cy="5773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90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sz="90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Rectangle 6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4489" y="2536476"/>
                  <a:ext cx="781525" cy="57732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Group 28"/>
            <p:cNvGrpSpPr/>
            <p:nvPr/>
          </p:nvGrpSpPr>
          <p:grpSpPr>
            <a:xfrm>
              <a:off x="6773508" y="4566439"/>
              <a:ext cx="2047172" cy="374681"/>
              <a:chOff x="1966796" y="1151739"/>
              <a:chExt cx="2106072" cy="4611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/>
                  <p:cNvSpPr txBox="1"/>
                  <p:nvPr/>
                </p:nvSpPr>
                <p:spPr>
                  <a:xfrm>
                    <a:off x="2312527" y="1151739"/>
                    <a:ext cx="1760341" cy="4611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900" dirty="0"/>
                      <a:t>Signal at time </a:t>
                    </a:r>
                    <a14:m>
                      <m:oMath xmlns:m="http://schemas.openxmlformats.org/officeDocument/2006/math">
                        <m:r>
                          <a:rPr lang="en-US" sz="900" i="1" dirty="0">
                            <a:latin typeface="Cambria Math"/>
                          </a:rPr>
                          <m:t>𝑡</m:t>
                        </m:r>
                      </m:oMath>
                    </a14:m>
                    <a:endParaRPr lang="en-US" sz="900" dirty="0"/>
                  </a:p>
                </p:txBody>
              </p:sp>
            </mc:Choice>
            <mc:Fallback xmlns="">
              <p:sp>
                <p:nvSpPr>
                  <p:cNvPr id="30" name="TextBox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2527" y="1151739"/>
                    <a:ext cx="1760341" cy="46114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1" name="Straight Connector 30"/>
              <p:cNvCxnSpPr/>
              <p:nvPr/>
            </p:nvCxnSpPr>
            <p:spPr>
              <a:xfrm flipV="1">
                <a:off x="1966796" y="1418478"/>
                <a:ext cx="248920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2" name="Group 31"/>
            <p:cNvGrpSpPr/>
            <p:nvPr/>
          </p:nvGrpSpPr>
          <p:grpSpPr>
            <a:xfrm>
              <a:off x="6774299" y="5003713"/>
              <a:ext cx="2498417" cy="374680"/>
              <a:chOff x="3115835" y="1190147"/>
              <a:chExt cx="2644444" cy="461143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 flipV="1">
                <a:off x="3115835" y="1383788"/>
                <a:ext cx="248920" cy="1"/>
              </a:xfrm>
              <a:prstGeom prst="line">
                <a:avLst/>
              </a:prstGeom>
              <a:ln w="381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3470700" y="1190147"/>
                    <a:ext cx="2289579" cy="46114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900" dirty="0"/>
                      <a:t>Signal at time </a:t>
                    </a:r>
                    <a14:m>
                      <m:oMath xmlns:m="http://schemas.openxmlformats.org/officeDocument/2006/math">
                        <m:r>
                          <a:rPr lang="en-US" sz="900" i="1" dirty="0">
                            <a:latin typeface="Cambria Math"/>
                          </a:rPr>
                          <m:t>𝑡</m:t>
                        </m:r>
                        <m:r>
                          <a:rPr lang="en-US" sz="9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90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900" i="1" dirty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endParaRPr lang="en-US" sz="900" dirty="0"/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0700" y="1190147"/>
                    <a:ext cx="2289579" cy="46114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4540250" y="5658242"/>
                  <a:ext cx="1216819" cy="37468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900" dirty="0"/>
                    <a:t>Space (</a:t>
                  </a:r>
                  <a14:m>
                    <m:oMath xmlns:m="http://schemas.openxmlformats.org/officeDocument/2006/math">
                      <m:r>
                        <a:rPr lang="en-US" sz="9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900" dirty="0"/>
                    <a:t>)</a:t>
                  </a: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250" y="5658242"/>
                  <a:ext cx="1216819" cy="374680"/>
                </a:xfrm>
                <a:prstGeom prst="rect">
                  <a:avLst/>
                </a:prstGeom>
                <a:blipFill>
                  <a:blip r:embed="rId9"/>
                  <a:stretch>
                    <a:fillRect b="-1081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/>
            <p:cNvSpPr txBox="1"/>
            <p:nvPr/>
          </p:nvSpPr>
          <p:spPr>
            <a:xfrm rot="16200000">
              <a:off x="1431037" y="3522414"/>
              <a:ext cx="997068" cy="410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Intensity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2623026" y="3131781"/>
                  <a:ext cx="712098" cy="57732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r>
                          <a:rPr lang="en-US" sz="900" i="1">
                            <a:solidFill>
                              <a:srgbClr val="00C8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f>
                          <m:fPr>
                            <m:ctrlPr>
                              <a:rPr lang="en-US" sz="900" i="1">
                                <a:solidFill>
                                  <a:srgbClr val="00C8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0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900" i="1">
                                <a:solidFill>
                                  <a:srgbClr val="00C8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90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90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900" dirty="0">
                    <a:solidFill>
                      <a:srgbClr val="00C8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026" y="3131781"/>
                  <a:ext cx="712098" cy="57732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/>
                <p:cNvSpPr/>
                <p:nvPr/>
              </p:nvSpPr>
              <p:spPr>
                <a:xfrm>
                  <a:off x="2848442" y="3823472"/>
                  <a:ext cx="1187891" cy="674425"/>
                </a:xfrm>
                <a:prstGeom prst="rect">
                  <a:avLst/>
                </a:prstGeom>
                <a:ln>
                  <a:noFill/>
                </a:ln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sz="700" b="1" dirty="0">
                      <a:solidFill>
                        <a:schemeClr val="tx2"/>
                      </a:solidFill>
                    </a:rPr>
                    <a:t>Implied</a:t>
                  </a:r>
                </a:p>
                <a:p>
                  <a:pPr algn="ctr"/>
                  <a:r>
                    <a:rPr lang="en-US" sz="700" b="1" dirty="0">
                      <a:solidFill>
                        <a:schemeClr val="tx2"/>
                      </a:solidFill>
                    </a:rPr>
                    <a:t>Translation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700" b="1" i="1">
                            <a:solidFill>
                              <a:schemeClr val="tx2"/>
                            </a:solidFill>
                            <a:latin typeface="Cambria Math"/>
                          </a:rPr>
                          <m:t>𝜶𝜹</m:t>
                        </m:r>
                      </m:oMath>
                    </m:oMathPara>
                  </a14:m>
                  <a:endParaRPr lang="en-US" sz="700" b="1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48442" y="3823472"/>
                  <a:ext cx="1187891" cy="67442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Straight Arrow Connector 41"/>
            <p:cNvCxnSpPr/>
            <p:nvPr/>
          </p:nvCxnSpPr>
          <p:spPr>
            <a:xfrm>
              <a:off x="3550614" y="3495177"/>
              <a:ext cx="495300" cy="597"/>
            </a:xfrm>
            <a:prstGeom prst="straightConnector1">
              <a:avLst/>
            </a:prstGeom>
            <a:ln w="31750">
              <a:solidFill>
                <a:schemeClr val="tx2"/>
              </a:solidFill>
              <a:prstDash val="sys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Rectangle 42"/>
                <p:cNvSpPr/>
                <p:nvPr/>
              </p:nvSpPr>
              <p:spPr>
                <a:xfrm>
                  <a:off x="4876392" y="1878844"/>
                  <a:ext cx="1597901" cy="5773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900" b="1" i="1">
                            <a:latin typeface="Cambria Math"/>
                          </a:rPr>
                          <m:t>𝜶</m:t>
                        </m:r>
                        <m:f>
                          <m:fPr>
                            <m:ctrlPr>
                              <a:rPr lang="en-US" sz="9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00" b="1" i="1">
                                <a:latin typeface="Cambria Math"/>
                              </a:rPr>
                              <m:t>𝝏</m:t>
                            </m:r>
                            <m:r>
                              <a:rPr lang="en-US" sz="900" b="1" i="1">
                                <a:latin typeface="Cambria Math"/>
                              </a:rPr>
                              <m:t>𝒇</m:t>
                            </m:r>
                          </m:num>
                          <m:den>
                            <m:r>
                              <a:rPr lang="en-US" sz="900" b="1" i="1">
                                <a:latin typeface="Cambria Math"/>
                              </a:rPr>
                              <m:t>𝝏</m:t>
                            </m:r>
                            <m:r>
                              <a:rPr lang="en-US" sz="9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den>
                        </m:f>
                        <m:r>
                          <a:rPr lang="en-US" sz="900" b="1" i="1"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en-US" sz="900" b="1" i="1">
                            <a:latin typeface="Cambria Math" panose="02040503050406030204" pitchFamily="18" charset="0"/>
                          </a:rPr>
                          <m:t>𝜶𝜹</m:t>
                        </m:r>
                        <m:f>
                          <m:fPr>
                            <m:ctrlPr>
                              <a:rPr lang="en-US" sz="9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900" b="1" i="1">
                                <a:latin typeface="Cambria Math"/>
                              </a:rPr>
                              <m:t>𝝏</m:t>
                            </m:r>
                            <m:r>
                              <a:rPr lang="en-US" sz="900" b="1" i="1">
                                <a:latin typeface="Cambria Math"/>
                              </a:rPr>
                              <m:t>𝒇</m:t>
                            </m:r>
                          </m:num>
                          <m:den>
                            <m:r>
                              <a:rPr lang="en-US" sz="900" b="1" i="1">
                                <a:latin typeface="Cambria Math"/>
                              </a:rPr>
                              <m:t>𝝏</m:t>
                            </m:r>
                            <m:r>
                              <a:rPr lang="en-US" sz="9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den>
                        </m:f>
                      </m:oMath>
                    </m:oMathPara>
                  </a14:m>
                  <a:endParaRPr lang="en-US" sz="900" b="1" dirty="0"/>
                </a:p>
              </p:txBody>
            </p:sp>
          </mc:Choice>
          <mc:Fallback xmlns="">
            <p:sp>
              <p:nvSpPr>
                <p:cNvPr id="43" name="Rectangle 4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6392" y="1878844"/>
                  <a:ext cx="1597901" cy="57732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TextBox 43"/>
            <p:cNvSpPr txBox="1"/>
            <p:nvPr/>
          </p:nvSpPr>
          <p:spPr>
            <a:xfrm>
              <a:off x="2623026" y="1455778"/>
              <a:ext cx="2762446" cy="3497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u="sng" dirty="0"/>
                <a:t>1</a:t>
              </a:r>
              <a:r>
                <a:rPr lang="en-US" sz="800" u="sng" baseline="30000" dirty="0"/>
                <a:t>st</a:t>
              </a:r>
              <a:r>
                <a:rPr lang="en-US" sz="800" u="sng" dirty="0"/>
                <a:t>-order linear approximation: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D85FB89-B7F5-7842-50BF-A065804063B1}"/>
              </a:ext>
            </a:extLst>
          </p:cNvPr>
          <p:cNvGrpSpPr/>
          <p:nvPr/>
        </p:nvGrpSpPr>
        <p:grpSpPr>
          <a:xfrm>
            <a:off x="195991" y="3165429"/>
            <a:ext cx="4114983" cy="3112069"/>
            <a:chOff x="1365616" y="1431883"/>
            <a:chExt cx="8110323" cy="4783180"/>
          </a:xfrm>
        </p:grpSpPr>
        <p:pic>
          <p:nvPicPr>
            <p:cNvPr id="7" name="Picture 3" descr="D:\Projects\vidmag\code\matlab\Figures\motionmag1DPresentation\motionmag1D_1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616" y="1431883"/>
              <a:ext cx="7174770" cy="47831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4" descr="D:\Projects\vidmag\code\matlab\Figures\motionmag1DPresentation\motionmag1D_2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5616" y="1431883"/>
              <a:ext cx="7174770" cy="4783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2051090" y="3570713"/>
              <a:ext cx="223357" cy="29892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800" dirty="0"/>
                <a:t>0</a:t>
              </a:r>
            </a:p>
          </p:txBody>
        </p:sp>
        <p:cxnSp>
          <p:nvCxnSpPr>
            <p:cNvPr id="59" name="Straight Arrow Connector 58"/>
            <p:cNvCxnSpPr/>
            <p:nvPr/>
          </p:nvCxnSpPr>
          <p:spPr>
            <a:xfrm>
              <a:off x="3530935" y="3498792"/>
              <a:ext cx="276209" cy="597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Rectangle 59"/>
                <p:cNvSpPr/>
                <p:nvPr/>
              </p:nvSpPr>
              <p:spPr>
                <a:xfrm>
                  <a:off x="3234000" y="3669208"/>
                  <a:ext cx="648038" cy="5747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05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05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05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05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05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105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60" name="Rectangle 5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4000" y="3669208"/>
                  <a:ext cx="648038" cy="574722"/>
                </a:xfrm>
                <a:prstGeom prst="rect">
                  <a:avLst/>
                </a:prstGeom>
                <a:blipFill>
                  <a:blip r:embed="rId13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/>
            <p:cNvCxnSpPr/>
            <p:nvPr/>
          </p:nvCxnSpPr>
          <p:spPr>
            <a:xfrm flipH="1" flipV="1">
              <a:off x="3549651" y="3155828"/>
              <a:ext cx="1" cy="343561"/>
            </a:xfrm>
            <a:prstGeom prst="straightConnector1">
              <a:avLst/>
            </a:prstGeom>
            <a:ln w="31750">
              <a:solidFill>
                <a:srgbClr val="00C800"/>
              </a:solidFill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/>
                <p:cNvSpPr/>
                <p:nvPr/>
              </p:nvSpPr>
              <p:spPr>
                <a:xfrm>
                  <a:off x="2775624" y="3131780"/>
                  <a:ext cx="650436" cy="5747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050" i="1">
                                <a:solidFill>
                                  <a:srgbClr val="00C8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05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050" i="1">
                                <a:solidFill>
                                  <a:srgbClr val="00C8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105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05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1050" dirty="0">
                    <a:solidFill>
                      <a:srgbClr val="00C800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5624" y="3131780"/>
                  <a:ext cx="650436" cy="574722"/>
                </a:xfrm>
                <a:prstGeom prst="rect">
                  <a:avLst/>
                </a:prstGeom>
                <a:blipFill>
                  <a:blip r:embed="rId14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Connector 14"/>
            <p:cNvCxnSpPr/>
            <p:nvPr/>
          </p:nvCxnSpPr>
          <p:spPr>
            <a:xfrm>
              <a:off x="3559969" y="3152457"/>
              <a:ext cx="251778" cy="350838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/>
                <p:cNvSpPr/>
                <p:nvPr/>
              </p:nvSpPr>
              <p:spPr>
                <a:xfrm>
                  <a:off x="3792321" y="2700503"/>
                  <a:ext cx="650435" cy="5747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05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05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105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05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sz="105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2321" y="2700503"/>
                  <a:ext cx="650435" cy="574722"/>
                </a:xfrm>
                <a:prstGeom prst="rect">
                  <a:avLst/>
                </a:prstGeom>
                <a:blipFill>
                  <a:blip r:embed="rId15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/>
            <p:cNvGrpSpPr/>
            <p:nvPr/>
          </p:nvGrpSpPr>
          <p:grpSpPr>
            <a:xfrm>
              <a:off x="6773508" y="4566442"/>
              <a:ext cx="2268518" cy="362982"/>
              <a:chOff x="1966796" y="1151739"/>
              <a:chExt cx="2333787" cy="44674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2312525" y="1151739"/>
                    <a:ext cx="1988058" cy="44674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/>
                      <a:t>Signal at time </a:t>
                    </a:r>
                    <a14:m>
                      <m:oMath xmlns:m="http://schemas.openxmlformats.org/officeDocument/2006/math">
                        <m:r>
                          <a:rPr lang="en-US" sz="1050" i="1" dirty="0">
                            <a:latin typeface="Cambria Math"/>
                          </a:rPr>
                          <m:t>𝑡</m:t>
                        </m:r>
                      </m:oMath>
                    </a14:m>
                    <a:endParaRPr lang="en-US" sz="1050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12525" y="1151739"/>
                    <a:ext cx="1988058" cy="446746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5590" b="-2051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Straight Connector 26"/>
              <p:cNvCxnSpPr/>
              <p:nvPr/>
            </p:nvCxnSpPr>
            <p:spPr>
              <a:xfrm flipV="1">
                <a:off x="1966796" y="1418478"/>
                <a:ext cx="248920" cy="1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>
            <a:xfrm>
              <a:off x="6774299" y="5003713"/>
              <a:ext cx="2701640" cy="352307"/>
              <a:chOff x="3115835" y="1190147"/>
              <a:chExt cx="2859544" cy="433607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flipV="1">
                <a:off x="3115835" y="1383788"/>
                <a:ext cx="248920" cy="1"/>
              </a:xfrm>
              <a:prstGeom prst="line">
                <a:avLst/>
              </a:prstGeom>
              <a:ln w="3810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3470700" y="1190147"/>
                    <a:ext cx="2504679" cy="43360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sz="1050" dirty="0"/>
                      <a:t>Signal at time </a:t>
                    </a:r>
                    <a14:m>
                      <m:oMath xmlns:m="http://schemas.openxmlformats.org/officeDocument/2006/math">
                        <m:r>
                          <a:rPr lang="en-US" sz="1050" i="1" dirty="0">
                            <a:latin typeface="Cambria Math"/>
                          </a:rPr>
                          <m:t>𝑡</m:t>
                        </m:r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050" dirty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1050" i="1" dirty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a14:m>
                    <a:endParaRPr lang="en-US" sz="1050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0700" y="1190147"/>
                    <a:ext cx="2504679" cy="433607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10660" b="-2368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TextBox 18"/>
            <p:cNvSpPr txBox="1"/>
            <p:nvPr/>
          </p:nvSpPr>
          <p:spPr>
            <a:xfrm rot="16200000">
              <a:off x="1437811" y="3505122"/>
              <a:ext cx="983522" cy="4445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Intensity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540248" y="5658241"/>
                  <a:ext cx="1353613" cy="36298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50" dirty="0"/>
                    <a:t>Space (</a:t>
                  </a:r>
                  <a14:m>
                    <m:oMath xmlns:m="http://schemas.openxmlformats.org/officeDocument/2006/math">
                      <m:r>
                        <a:rPr lang="en-US" sz="105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050" dirty="0"/>
                    <a:t>)</a:t>
                  </a: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248" y="5658241"/>
                  <a:ext cx="1353613" cy="362982"/>
                </a:xfrm>
                <a:prstGeom prst="rect">
                  <a:avLst/>
                </a:prstGeom>
                <a:blipFill>
                  <a:blip r:embed="rId18"/>
                  <a:stretch>
                    <a:fillRect r="-8850" b="-2051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FB2FA1-C51E-B90A-6AA4-BF70866F2919}"/>
                  </a:ext>
                </a:extLst>
              </p:cNvPr>
              <p:cNvSpPr txBox="1"/>
              <p:nvPr/>
            </p:nvSpPr>
            <p:spPr>
              <a:xfrm>
                <a:off x="380379" y="696955"/>
                <a:ext cx="8908026" cy="20646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/>
                  <a:t>1. </a:t>
                </a:r>
                <a:r>
                  <a:rPr lang="ko-KR" altLang="en-US" sz="1200" dirty="0"/>
                  <a:t>증폭 전 실제 영상</a:t>
                </a:r>
                <a:r>
                  <a:rPr lang="en-US" altLang="ko-KR" sz="1200" dirty="0"/>
                  <a:t>, </a:t>
                </a:r>
                <a:r>
                  <a:rPr lang="ko-KR" altLang="en-US" sz="1200" dirty="0"/>
                  <a:t>테일러 전개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sz="1200" dirty="0"/>
              </a:p>
              <a:p>
                <a:r>
                  <a:rPr lang="en-US" altLang="ko-KR" sz="1200" dirty="0"/>
                  <a:t>2. Temporal BPF </a:t>
                </a:r>
                <a:r>
                  <a:rPr lang="ko-KR" altLang="en-US" sz="1200" dirty="0"/>
                  <a:t>결과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sz="1200" dirty="0"/>
              </a:p>
              <a:p>
                <a:r>
                  <a:rPr lang="en-US" altLang="ko-KR" sz="1200" dirty="0"/>
                  <a:t>3. </a:t>
                </a:r>
                <a:r>
                  <a:rPr lang="ko-KR" altLang="en-US" sz="1200" dirty="0"/>
                  <a:t>증폭 후 합성</a:t>
                </a:r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sz="1200" b="0" dirty="0"/>
              </a:p>
              <a:p>
                <a:endParaRPr lang="en-US" altLang="ko-KR" sz="11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+(1+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1+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ko-KR" alt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AFB2FA1-C51E-B90A-6AA4-BF70866F2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379" y="696955"/>
                <a:ext cx="8908026" cy="2064668"/>
              </a:xfrm>
              <a:prstGeom prst="rect">
                <a:avLst/>
              </a:prstGeom>
              <a:blipFill>
                <a:blip r:embed="rId19"/>
                <a:stretch>
                  <a:fillRect t="-2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344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2092-3B8C-83E4-0F1B-EC27407E6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0028A3A-FBD8-4677-986A-8C031B30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Eulerian Video Magnification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6451DDE-EB34-1705-FF9C-7008C18E5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9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8E7E71-A2C0-8083-1C83-A9DD5C03394F}"/>
                  </a:ext>
                </a:extLst>
              </p:cNvPr>
              <p:cNvSpPr txBox="1"/>
              <p:nvPr/>
            </p:nvSpPr>
            <p:spPr>
              <a:xfrm>
                <a:off x="210044" y="920047"/>
                <a:ext cx="4742956" cy="5628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주파수 성분별 증폭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일반화</a:t>
                </a:r>
                <a:r>
                  <a:rPr lang="en-US" altLang="ko-KR" sz="1400" dirty="0"/>
                  <a:t>)</a:t>
                </a:r>
              </a:p>
              <a:p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ko-K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ko-KR" alt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altLang="ko-KR" sz="1400" b="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실제 변위 신호를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sz="1400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400" dirty="0"/>
                  <a:t>럼 주파수 대역별 성분으로 나누고</a:t>
                </a:r>
                <a:r>
                  <a:rPr lang="en-US" altLang="ko-KR" sz="1400" dirty="0"/>
                  <a:t>, gain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조절한다</a:t>
                </a:r>
                <a:r>
                  <a:rPr lang="en-US" altLang="ko-KR" sz="1400" dirty="0"/>
                  <a:t>.</a:t>
                </a:r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증폭 한계 조건</a:t>
                </a:r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ko-KR" altLang="en-US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F8E7E71-A2C0-8083-1C83-A9DD5C0339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44" y="920047"/>
                <a:ext cx="4742956" cy="5628785"/>
              </a:xfrm>
              <a:prstGeom prst="rect">
                <a:avLst/>
              </a:prstGeom>
              <a:blipFill>
                <a:blip r:embed="rId3"/>
                <a:stretch>
                  <a:fillRect l="-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4666C703-633F-EB66-DFF0-2775FC284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983" y="1087828"/>
            <a:ext cx="3194118" cy="24628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ED0C4D-7C33-196D-8339-55C4FE3762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5753" y="4763616"/>
            <a:ext cx="3280247" cy="1587854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7E14F81-77F7-883C-5D32-47E53BCF7BFD}"/>
              </a:ext>
            </a:extLst>
          </p:cNvPr>
          <p:cNvCxnSpPr/>
          <p:nvPr/>
        </p:nvCxnSpPr>
        <p:spPr>
          <a:xfrm>
            <a:off x="210044" y="4157133"/>
            <a:ext cx="903132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5CF6036-4BD3-D55D-9FB2-98B29CDA0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5134" y="4675743"/>
            <a:ext cx="3194118" cy="164302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5981F1C-61E1-A10A-3F97-C7B6B16CA218}"/>
              </a:ext>
            </a:extLst>
          </p:cNvPr>
          <p:cNvSpPr txBox="1"/>
          <p:nvPr/>
        </p:nvSpPr>
        <p:spPr>
          <a:xfrm>
            <a:off x="5395171" y="6503516"/>
            <a:ext cx="42264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Wu et al. </a:t>
            </a:r>
            <a:r>
              <a:rPr lang="en-US" altLang="ko-KR" sz="800" i="1" dirty="0"/>
              <a:t>Eulerian Video Magnification for Revealing Subtle Changes in the World</a:t>
            </a:r>
            <a:r>
              <a:rPr lang="en-US" altLang="ko-KR" sz="800" dirty="0"/>
              <a:t>.</a:t>
            </a:r>
            <a:br>
              <a:rPr lang="en-US" altLang="ko-KR" sz="800" dirty="0"/>
            </a:br>
            <a:r>
              <a:rPr lang="en-US" altLang="ko-KR" sz="800" dirty="0"/>
              <a:t>SIGGRAPH 2012</a:t>
            </a:r>
          </a:p>
        </p:txBody>
      </p:sp>
    </p:spTree>
    <p:extLst>
      <p:ext uri="{BB962C8B-B14F-4D97-AF65-F5344CB8AC3E}">
        <p14:creationId xmlns:p14="http://schemas.microsoft.com/office/powerpoint/2010/main" val="2210827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D10EF-C2D1-6D85-92DE-6168D739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6A918FB-DC3A-4E23-F869-DDD9CAAB2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Linear vs. Phase-Based Motion Processing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62F707F-52AA-B27F-366B-62B5CF85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10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E73C2D-D5F3-8337-2277-399518597778}"/>
              </a:ext>
            </a:extLst>
          </p:cNvPr>
          <p:cNvSpPr txBox="1">
            <a:spLocks/>
          </p:cNvSpPr>
          <p:nvPr/>
        </p:nvSpPr>
        <p:spPr>
          <a:xfrm>
            <a:off x="195893" y="469998"/>
            <a:ext cx="7696200" cy="3655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C8015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DFE150BD-1916-06A6-0A77-351481ED15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100" y="878755"/>
            <a:ext cx="8229600" cy="5509247"/>
          </a:xfrm>
        </p:spPr>
        <p:txBody>
          <a:bodyPr>
            <a:noAutofit/>
          </a:bodyPr>
          <a:lstStyle/>
          <a:p>
            <a:r>
              <a:rPr lang="en-US" sz="1800" dirty="0"/>
              <a:t>Linear Motion Processing</a:t>
            </a:r>
          </a:p>
          <a:p>
            <a:pPr lvl="1"/>
            <a:endParaRPr lang="en-US" dirty="0"/>
          </a:p>
          <a:p>
            <a:pPr lvl="1"/>
            <a:r>
              <a:rPr lang="en-US" sz="1600" dirty="0"/>
              <a:t>Assumes images are locally linear</a:t>
            </a:r>
          </a:p>
          <a:p>
            <a:pPr lvl="1"/>
            <a:r>
              <a:rPr lang="en-US" sz="1600" dirty="0"/>
              <a:t>Translate by </a:t>
            </a:r>
            <a:r>
              <a:rPr lang="en-US" sz="2000" b="1" dirty="0">
                <a:solidFill>
                  <a:srgbClr val="FF0000"/>
                </a:solidFill>
              </a:rPr>
              <a:t>changing intensities</a:t>
            </a:r>
          </a:p>
          <a:p>
            <a:pPr lvl="1"/>
            <a:endParaRPr lang="en-US" dirty="0"/>
          </a:p>
          <a:p>
            <a:pPr marL="182563" lvl="1" indent="0">
              <a:buNone/>
            </a:pPr>
            <a:endParaRPr lang="en-US" dirty="0"/>
          </a:p>
          <a:p>
            <a:r>
              <a:rPr lang="en-US" sz="1800" dirty="0"/>
              <a:t>Phase-Based Motion Processing</a:t>
            </a:r>
          </a:p>
          <a:p>
            <a:pPr lvl="1"/>
            <a:endParaRPr lang="en-US" dirty="0"/>
          </a:p>
          <a:p>
            <a:pPr lvl="1"/>
            <a:r>
              <a:rPr lang="en-US" sz="1600" dirty="0"/>
              <a:t>Represents images as collection of local sinusoids</a:t>
            </a:r>
          </a:p>
          <a:p>
            <a:pPr lvl="1"/>
            <a:r>
              <a:rPr lang="en-US" sz="1600" dirty="0"/>
              <a:t>Translate by </a:t>
            </a:r>
            <a:r>
              <a:rPr lang="en-US" sz="2000" b="1" dirty="0">
                <a:solidFill>
                  <a:srgbClr val="FF0000"/>
                </a:solidFill>
              </a:rPr>
              <a:t>shifting phase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CC09D5-009E-1171-F803-7FB9AFD1E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336" y="3452598"/>
            <a:ext cx="3064042" cy="188815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74B5211-EE8A-1373-A93D-F954C400704E}"/>
              </a:ext>
            </a:extLst>
          </p:cNvPr>
          <p:cNvGrpSpPr/>
          <p:nvPr/>
        </p:nvGrpSpPr>
        <p:grpSpPr>
          <a:xfrm>
            <a:off x="6840713" y="1043649"/>
            <a:ext cx="1828800" cy="1697075"/>
            <a:chOff x="7237444" y="2571750"/>
            <a:chExt cx="1373156" cy="127425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1A843E6-5A27-BB16-1C18-5DC73B2E6EC7}"/>
                </a:ext>
              </a:extLst>
            </p:cNvPr>
            <p:cNvCxnSpPr/>
            <p:nvPr/>
          </p:nvCxnSpPr>
          <p:spPr>
            <a:xfrm>
              <a:off x="7315200" y="2571750"/>
              <a:ext cx="914400" cy="121920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7BE0209-B357-D83D-9BC7-A5C4AD3C9BE8}"/>
                </a:ext>
              </a:extLst>
            </p:cNvPr>
            <p:cNvCxnSpPr/>
            <p:nvPr/>
          </p:nvCxnSpPr>
          <p:spPr>
            <a:xfrm>
              <a:off x="7696200" y="2571750"/>
              <a:ext cx="914400" cy="1219200"/>
            </a:xfrm>
            <a:prstGeom prst="line">
              <a:avLst/>
            </a:prstGeom>
            <a:ln w="2540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C66790A-C679-DB38-334F-4E54F8F8FF4F}"/>
                </a:ext>
              </a:extLst>
            </p:cNvPr>
            <p:cNvCxnSpPr/>
            <p:nvPr/>
          </p:nvCxnSpPr>
          <p:spPr>
            <a:xfrm>
              <a:off x="7848601" y="3257550"/>
              <a:ext cx="330157" cy="0"/>
            </a:xfrm>
            <a:prstGeom prst="straightConnector1">
              <a:avLst/>
            </a:prstGeom>
            <a:ln w="31750">
              <a:solidFill>
                <a:schemeClr val="tx2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843962C-4805-D5B4-89ED-BE4D0F4A0EC2}"/>
                    </a:ext>
                  </a:extLst>
                </p:cNvPr>
                <p:cNvSpPr/>
                <p:nvPr/>
              </p:nvSpPr>
              <p:spPr>
                <a:xfrm>
                  <a:off x="7562851" y="3314701"/>
                  <a:ext cx="443776" cy="5312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5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50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𝑥</m:t>
                            </m:r>
                          </m:num>
                          <m:den>
                            <m:r>
                              <a:rPr lang="en-US" sz="150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500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15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2851" y="3314701"/>
                  <a:ext cx="443776" cy="5312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F188B40-F0B9-7F09-00AD-1A33A7314821}"/>
                </a:ext>
              </a:extLst>
            </p:cNvPr>
            <p:cNvCxnSpPr/>
            <p:nvPr/>
          </p:nvCxnSpPr>
          <p:spPr>
            <a:xfrm flipH="1" flipV="1">
              <a:off x="7849019" y="2795751"/>
              <a:ext cx="1" cy="462350"/>
            </a:xfrm>
            <a:prstGeom prst="straightConnector1">
              <a:avLst/>
            </a:prstGeom>
            <a:ln w="31750">
              <a:solidFill>
                <a:srgbClr val="00C800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A22F0CA-C3C4-6AB6-ED53-B38A84472414}"/>
                    </a:ext>
                  </a:extLst>
                </p:cNvPr>
                <p:cNvSpPr/>
                <p:nvPr/>
              </p:nvSpPr>
              <p:spPr>
                <a:xfrm>
                  <a:off x="7237444" y="2857501"/>
                  <a:ext cx="446789" cy="5312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500" i="1" smtClean="0">
                                <a:solidFill>
                                  <a:srgbClr val="00C8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50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500" b="0" i="1" smtClean="0">
                                <a:solidFill>
                                  <a:srgbClr val="00C8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150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500" i="1">
                                <a:solidFill>
                                  <a:srgbClr val="00C800"/>
                                </a:solidFill>
                                <a:latin typeface="Cambria Math"/>
                              </a:rPr>
                              <m:t>𝑡</m:t>
                            </m:r>
                          </m:den>
                        </m:f>
                      </m:oMath>
                    </m:oMathPara>
                  </a14:m>
                  <a:endParaRPr lang="en-US" sz="1500" dirty="0">
                    <a:solidFill>
                      <a:srgbClr val="00C800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444" y="2857501"/>
                  <a:ext cx="446789" cy="5312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5023C07B-5687-CD7E-1171-AFEB26163BE3}"/>
                    </a:ext>
                  </a:extLst>
                </p:cNvPr>
                <p:cNvSpPr/>
                <p:nvPr/>
              </p:nvSpPr>
              <p:spPr>
                <a:xfrm>
                  <a:off x="8140774" y="2693972"/>
                  <a:ext cx="415948" cy="48737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35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35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𝜕</m:t>
                            </m:r>
                            <m:r>
                              <a:rPr lang="en-US" sz="1350" i="1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𝑥</m:t>
                            </m:r>
                          </m:den>
                        </m:f>
                      </m:oMath>
                    </m:oMathPara>
                  </a14:m>
                  <a:endParaRPr lang="en-US" sz="1350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0774" y="2693972"/>
                  <a:ext cx="415948" cy="48737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08D17C9-13F6-AA16-D010-A4FC587FD127}"/>
                </a:ext>
              </a:extLst>
            </p:cNvPr>
            <p:cNvCxnSpPr/>
            <p:nvPr/>
          </p:nvCxnSpPr>
          <p:spPr>
            <a:xfrm>
              <a:off x="7844858" y="2774225"/>
              <a:ext cx="379517" cy="491685"/>
            </a:xfrm>
            <a:prstGeom prst="line">
              <a:avLst/>
            </a:prstGeom>
            <a:ln w="508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8863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C72C3-AB81-EC1B-391B-21490D59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9C236926-568E-5905-5060-A32030E4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Phase-Based Video Motion Processing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7B4E0E7-5802-96E0-D620-68733F1C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11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내용 개체 틀 1">
                <a:extLst>
                  <a:ext uri="{FF2B5EF4-FFF2-40B4-BE49-F238E27FC236}">
                    <a16:creationId xmlns:a16="http://schemas.microsoft.com/office/drawing/2014/main" id="{E58CF2CB-0FBE-508B-86B4-533EF6004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606242"/>
                <a:ext cx="9729578" cy="391986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182563" indent="-182563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2200" b="1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538163" indent="-355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ü"/>
                  <a:defRPr sz="22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719138" indent="-27305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Wingdings" panose="05000000000000000000" pitchFamily="2" charset="2"/>
                  <a:buChar char="§"/>
                  <a:defRPr sz="2000" kern="1200">
                    <a:solidFill>
                      <a:schemeClr val="tx2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984250" indent="-2667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/>
                <a:r>
                  <a:rPr lang="en-US" altLang="ko-KR" sz="1700" dirty="0">
                    <a:latin typeface="+mn-ea"/>
                  </a:rPr>
                  <a:t>Idea : </a:t>
                </a:r>
                <a:r>
                  <a:rPr lang="ko-KR" altLang="en-US" sz="1700" dirty="0">
                    <a:latin typeface="+mn-ea"/>
                  </a:rPr>
                  <a:t>국소 위상</a:t>
                </a:r>
                <a:r>
                  <a:rPr lang="en-US" altLang="ko-KR" sz="1700" dirty="0">
                    <a:latin typeface="+mn-ea"/>
                  </a:rPr>
                  <a:t>(Phase)</a:t>
                </a:r>
                <a:r>
                  <a:rPr lang="ko-KR" altLang="en-US" sz="1700" dirty="0">
                    <a:latin typeface="+mn-ea"/>
                  </a:rPr>
                  <a:t>의 시간변화</a:t>
                </a:r>
                <a:r>
                  <a:rPr lang="en-US" altLang="ko-KR" sz="1700" dirty="0">
                    <a:latin typeface="+mn-ea"/>
                  </a:rPr>
                  <a:t>(motion)</a:t>
                </a:r>
                <a:r>
                  <a:rPr lang="ko-KR" altLang="en-US" sz="1700" dirty="0">
                    <a:latin typeface="+mn-ea"/>
                  </a:rPr>
                  <a:t>를 증폭</a:t>
                </a:r>
                <a:endParaRPr lang="en-US" altLang="ko-KR" sz="1700" dirty="0">
                  <a:latin typeface="+mn-ea"/>
                </a:endParaRPr>
              </a:p>
              <a:p>
                <a:pPr marL="285750" indent="-285750"/>
                <a:r>
                  <a:rPr lang="ko-KR" altLang="en-US" sz="1700" dirty="0">
                    <a:latin typeface="+mn-ea"/>
                  </a:rPr>
                  <a:t>절차</a:t>
                </a:r>
                <a:endParaRPr lang="en-US" altLang="ko-KR" sz="1700" dirty="0">
                  <a:latin typeface="+mn-ea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en-US" altLang="ko-KR" sz="1400" dirty="0">
                    <a:latin typeface="+mn-ea"/>
                  </a:rPr>
                  <a:t>Complex</a:t>
                </a:r>
                <a:r>
                  <a:rPr lang="ko-KR" altLang="en-US" sz="1400" dirty="0">
                    <a:latin typeface="+mn-ea"/>
                  </a:rPr>
                  <a:t> </a:t>
                </a:r>
                <a:r>
                  <a:rPr lang="en-US" altLang="ko-KR" sz="1400" dirty="0">
                    <a:latin typeface="+mn-ea"/>
                  </a:rPr>
                  <a:t>steerable</a:t>
                </a:r>
                <a:r>
                  <a:rPr lang="ko-KR" altLang="en-US" sz="1400" dirty="0">
                    <a:latin typeface="+mn-ea"/>
                  </a:rPr>
                  <a:t> </a:t>
                </a:r>
                <a:r>
                  <a:rPr lang="en-US" altLang="ko-KR" sz="1400" dirty="0">
                    <a:latin typeface="+mn-ea"/>
                  </a:rPr>
                  <a:t>pyramid</a:t>
                </a:r>
                <a:r>
                  <a:rPr lang="ko-KR" altLang="en-US" sz="1400" dirty="0">
                    <a:latin typeface="+mn-ea"/>
                  </a:rPr>
                  <a:t> 분해</a:t>
                </a:r>
                <a:endParaRPr lang="en-US" altLang="ko-KR" sz="1400" dirty="0">
                  <a:latin typeface="+mn-ea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ko-KR" altLang="en-US" sz="1400" dirty="0">
                    <a:latin typeface="+mn-ea"/>
                  </a:rPr>
                  <a:t>각 대역 위상 </a:t>
                </a:r>
                <a14:m>
                  <m:oMath xmlns:m="http://schemas.openxmlformats.org/officeDocument/2006/math"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ko-KR" altLang="en-US" sz="1400" dirty="0">
                    <a:latin typeface="+mn-ea"/>
                  </a:rPr>
                  <a:t>의 시간 대역 통과</a:t>
                </a:r>
                <a:r>
                  <a:rPr lang="en-US" altLang="ko-KR" sz="1400" dirty="0">
                    <a:latin typeface="+mn-ea"/>
                  </a:rPr>
                  <a:t>(dc</a:t>
                </a:r>
                <a:r>
                  <a:rPr lang="ko-KR" altLang="en-US" sz="1400" dirty="0">
                    <a:latin typeface="+mn-ea"/>
                  </a:rPr>
                  <a:t>제거</a:t>
                </a:r>
                <a:r>
                  <a:rPr lang="en-US" altLang="ko-KR" sz="1400" dirty="0">
                    <a:latin typeface="+mn-ea"/>
                  </a:rPr>
                  <a:t>)</a:t>
                </a: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en-US" altLang="ko-KR" sz="1400" dirty="0">
                    <a:latin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ko-KR" alt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400" dirty="0">
                    <a:latin typeface="+mn-ea"/>
                  </a:rPr>
                  <a:t> </a:t>
                </a:r>
                <a:r>
                  <a:rPr lang="ko-KR" altLang="en-US" sz="1400" dirty="0">
                    <a:latin typeface="+mn-ea"/>
                  </a:rPr>
                  <a:t>증폭</a:t>
                </a:r>
                <a:endParaRPr lang="en-US" altLang="ko-KR" sz="1400" dirty="0">
                  <a:latin typeface="+mn-ea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ko-KR" altLang="en-US" sz="1400" dirty="0">
                    <a:latin typeface="+mn-ea"/>
                    <a:sym typeface="Wingdings" panose="05000000000000000000" pitchFamily="2" charset="2"/>
                  </a:rPr>
                  <a:t>증폭 후 원본에 합성</a:t>
                </a:r>
                <a:endParaRPr lang="en-US" altLang="ko-KR" sz="1400" dirty="0">
                  <a:latin typeface="+mn-ea"/>
                  <a:sym typeface="Wingdings" panose="05000000000000000000" pitchFamily="2" charset="2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endParaRPr lang="en-US" altLang="ko-KR" sz="1400" dirty="0">
                  <a:latin typeface="+mn-ea"/>
                  <a:sym typeface="Wingdings" panose="05000000000000000000" pitchFamily="2" charset="2"/>
                </a:endParaRPr>
              </a:p>
              <a:p>
                <a:pPr marL="342900" indent="-342900"/>
                <a:r>
                  <a:rPr lang="ko-KR" altLang="en-US" sz="1600" dirty="0">
                    <a:latin typeface="+mn-ea"/>
                    <a:sym typeface="Wingdings" panose="05000000000000000000" pitchFamily="2" charset="2"/>
                  </a:rPr>
                  <a:t>장점</a:t>
                </a:r>
                <a:endParaRPr lang="en-US" altLang="ko-KR" sz="1600" dirty="0">
                  <a:latin typeface="+mn-ea"/>
                  <a:sym typeface="Wingdings" panose="05000000000000000000" pitchFamily="2" charset="2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ko-KR" altLang="en-US" sz="1400" dirty="0">
                    <a:latin typeface="+mn-ea"/>
                  </a:rPr>
                  <a:t>큰 증폭 가능</a:t>
                </a:r>
                <a:r>
                  <a:rPr lang="en-US" altLang="ko-KR" sz="1400" dirty="0">
                    <a:latin typeface="+mn-ea"/>
                  </a:rPr>
                  <a:t>, </a:t>
                </a:r>
                <a:r>
                  <a:rPr lang="ko-KR" altLang="en-US" sz="1400" dirty="0">
                    <a:latin typeface="+mn-ea"/>
                  </a:rPr>
                  <a:t>노이즈 적음</a:t>
                </a:r>
                <a:endParaRPr lang="en-US" altLang="ko-KR" sz="1400" dirty="0">
                  <a:latin typeface="+mn-ea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ko-KR" altLang="en-US" sz="1400" dirty="0">
                    <a:latin typeface="+mn-ea"/>
                  </a:rPr>
                  <a:t>작은 움직임에 효과적임</a:t>
                </a:r>
                <a:endParaRPr lang="en-US" altLang="ko-KR" sz="1600" dirty="0">
                  <a:latin typeface="+mn-ea"/>
                  <a:sym typeface="Wingdings" panose="05000000000000000000" pitchFamily="2" charset="2"/>
                </a:endParaRPr>
              </a:p>
              <a:p>
                <a:pPr marL="342900" indent="-342900"/>
                <a:r>
                  <a:rPr lang="ko-KR" altLang="en-US" sz="1600" dirty="0">
                    <a:latin typeface="+mn-ea"/>
                    <a:sym typeface="Wingdings" panose="05000000000000000000" pitchFamily="2" charset="2"/>
                  </a:rPr>
                  <a:t>단점</a:t>
                </a:r>
                <a:endParaRPr lang="en-US" altLang="ko-KR" sz="1600" dirty="0">
                  <a:latin typeface="+mn-ea"/>
                  <a:sym typeface="Wingdings" panose="05000000000000000000" pitchFamily="2" charset="2"/>
                </a:endParaRPr>
              </a:p>
              <a:p>
                <a:pPr marL="800100" lvl="1" indent="-342900">
                  <a:buFont typeface="+mj-ea"/>
                  <a:buAutoNum type="circleNumDbPlain"/>
                </a:pPr>
                <a:r>
                  <a:rPr lang="ko-KR" altLang="en-US" sz="1400" dirty="0">
                    <a:latin typeface="+mn-ea"/>
                  </a:rPr>
                  <a:t>구현이 복잡함</a:t>
                </a:r>
                <a:endParaRPr lang="en-US" altLang="ko-KR" sz="1400" dirty="0">
                  <a:latin typeface="+mn-ea"/>
                </a:endParaRPr>
              </a:p>
              <a:p>
                <a:pPr marL="457200" lvl="1" indent="0">
                  <a:buNone/>
                </a:pPr>
                <a:endParaRPr lang="ko-KR" altLang="en-US" sz="1700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내용 개체 틀 1">
                <a:extLst>
                  <a:ext uri="{FF2B5EF4-FFF2-40B4-BE49-F238E27FC236}">
                    <a16:creationId xmlns:a16="http://schemas.microsoft.com/office/drawing/2014/main" id="{E58CF2CB-0FBE-508B-86B4-533EF6004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606242"/>
                <a:ext cx="9729578" cy="3919861"/>
              </a:xfrm>
              <a:prstGeom prst="rect">
                <a:avLst/>
              </a:prstGeom>
              <a:blipFill>
                <a:blip r:embed="rId3"/>
                <a:stretch>
                  <a:fillRect l="-251" t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27F9833-B176-ACBD-61C7-6115390F8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4251" y="2557090"/>
            <a:ext cx="6175896" cy="29406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DF2760-9DF2-2462-EDF7-0973E6673718}"/>
              </a:ext>
            </a:extLst>
          </p:cNvPr>
          <p:cNvSpPr txBox="1"/>
          <p:nvPr/>
        </p:nvSpPr>
        <p:spPr>
          <a:xfrm>
            <a:off x="2404977" y="5497786"/>
            <a:ext cx="3048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Complex steerable pyramid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[</a:t>
            </a:r>
            <a:r>
              <a:rPr lang="en-US" sz="1600" dirty="0" err="1">
                <a:solidFill>
                  <a:srgbClr val="C00000"/>
                </a:solidFill>
              </a:rPr>
              <a:t>Simoncelli</a:t>
            </a:r>
            <a:r>
              <a:rPr lang="en-US" sz="1600" dirty="0">
                <a:solidFill>
                  <a:srgbClr val="C00000"/>
                </a:solidFill>
              </a:rPr>
              <a:t> et al. 1992]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4E586E-EFED-CAA8-0D5F-76474A6ED627}"/>
              </a:ext>
            </a:extLst>
          </p:cNvPr>
          <p:cNvCxnSpPr>
            <a:cxnSpLocks/>
          </p:cNvCxnSpPr>
          <p:nvPr/>
        </p:nvCxnSpPr>
        <p:spPr>
          <a:xfrm flipV="1">
            <a:off x="4339167" y="4895685"/>
            <a:ext cx="673157" cy="683848"/>
          </a:xfrm>
          <a:prstGeom prst="straightConnector1">
            <a:avLst/>
          </a:prstGeom>
          <a:ln w="25400">
            <a:solidFill>
              <a:srgbClr val="C0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6FDC76-9298-623F-7615-43F03FF3EA7B}"/>
              </a:ext>
            </a:extLst>
          </p:cNvPr>
          <p:cNvSpPr txBox="1"/>
          <p:nvPr/>
        </p:nvSpPr>
        <p:spPr>
          <a:xfrm>
            <a:off x="6152199" y="5682452"/>
            <a:ext cx="346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Temporal filtering on </a:t>
            </a:r>
            <a:r>
              <a:rPr lang="en-US" b="1" dirty="0">
                <a:solidFill>
                  <a:srgbClr val="C00000"/>
                </a:solidFill>
              </a:rPr>
              <a:t>phases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608F123-652A-FD97-BAAF-67F0C00E27F3}"/>
              </a:ext>
            </a:extLst>
          </p:cNvPr>
          <p:cNvCxnSpPr>
            <a:cxnSpLocks/>
          </p:cNvCxnSpPr>
          <p:nvPr/>
        </p:nvCxnSpPr>
        <p:spPr>
          <a:xfrm flipH="1" flipV="1">
            <a:off x="6128844" y="5022157"/>
            <a:ext cx="619089" cy="705543"/>
          </a:xfrm>
          <a:prstGeom prst="straightConnector1">
            <a:avLst/>
          </a:prstGeom>
          <a:ln w="25400">
            <a:solidFill>
              <a:srgbClr val="C0000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5137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0B28-6108-152D-C6C9-6E03CB0A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5546275-E1EA-C642-EFAD-0BAB1720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Phase-Based Video Motion Processing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175E642-5C59-98ED-9055-1C6643AE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12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0C3AF0-7A22-8FDE-F3CF-16DE5E614AAA}"/>
                  </a:ext>
                </a:extLst>
              </p:cNvPr>
              <p:cNvSpPr txBox="1"/>
              <p:nvPr/>
            </p:nvSpPr>
            <p:spPr>
              <a:xfrm>
                <a:off x="243910" y="765102"/>
                <a:ext cx="8908026" cy="4844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dirty="0"/>
                  <a:t>목표 신호</a:t>
                </a:r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1400" b="0" dirty="0"/>
              </a:p>
              <a:p>
                <a:endParaRPr lang="en-US" altLang="ko-KR" sz="1400" b="0" dirty="0"/>
              </a:p>
              <a:p>
                <a:pPr marL="342900" indent="-342900">
                  <a:buAutoNum type="arabicPeriod"/>
                </a:pPr>
                <a:r>
                  <a:rPr lang="ko-KR" altLang="en-US" sz="1400" dirty="0"/>
                  <a:t>푸리에변환</a:t>
                </a:r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ko-KR" altLang="en-US" sz="1400" i="1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ko-KR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d>
                                <m:d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ko-KR" sz="1400" dirty="0"/>
              </a:p>
              <a:p>
                <a:r>
                  <a:rPr lang="en-US" altLang="ko-KR" sz="1400" dirty="0"/>
                  <a:t>2. Temporal BPF </a:t>
                </a:r>
                <a:r>
                  <a:rPr lang="ko-KR" altLang="en-US" sz="1400" dirty="0"/>
                  <a:t>결과</a:t>
                </a:r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</a:rPr>
                        <m:t>𝜔𝛿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400" dirty="0"/>
              </a:p>
              <a:p>
                <a:r>
                  <a:rPr lang="en-US" altLang="ko-KR" sz="1400" dirty="0"/>
                  <a:t>3. </a:t>
                </a:r>
                <a:r>
                  <a:rPr lang="ko-KR" altLang="en-US" sz="1400" dirty="0"/>
                  <a:t>위상 </a:t>
                </a:r>
                <a:r>
                  <a:rPr lang="en-US" altLang="ko-KR" sz="1400" dirty="0"/>
                  <a:t>amplification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</a:rPr>
                        <m:t>𝛼𝜔𝛿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ko-KR" sz="1400" b="0" dirty="0"/>
              </a:p>
              <a:p>
                <a:r>
                  <a:rPr lang="en-US" altLang="ko-KR" sz="1400" dirty="0"/>
                  <a:t>4. </a:t>
                </a:r>
                <a:r>
                  <a:rPr lang="ko-KR" altLang="en-US" sz="1400" dirty="0"/>
                  <a:t>재합성</a:t>
                </a:r>
                <a:endParaRPr lang="en-US" altLang="ko-K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ko-KR" altLang="en-US" sz="140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sub>
                      </m:sSub>
                      <m:sSup>
                        <m:sSup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ko-KR" altLang="en-US" sz="1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d>
                            <m:d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sup>
                      </m:sSup>
                    </m:oMath>
                  </m:oMathPara>
                </a14:m>
                <a:endParaRPr lang="en-US" altLang="ko-KR" sz="1400" dirty="0"/>
              </a:p>
              <a:p>
                <a:endParaRPr lang="en-US" altLang="ko-KR" sz="1400" dirty="0"/>
              </a:p>
              <a:p>
                <a:endParaRPr lang="en-US" altLang="ko-KR" sz="1400" dirty="0"/>
              </a:p>
              <a:p>
                <a:r>
                  <a:rPr lang="ko-KR" altLang="en-US" sz="1400" dirty="0"/>
                  <a:t>하지만 이렇게 푸리에 </a:t>
                </a:r>
                <a:r>
                  <a:rPr lang="en-US" altLang="ko-KR" sz="1400" dirty="0"/>
                  <a:t>shift</a:t>
                </a:r>
                <a:r>
                  <a:rPr lang="ko-KR" altLang="en-US" sz="1400" dirty="0"/>
                  <a:t>를 하게 된다면 모든 프레임의 </a:t>
                </a:r>
                <a:r>
                  <a:rPr lang="en-US" altLang="ko-KR" sz="1400" dirty="0"/>
                  <a:t>global</a:t>
                </a:r>
                <a:r>
                  <a:rPr lang="ko-KR" altLang="en-US" sz="1400" dirty="0"/>
                  <a:t>한 </a:t>
                </a:r>
                <a:r>
                  <a:rPr lang="en-US" altLang="ko-KR" sz="1400" dirty="0"/>
                  <a:t>motion</a:t>
                </a:r>
                <a:r>
                  <a:rPr lang="ko-KR" altLang="en-US" sz="1400" dirty="0"/>
                  <a:t>을 증폭하게 된다</a:t>
                </a:r>
                <a:r>
                  <a:rPr lang="en-US" altLang="ko-KR" sz="1400" dirty="0"/>
                  <a:t>.</a:t>
                </a:r>
              </a:p>
              <a:p>
                <a:r>
                  <a:rPr lang="en-US" altLang="ko-KR" sz="1400" dirty="0"/>
                  <a:t>(</a:t>
                </a:r>
                <a:r>
                  <a:rPr lang="ko-KR" altLang="en-US" sz="1400" dirty="0"/>
                  <a:t>푸리에 변환시 위치정보가 사라지기 때문</a:t>
                </a:r>
                <a:r>
                  <a:rPr lang="en-US" altLang="ko-KR" sz="1400" dirty="0"/>
                  <a:t>)</a:t>
                </a:r>
              </a:p>
              <a:p>
                <a:endParaRPr lang="en-US" altLang="ko-KR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Local</a:t>
                </a:r>
                <a:r>
                  <a:rPr lang="ko-KR" altLang="en-US" sz="1400" dirty="0"/>
                  <a:t>영역에서만 사용할 수 있는 푸리에 변환을 찾아야한다</a:t>
                </a:r>
                <a:endParaRPr lang="en-US" altLang="ko-KR" sz="1400" dirty="0"/>
              </a:p>
              <a:p>
                <a:r>
                  <a:rPr lang="en-US" altLang="ko-KR" sz="1400" dirty="0">
                    <a:sym typeface="Wingdings" panose="05000000000000000000" pitchFamily="2" charset="2"/>
                  </a:rPr>
                  <a:t>	steerable pyramid 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를 사용해서 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“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국소 위상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“ </a:t>
                </a:r>
                <a:r>
                  <a:rPr lang="ko-KR" altLang="en-US" sz="1400" dirty="0">
                    <a:sym typeface="Wingdings" panose="05000000000000000000" pitchFamily="2" charset="2"/>
                  </a:rPr>
                  <a:t>을 찾는다</a:t>
                </a:r>
                <a:r>
                  <a:rPr lang="en-US" altLang="ko-KR" sz="1400" dirty="0">
                    <a:sym typeface="Wingdings" panose="05000000000000000000" pitchFamily="2" charset="2"/>
                  </a:rPr>
                  <a:t>.</a:t>
                </a:r>
                <a:endParaRPr lang="en-US" altLang="ko-KR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0C3AF0-7A22-8FDE-F3CF-16DE5E614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910" y="765102"/>
                <a:ext cx="8908026" cy="4844403"/>
              </a:xfrm>
              <a:prstGeom prst="rect">
                <a:avLst/>
              </a:prstGeom>
              <a:blipFill>
                <a:blip r:embed="rId3"/>
                <a:stretch>
                  <a:fillRect l="-205" t="-378" b="-3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453C46F-8CAA-4276-26F1-2D29876B5272}"/>
              </a:ext>
            </a:extLst>
          </p:cNvPr>
          <p:cNvSpPr txBox="1"/>
          <p:nvPr/>
        </p:nvSpPr>
        <p:spPr>
          <a:xfrm>
            <a:off x="6100566" y="6421615"/>
            <a:ext cx="32805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Wadhwa et al. </a:t>
            </a:r>
            <a:r>
              <a:rPr lang="en-US" altLang="ko-KR" sz="1000" i="1" dirty="0"/>
              <a:t>Phase-based Video Motion Processing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SIGGRAPH 2013.</a:t>
            </a:r>
          </a:p>
        </p:txBody>
      </p:sp>
    </p:spTree>
    <p:extLst>
      <p:ext uri="{BB962C8B-B14F-4D97-AF65-F5344CB8AC3E}">
        <p14:creationId xmlns:p14="http://schemas.microsoft.com/office/powerpoint/2010/main" val="2567804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0CCD7-F5FA-43CF-49D8-B22AABC69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8990AD3-BBE6-BEDA-6AF1-DB15FCDFA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Steerable pyramid [Simoncelli et al. 1992]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A96CEC-FAB2-E684-345C-3F892864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13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00438-71E0-01AD-30CB-70AFBA05F02A}"/>
              </a:ext>
            </a:extLst>
          </p:cNvPr>
          <p:cNvSpPr txBox="1"/>
          <p:nvPr/>
        </p:nvSpPr>
        <p:spPr>
          <a:xfrm>
            <a:off x="6100566" y="6421615"/>
            <a:ext cx="32508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Wadhwa et al. </a:t>
            </a:r>
            <a:r>
              <a:rPr lang="en-US" altLang="ko-KR" sz="1000" i="1" dirty="0"/>
              <a:t>Phase-based Video Motion Processing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SIGGRAPH 2013.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20EBB7-32AA-FDAD-BB01-9C777AABD088}"/>
              </a:ext>
            </a:extLst>
          </p:cNvPr>
          <p:cNvSpPr txBox="1"/>
          <p:nvPr/>
        </p:nvSpPr>
        <p:spPr>
          <a:xfrm>
            <a:off x="5736167" y="1762385"/>
            <a:ext cx="3687234" cy="1523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크기와 방향별로 필터를 생성하고</a:t>
            </a:r>
            <a:r>
              <a:rPr lang="en-US" altLang="ko-KR" sz="1600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설계된 필터들을 입력 이미지에 </a:t>
            </a:r>
            <a:r>
              <a:rPr lang="en-US" altLang="ko-KR" sz="1600" dirty="0"/>
              <a:t>convolution</a:t>
            </a:r>
            <a:r>
              <a:rPr lang="ko-KR" altLang="en-US" sz="1600" dirty="0"/>
              <a:t>하여</a:t>
            </a:r>
            <a:r>
              <a:rPr lang="en-US" altLang="ko-KR" sz="1600" dirty="0"/>
              <a:t>, </a:t>
            </a:r>
            <a:r>
              <a:rPr lang="ko-KR" altLang="en-US" sz="1600" dirty="0"/>
              <a:t>크기와 방향 정보를 강조한다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FB778E-2A05-08F9-E152-754A5C61A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18072"/>
            <a:ext cx="1038761" cy="1038761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4CACD5-8B00-BC4B-AFEF-A2C86D1C0D98}"/>
              </a:ext>
            </a:extLst>
          </p:cNvPr>
          <p:cNvCxnSpPr>
            <a:stCxn id="5" idx="3"/>
          </p:cNvCxnSpPr>
          <p:nvPr/>
        </p:nvCxnSpPr>
        <p:spPr>
          <a:xfrm>
            <a:off x="1038761" y="3437452"/>
            <a:ext cx="2368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B610BCCB-0C1D-D7D6-E21C-649351116582}"/>
              </a:ext>
            </a:extLst>
          </p:cNvPr>
          <p:cNvGrpSpPr/>
          <p:nvPr/>
        </p:nvGrpSpPr>
        <p:grpSpPr>
          <a:xfrm>
            <a:off x="3345688" y="1316392"/>
            <a:ext cx="1172117" cy="3893582"/>
            <a:chOff x="3088326" y="621650"/>
            <a:chExt cx="1081954" cy="359407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538F642-8EBD-41F0-B59D-247A3033C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5254" y="1871253"/>
              <a:ext cx="846759" cy="84675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8B39F50-B492-279A-EF7C-5EFD4F6F1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1675" y="2958548"/>
              <a:ext cx="533916" cy="533916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AE9BB0D-4A7D-471D-C990-6B305A83F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7396" y="3681810"/>
              <a:ext cx="533916" cy="53391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9C0FC44-C0C5-EAC8-AF25-212CDA3A0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5254" y="966628"/>
              <a:ext cx="838200" cy="838200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2750C4-D582-69DD-8D80-EFD35D9CB970}"/>
                </a:ext>
              </a:extLst>
            </p:cNvPr>
            <p:cNvSpPr txBox="1"/>
            <p:nvPr/>
          </p:nvSpPr>
          <p:spPr>
            <a:xfrm>
              <a:off x="3088326" y="621650"/>
              <a:ext cx="1081954" cy="331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33" dirty="0"/>
                <a:t>Amplitude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A92E0BF-B897-E639-44D0-8BDB44553D90}"/>
              </a:ext>
            </a:extLst>
          </p:cNvPr>
          <p:cNvSpPr txBox="1"/>
          <p:nvPr/>
        </p:nvSpPr>
        <p:spPr>
          <a:xfrm>
            <a:off x="3709907" y="5356930"/>
            <a:ext cx="139653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dirty="0"/>
              <a:t>Sub-bands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3D184BB-8863-8847-0C10-24121B825D7C}"/>
              </a:ext>
            </a:extLst>
          </p:cNvPr>
          <p:cNvCxnSpPr>
            <a:endCxn id="13" idx="1"/>
          </p:cNvCxnSpPr>
          <p:nvPr/>
        </p:nvCxnSpPr>
        <p:spPr>
          <a:xfrm>
            <a:off x="3074593" y="2144143"/>
            <a:ext cx="3652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C972B3-18C7-E43A-A1E9-3DB48F2F22D9}"/>
              </a:ext>
            </a:extLst>
          </p:cNvPr>
          <p:cNvCxnSpPr>
            <a:endCxn id="10" idx="1"/>
          </p:cNvCxnSpPr>
          <p:nvPr/>
        </p:nvCxnSpPr>
        <p:spPr>
          <a:xfrm>
            <a:off x="3036856" y="3128790"/>
            <a:ext cx="4030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1D87B08-9A1A-3185-63B9-59DAE4006F17}"/>
              </a:ext>
            </a:extLst>
          </p:cNvPr>
          <p:cNvCxnSpPr>
            <a:endCxn id="11" idx="1"/>
          </p:cNvCxnSpPr>
          <p:nvPr/>
        </p:nvCxnSpPr>
        <p:spPr>
          <a:xfrm flipV="1">
            <a:off x="3079229" y="4137236"/>
            <a:ext cx="530086" cy="4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5FD692D-C254-1EDB-AB7C-5C1788D93488}"/>
              </a:ext>
            </a:extLst>
          </p:cNvPr>
          <p:cNvCxnSpPr>
            <a:endCxn id="12" idx="1"/>
          </p:cNvCxnSpPr>
          <p:nvPr/>
        </p:nvCxnSpPr>
        <p:spPr>
          <a:xfrm>
            <a:off x="3074593" y="4920770"/>
            <a:ext cx="5300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D982FC5-C177-296F-BF76-988698450DD8}"/>
              </a:ext>
            </a:extLst>
          </p:cNvPr>
          <p:cNvSpPr txBox="1"/>
          <p:nvPr/>
        </p:nvSpPr>
        <p:spPr>
          <a:xfrm>
            <a:off x="1602725" y="1306920"/>
            <a:ext cx="1513556" cy="425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67" dirty="0"/>
              <a:t>Filter Bank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95B41-0648-2CF6-15F6-96112905F320}"/>
              </a:ext>
            </a:extLst>
          </p:cNvPr>
          <p:cNvSpPr/>
          <p:nvPr/>
        </p:nvSpPr>
        <p:spPr>
          <a:xfrm>
            <a:off x="1290644" y="1748894"/>
            <a:ext cx="1948308" cy="38080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C6B14C-DACA-4B34-E012-596AE9B5DD9E}"/>
              </a:ext>
            </a:extLst>
          </p:cNvPr>
          <p:cNvSpPr txBox="1"/>
          <p:nvPr/>
        </p:nvSpPr>
        <p:spPr>
          <a:xfrm>
            <a:off x="1698430" y="3318116"/>
            <a:ext cx="1459054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 2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C94A90-964A-C287-ADA5-9F38CD242C4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6" y="1992542"/>
            <a:ext cx="619436" cy="6194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2A40BE6-8DE8-05B3-D937-F6175834725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29" y="1992541"/>
            <a:ext cx="605627" cy="60562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E07F578-B59F-321C-417A-BB4DDCA8D12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29" y="2810942"/>
            <a:ext cx="605627" cy="60562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34FC987-0211-FDD9-3CA4-23E699C92216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6" y="2810943"/>
            <a:ext cx="605627" cy="60562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26A9BB5-EC6E-BFD2-C8E9-4280057F880D}"/>
              </a:ext>
            </a:extLst>
          </p:cNvPr>
          <p:cNvSpPr txBox="1"/>
          <p:nvPr/>
        </p:nvSpPr>
        <p:spPr>
          <a:xfrm>
            <a:off x="1696663" y="1675305"/>
            <a:ext cx="641522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Real</a:t>
            </a:r>
            <a:endParaRPr lang="en-US" sz="1517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79F47A-27F5-DF28-C060-6B583D36D6AF}"/>
              </a:ext>
            </a:extLst>
          </p:cNvPr>
          <p:cNvSpPr txBox="1"/>
          <p:nvPr/>
        </p:nvSpPr>
        <p:spPr>
          <a:xfrm>
            <a:off x="2454146" y="1675303"/>
            <a:ext cx="678391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 err="1"/>
              <a:t>Imag</a:t>
            </a:r>
            <a:endParaRPr lang="en-US" sz="151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09DADA-5CA3-5DA3-AA32-8F4F7EC3E017}"/>
              </a:ext>
            </a:extLst>
          </p:cNvPr>
          <p:cNvSpPr txBox="1"/>
          <p:nvPr/>
        </p:nvSpPr>
        <p:spPr>
          <a:xfrm rot="16200000">
            <a:off x="986692" y="2489774"/>
            <a:ext cx="101983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Scale 1</a:t>
            </a:r>
            <a:endParaRPr lang="en-US" sz="1517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54E668-F53F-5658-6AC3-D7139EB8D031}"/>
              </a:ext>
            </a:extLst>
          </p:cNvPr>
          <p:cNvSpPr txBox="1"/>
          <p:nvPr/>
        </p:nvSpPr>
        <p:spPr>
          <a:xfrm>
            <a:off x="1702967" y="2486373"/>
            <a:ext cx="144943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</a:t>
            </a:r>
            <a:r>
              <a:rPr lang="en-US" sz="1950" dirty="0"/>
              <a:t> </a:t>
            </a:r>
            <a:r>
              <a:rPr lang="en-US" sz="1517" dirty="0"/>
              <a:t>1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97E759B-8780-5B20-9FA3-387EC104463E}"/>
              </a:ext>
            </a:extLst>
          </p:cNvPr>
          <p:cNvCxnSpPr/>
          <p:nvPr/>
        </p:nvCxnSpPr>
        <p:spPr>
          <a:xfrm>
            <a:off x="1636501" y="1992542"/>
            <a:ext cx="0" cy="13868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83D8B2DD-43BD-8A14-3FC6-C62B99490CF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6" y="3821890"/>
            <a:ext cx="605628" cy="60562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5AEF2CD-AF80-C3BB-53BB-8D615176983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29" y="3821889"/>
            <a:ext cx="605627" cy="605627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9F165AC-EEDE-A4E8-93F5-A95F569160C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80" y="4645623"/>
            <a:ext cx="619125" cy="61912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E0ECF93-7A30-B2B3-FD5A-95E9B5F64922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376" y="4645623"/>
            <a:ext cx="619125" cy="61912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67926A18-2363-4700-AB26-1D4761782404}"/>
              </a:ext>
            </a:extLst>
          </p:cNvPr>
          <p:cNvSpPr txBox="1"/>
          <p:nvPr/>
        </p:nvSpPr>
        <p:spPr>
          <a:xfrm rot="16200000">
            <a:off x="986691" y="4369857"/>
            <a:ext cx="101983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Scale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7A98ABA-E68D-5375-1BA6-44DDD51CE312}"/>
              </a:ext>
            </a:extLst>
          </p:cNvPr>
          <p:cNvSpPr txBox="1"/>
          <p:nvPr/>
        </p:nvSpPr>
        <p:spPr>
          <a:xfrm>
            <a:off x="1661396" y="4333151"/>
            <a:ext cx="1459054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 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A495B5D-FBE2-B6DA-C751-40B5D84EB97B}"/>
              </a:ext>
            </a:extLst>
          </p:cNvPr>
          <p:cNvSpPr txBox="1"/>
          <p:nvPr/>
        </p:nvSpPr>
        <p:spPr>
          <a:xfrm>
            <a:off x="1630449" y="5150914"/>
            <a:ext cx="146546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</a:t>
            </a:r>
            <a:r>
              <a:rPr lang="en-US" sz="1950" dirty="0"/>
              <a:t> </a:t>
            </a:r>
            <a:r>
              <a:rPr lang="en-US" sz="1733" dirty="0"/>
              <a:t>2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A5C9B78-004F-DD6A-BAAB-EA855C6C20A1}"/>
              </a:ext>
            </a:extLst>
          </p:cNvPr>
          <p:cNvCxnSpPr/>
          <p:nvPr/>
        </p:nvCxnSpPr>
        <p:spPr>
          <a:xfrm>
            <a:off x="1636501" y="3872625"/>
            <a:ext cx="0" cy="13868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DB7921-212B-612E-7488-8A380858A65D}"/>
              </a:ext>
            </a:extLst>
          </p:cNvPr>
          <p:cNvGrpSpPr/>
          <p:nvPr/>
        </p:nvGrpSpPr>
        <p:grpSpPr>
          <a:xfrm>
            <a:off x="4415824" y="1323351"/>
            <a:ext cx="931162" cy="3886623"/>
            <a:chOff x="4076146" y="628074"/>
            <a:chExt cx="859534" cy="358765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E68ADD5-88D2-F5BA-943E-6AD1C9829A0F}"/>
                </a:ext>
              </a:extLst>
            </p:cNvPr>
            <p:cNvSpPr txBox="1"/>
            <p:nvPr/>
          </p:nvSpPr>
          <p:spPr>
            <a:xfrm>
              <a:off x="4185179" y="628074"/>
              <a:ext cx="750501" cy="331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33" dirty="0"/>
                <a:t>Phase</a:t>
              </a:r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CEA9A394-DAC1-5C00-34BA-F6CC7A67D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6146" y="1860575"/>
              <a:ext cx="846759" cy="846759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74630234-F99D-D1DB-AD83-C868EBBBA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2567" y="2949022"/>
              <a:ext cx="533916" cy="533916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F0C525EF-ABF4-D332-5BEA-5FFFF5106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2567" y="3681810"/>
              <a:ext cx="533916" cy="533916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47618B64-2B84-56D3-5E16-47F352BD9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6146" y="966628"/>
              <a:ext cx="838200" cy="838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149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A99F6-61E8-F8F1-CAB7-74BA6C9D5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1D10BFC-0913-0179-FDD8-219CF21B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Steerable pyramid [Simoncelli et al. 1992]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684291-A473-8743-6D4F-F3047565C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14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233E65-2022-DD9C-CF62-35089BA03227}"/>
              </a:ext>
            </a:extLst>
          </p:cNvPr>
          <p:cNvSpPr txBox="1"/>
          <p:nvPr/>
        </p:nvSpPr>
        <p:spPr>
          <a:xfrm>
            <a:off x="6100566" y="6421615"/>
            <a:ext cx="328693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Wadhwa et al. </a:t>
            </a:r>
            <a:r>
              <a:rPr lang="en-US" altLang="ko-KR" sz="1000" i="1" dirty="0"/>
              <a:t>Phase-based Video Motion Processing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en-US" altLang="ko-KR" sz="1000" dirty="0"/>
              <a:t>SIGGRAPH 2013.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6AED921-16B6-0E35-425A-EAEE9DDCF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918072"/>
            <a:ext cx="1038761" cy="1038761"/>
          </a:xfrm>
          <a:prstGeom prst="rect">
            <a:avLst/>
          </a:prstGeom>
        </p:spPr>
      </p:pic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15ADCE-B7A0-0C23-BBB1-632B2399F736}"/>
              </a:ext>
            </a:extLst>
          </p:cNvPr>
          <p:cNvCxnSpPr>
            <a:stCxn id="39" idx="3"/>
          </p:cNvCxnSpPr>
          <p:nvPr/>
        </p:nvCxnSpPr>
        <p:spPr>
          <a:xfrm>
            <a:off x="1038761" y="3437452"/>
            <a:ext cx="2368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5912E42-B53A-D24B-54A3-CC185CB45535}"/>
              </a:ext>
            </a:extLst>
          </p:cNvPr>
          <p:cNvGrpSpPr/>
          <p:nvPr/>
        </p:nvGrpSpPr>
        <p:grpSpPr>
          <a:xfrm>
            <a:off x="3345688" y="1316392"/>
            <a:ext cx="1172117" cy="3893582"/>
            <a:chOff x="3088326" y="621650"/>
            <a:chExt cx="1081954" cy="3594076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79DFE4B-97E5-E813-E89D-7B0D053FF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5254" y="1871253"/>
              <a:ext cx="846759" cy="846759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C329E779-CDC3-474C-491D-F304EE47C1C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1675" y="2958548"/>
              <a:ext cx="533916" cy="533916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8C0AF36A-5530-CD0E-B1C0-47445AB1A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7396" y="3681810"/>
              <a:ext cx="533916" cy="533916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4C4D156F-7240-D9C3-FAC3-9EE001C73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75254" y="966628"/>
              <a:ext cx="838200" cy="83820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D6568F8-FAE1-705C-BD1B-A1285F38A88B}"/>
                </a:ext>
              </a:extLst>
            </p:cNvPr>
            <p:cNvSpPr txBox="1"/>
            <p:nvPr/>
          </p:nvSpPr>
          <p:spPr>
            <a:xfrm>
              <a:off x="3088326" y="621650"/>
              <a:ext cx="1081954" cy="331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733" dirty="0"/>
                <a:t>Amplitude</a:t>
              </a: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0198E613-9F9C-2601-BA9E-710611E037DA}"/>
              </a:ext>
            </a:extLst>
          </p:cNvPr>
          <p:cNvSpPr txBox="1"/>
          <p:nvPr/>
        </p:nvSpPr>
        <p:spPr>
          <a:xfrm>
            <a:off x="3709907" y="5356930"/>
            <a:ext cx="139653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dirty="0"/>
              <a:t>Sub-bands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9687718-1CDF-7210-323A-FD11627BBD47}"/>
              </a:ext>
            </a:extLst>
          </p:cNvPr>
          <p:cNvCxnSpPr>
            <a:endCxn id="52" idx="1"/>
          </p:cNvCxnSpPr>
          <p:nvPr/>
        </p:nvCxnSpPr>
        <p:spPr>
          <a:xfrm>
            <a:off x="3074593" y="2144143"/>
            <a:ext cx="36526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06D2427-C7C2-07B5-E2B7-19090D805195}"/>
              </a:ext>
            </a:extLst>
          </p:cNvPr>
          <p:cNvCxnSpPr>
            <a:endCxn id="49" idx="1"/>
          </p:cNvCxnSpPr>
          <p:nvPr/>
        </p:nvCxnSpPr>
        <p:spPr>
          <a:xfrm>
            <a:off x="3036856" y="3128790"/>
            <a:ext cx="40300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90AD2CE-82D6-AD2E-8FB1-10CA8678ED99}"/>
              </a:ext>
            </a:extLst>
          </p:cNvPr>
          <p:cNvCxnSpPr>
            <a:endCxn id="50" idx="1"/>
          </p:cNvCxnSpPr>
          <p:nvPr/>
        </p:nvCxnSpPr>
        <p:spPr>
          <a:xfrm flipV="1">
            <a:off x="3079229" y="4137236"/>
            <a:ext cx="530086" cy="4009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C131037-B8FF-C841-36DA-8C02558AE2C8}"/>
              </a:ext>
            </a:extLst>
          </p:cNvPr>
          <p:cNvCxnSpPr>
            <a:endCxn id="51" idx="1"/>
          </p:cNvCxnSpPr>
          <p:nvPr/>
        </p:nvCxnSpPr>
        <p:spPr>
          <a:xfrm>
            <a:off x="3074593" y="4920770"/>
            <a:ext cx="53008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6E706C7-C7AB-6EE9-60CC-DEC867921E75}"/>
              </a:ext>
            </a:extLst>
          </p:cNvPr>
          <p:cNvSpPr txBox="1"/>
          <p:nvPr/>
        </p:nvSpPr>
        <p:spPr>
          <a:xfrm>
            <a:off x="1602725" y="1306920"/>
            <a:ext cx="1513556" cy="4258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167" dirty="0"/>
              <a:t>Filter Bank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B92B95C-C4FE-5564-335B-AF15188B792A}"/>
              </a:ext>
            </a:extLst>
          </p:cNvPr>
          <p:cNvSpPr/>
          <p:nvPr/>
        </p:nvSpPr>
        <p:spPr>
          <a:xfrm>
            <a:off x="1290644" y="1748894"/>
            <a:ext cx="1948308" cy="38080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1ED239-7947-C5A9-B668-743E2616865B}"/>
              </a:ext>
            </a:extLst>
          </p:cNvPr>
          <p:cNvSpPr txBox="1"/>
          <p:nvPr/>
        </p:nvSpPr>
        <p:spPr>
          <a:xfrm>
            <a:off x="1698430" y="3318116"/>
            <a:ext cx="1459054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 2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CEAD0265-43EB-B252-550B-73ACE1A0400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6" y="1992542"/>
            <a:ext cx="619436" cy="61943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2E9A6090-C6D1-A2D6-A171-302900B23943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29" y="1992541"/>
            <a:ext cx="605627" cy="60562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2767BF1-4478-EBDD-3C3B-F5A565E76CF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29" y="2810942"/>
            <a:ext cx="605627" cy="605627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3C920D25-2D54-4F97-908B-DFA9959BB8FB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6" y="2810943"/>
            <a:ext cx="605627" cy="605627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52F1B4B9-1378-E805-35BF-E98A94CA15EC}"/>
              </a:ext>
            </a:extLst>
          </p:cNvPr>
          <p:cNvSpPr txBox="1"/>
          <p:nvPr/>
        </p:nvSpPr>
        <p:spPr>
          <a:xfrm>
            <a:off x="1696663" y="1675305"/>
            <a:ext cx="641522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Real</a:t>
            </a:r>
            <a:endParaRPr lang="en-US" sz="1517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804A1F-12D5-9DCB-4D7F-1F781C64F36E}"/>
              </a:ext>
            </a:extLst>
          </p:cNvPr>
          <p:cNvSpPr txBox="1"/>
          <p:nvPr/>
        </p:nvSpPr>
        <p:spPr>
          <a:xfrm>
            <a:off x="2454146" y="1675303"/>
            <a:ext cx="678391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 err="1"/>
              <a:t>Imag</a:t>
            </a:r>
            <a:endParaRPr lang="en-US" sz="1517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8B3E01E-41E7-29D2-1E82-FEE66F7B56F6}"/>
              </a:ext>
            </a:extLst>
          </p:cNvPr>
          <p:cNvSpPr txBox="1"/>
          <p:nvPr/>
        </p:nvSpPr>
        <p:spPr>
          <a:xfrm rot="16200000">
            <a:off x="986692" y="2489774"/>
            <a:ext cx="101983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Scale 1</a:t>
            </a:r>
            <a:endParaRPr lang="en-US" sz="1517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83C69DD-ED8B-D9E2-0B99-7DEA0930A767}"/>
              </a:ext>
            </a:extLst>
          </p:cNvPr>
          <p:cNvSpPr txBox="1"/>
          <p:nvPr/>
        </p:nvSpPr>
        <p:spPr>
          <a:xfrm>
            <a:off x="1702967" y="2486373"/>
            <a:ext cx="144943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</a:t>
            </a:r>
            <a:r>
              <a:rPr lang="en-US" sz="1950" dirty="0"/>
              <a:t> </a:t>
            </a:r>
            <a:r>
              <a:rPr lang="en-US" sz="1517" dirty="0"/>
              <a:t>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7FFFD8B-7D79-EAF1-9534-48AAA27F4163}"/>
              </a:ext>
            </a:extLst>
          </p:cNvPr>
          <p:cNvCxnSpPr/>
          <p:nvPr/>
        </p:nvCxnSpPr>
        <p:spPr>
          <a:xfrm>
            <a:off x="1636501" y="1992542"/>
            <a:ext cx="0" cy="13868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93AC7E60-E576-34D5-49C8-857C9B74D6BD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9106" y="3821890"/>
            <a:ext cx="605628" cy="605628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5C15F31D-88E5-1B12-7228-B2868CBB5A76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729" y="3821889"/>
            <a:ext cx="605627" cy="60562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8CA24320-110F-08F2-DC54-1DDD1CE41E4F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980" y="4645623"/>
            <a:ext cx="619125" cy="619125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587F947E-4740-7548-3D55-1A19F661979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376" y="4645623"/>
            <a:ext cx="619125" cy="619125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19201BCB-FDAB-269E-867E-F1D5FA47F721}"/>
              </a:ext>
            </a:extLst>
          </p:cNvPr>
          <p:cNvSpPr txBox="1"/>
          <p:nvPr/>
        </p:nvSpPr>
        <p:spPr>
          <a:xfrm rot="16200000">
            <a:off x="986691" y="4369857"/>
            <a:ext cx="101983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Scale 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D5918C-DE32-2430-C5F6-96AB68E122EF}"/>
              </a:ext>
            </a:extLst>
          </p:cNvPr>
          <p:cNvSpPr txBox="1"/>
          <p:nvPr/>
        </p:nvSpPr>
        <p:spPr>
          <a:xfrm>
            <a:off x="1661396" y="4333151"/>
            <a:ext cx="1459054" cy="3590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 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339131-3FE8-DFB5-5AAF-F697F70032D8}"/>
              </a:ext>
            </a:extLst>
          </p:cNvPr>
          <p:cNvSpPr txBox="1"/>
          <p:nvPr/>
        </p:nvSpPr>
        <p:spPr>
          <a:xfrm>
            <a:off x="1630449" y="5150914"/>
            <a:ext cx="1465466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33" dirty="0"/>
              <a:t>Orientation</a:t>
            </a:r>
            <a:r>
              <a:rPr lang="en-US" sz="1950" dirty="0"/>
              <a:t> </a:t>
            </a:r>
            <a:r>
              <a:rPr lang="en-US" sz="1733" dirty="0"/>
              <a:t>2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C4265DC-5B84-AB67-E5CF-7E57BDBCF4A2}"/>
              </a:ext>
            </a:extLst>
          </p:cNvPr>
          <p:cNvCxnSpPr/>
          <p:nvPr/>
        </p:nvCxnSpPr>
        <p:spPr>
          <a:xfrm>
            <a:off x="1636501" y="3872625"/>
            <a:ext cx="0" cy="13868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4E5E125-65A5-C684-7660-62EA9DB98DF3}"/>
              </a:ext>
            </a:extLst>
          </p:cNvPr>
          <p:cNvGrpSpPr/>
          <p:nvPr/>
        </p:nvGrpSpPr>
        <p:grpSpPr>
          <a:xfrm>
            <a:off x="4415824" y="1323351"/>
            <a:ext cx="931162" cy="3886623"/>
            <a:chOff x="4076146" y="628074"/>
            <a:chExt cx="859534" cy="3587652"/>
          </a:xfrm>
        </p:grpSpPr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9C1F244-E9D8-456B-FA19-7A4B557028FA}"/>
                </a:ext>
              </a:extLst>
            </p:cNvPr>
            <p:cNvSpPr txBox="1"/>
            <p:nvPr/>
          </p:nvSpPr>
          <p:spPr>
            <a:xfrm>
              <a:off x="4185179" y="628074"/>
              <a:ext cx="750501" cy="3313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733" dirty="0"/>
                <a:t>Phase</a:t>
              </a:r>
            </a:p>
          </p:txBody>
        </p: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64C4AAFD-FF67-5B98-D5DF-A1771B8AF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6146" y="1860575"/>
              <a:ext cx="846759" cy="846759"/>
            </a:xfrm>
            <a:prstGeom prst="rect">
              <a:avLst/>
            </a:prstGeom>
          </p:spPr>
        </p:pic>
        <p:pic>
          <p:nvPicPr>
            <p:cNvPr id="82" name="Picture 81">
              <a:extLst>
                <a:ext uri="{FF2B5EF4-FFF2-40B4-BE49-F238E27FC236}">
                  <a16:creationId xmlns:a16="http://schemas.microsoft.com/office/drawing/2014/main" id="{55F52861-1478-104B-B759-7EEF1BF73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2567" y="2949022"/>
              <a:ext cx="533916" cy="533916"/>
            </a:xfrm>
            <a:prstGeom prst="rect">
              <a:avLst/>
            </a:prstGeom>
          </p:spPr>
        </p:pic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4A643B0A-A437-558F-EE07-867664208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2567" y="3681810"/>
              <a:ext cx="533916" cy="533916"/>
            </a:xfrm>
            <a:prstGeom prst="rect">
              <a:avLst/>
            </a:prstGeom>
          </p:spPr>
        </p:pic>
        <p:pic>
          <p:nvPicPr>
            <p:cNvPr id="84" name="Picture 83">
              <a:extLst>
                <a:ext uri="{FF2B5EF4-FFF2-40B4-BE49-F238E27FC236}">
                  <a16:creationId xmlns:a16="http://schemas.microsoft.com/office/drawing/2014/main" id="{251B0245-E21C-1EDD-2065-E5E9C82F20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6146" y="966628"/>
              <a:ext cx="838200" cy="838200"/>
            </a:xfrm>
            <a:prstGeom prst="rect">
              <a:avLst/>
            </a:prstGeom>
          </p:spPr>
        </p:pic>
      </p:grpSp>
      <p:sp>
        <p:nvSpPr>
          <p:cNvPr id="85" name="Oval 84">
            <a:extLst>
              <a:ext uri="{FF2B5EF4-FFF2-40B4-BE49-F238E27FC236}">
                <a16:creationId xmlns:a16="http://schemas.microsoft.com/office/drawing/2014/main" id="{579312BC-14D4-6EE0-5418-7B62B3A37A1B}"/>
              </a:ext>
            </a:extLst>
          </p:cNvPr>
          <p:cNvSpPr/>
          <p:nvPr/>
        </p:nvSpPr>
        <p:spPr>
          <a:xfrm>
            <a:off x="4141813" y="1951008"/>
            <a:ext cx="82550" cy="83066"/>
          </a:xfrm>
          <a:prstGeom prst="ellipse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C480B0CA-A197-8218-5AEC-D162547D51A6}"/>
              </a:ext>
            </a:extLst>
          </p:cNvPr>
          <p:cNvSpPr/>
          <p:nvPr/>
        </p:nvSpPr>
        <p:spPr>
          <a:xfrm>
            <a:off x="5088344" y="1950231"/>
            <a:ext cx="82550" cy="83066"/>
          </a:xfrm>
          <a:prstGeom prst="ellipse">
            <a:avLst/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pic>
        <p:nvPicPr>
          <p:cNvPr id="87" name="BPMag.avi">
            <a:hlinkClick r:id="" action="ppaction://media"/>
            <a:extLst>
              <a:ext uri="{FF2B5EF4-FFF2-40B4-BE49-F238E27FC236}">
                <a16:creationId xmlns:a16="http://schemas.microsoft.com/office/drawing/2014/main" id="{20AA1C3C-D8A0-753B-F701-354BD88113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 rotWithShape="1">
          <a:blip r:embed="rId22"/>
          <a:srcRect l="726" t="-1263" r="1115" b="1263"/>
          <a:stretch/>
        </p:blipFill>
        <p:spPr>
          <a:xfrm>
            <a:off x="5906544" y="4285303"/>
            <a:ext cx="3169920" cy="1568448"/>
          </a:xfrm>
          <a:prstGeom prst="rect">
            <a:avLst/>
          </a:prstGeom>
        </p:spPr>
      </p:pic>
      <p:sp>
        <p:nvSpPr>
          <p:cNvPr id="88" name="Rectangle 87">
            <a:extLst>
              <a:ext uri="{FF2B5EF4-FFF2-40B4-BE49-F238E27FC236}">
                <a16:creationId xmlns:a16="http://schemas.microsoft.com/office/drawing/2014/main" id="{813C17E8-F306-9B04-1DDA-EF0E7A81431F}"/>
              </a:ext>
            </a:extLst>
          </p:cNvPr>
          <p:cNvSpPr/>
          <p:nvPr/>
        </p:nvSpPr>
        <p:spPr>
          <a:xfrm>
            <a:off x="5750112" y="4538281"/>
            <a:ext cx="319881" cy="106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BD65F9C-35D8-2407-1F36-75521C3B457E}"/>
              </a:ext>
            </a:extLst>
          </p:cNvPr>
          <p:cNvSpPr/>
          <p:nvPr/>
        </p:nvSpPr>
        <p:spPr>
          <a:xfrm rot="5400000">
            <a:off x="7370689" y="3398589"/>
            <a:ext cx="319881" cy="1949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235A348-6D6E-50EE-BBF9-C3E542A4E9E3}"/>
              </a:ext>
            </a:extLst>
          </p:cNvPr>
          <p:cNvSpPr txBox="1"/>
          <p:nvPr/>
        </p:nvSpPr>
        <p:spPr>
          <a:xfrm rot="16200000">
            <a:off x="5480945" y="4844141"/>
            <a:ext cx="963725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dirty="0"/>
              <a:t>Phase 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256AC4A-DF60-735B-5FE1-650ACA8168C3}"/>
              </a:ext>
            </a:extLst>
          </p:cNvPr>
          <p:cNvSpPr/>
          <p:nvPr/>
        </p:nvSpPr>
        <p:spPr>
          <a:xfrm rot="5400000">
            <a:off x="7540220" y="5346527"/>
            <a:ext cx="319881" cy="1069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0A207B4F-F38D-2B51-48F4-6E9C2A36648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842" y="1847162"/>
            <a:ext cx="3228622" cy="1568449"/>
          </a:xfrm>
          <a:prstGeom prst="rect">
            <a:avLst/>
          </a:prstGeom>
        </p:spPr>
      </p:pic>
      <p:sp>
        <p:nvSpPr>
          <p:cNvPr id="93" name="Rectangle 92">
            <a:extLst>
              <a:ext uri="{FF2B5EF4-FFF2-40B4-BE49-F238E27FC236}">
                <a16:creationId xmlns:a16="http://schemas.microsoft.com/office/drawing/2014/main" id="{CA7A2EE8-190A-69AA-FF86-277F45AD0B1A}"/>
              </a:ext>
            </a:extLst>
          </p:cNvPr>
          <p:cNvSpPr/>
          <p:nvPr/>
        </p:nvSpPr>
        <p:spPr>
          <a:xfrm rot="5400000">
            <a:off x="7463970" y="942853"/>
            <a:ext cx="319881" cy="1949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F953709-003A-36C2-3584-BD4F9ED51B4C}"/>
              </a:ext>
            </a:extLst>
          </p:cNvPr>
          <p:cNvSpPr/>
          <p:nvPr/>
        </p:nvSpPr>
        <p:spPr>
          <a:xfrm rot="5400000">
            <a:off x="7443336" y="2446180"/>
            <a:ext cx="319881" cy="1949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227F04E-669A-6DA0-DE2A-B94227930568}"/>
              </a:ext>
            </a:extLst>
          </p:cNvPr>
          <p:cNvSpPr txBox="1"/>
          <p:nvPr/>
        </p:nvSpPr>
        <p:spPr>
          <a:xfrm>
            <a:off x="7096418" y="3153642"/>
            <a:ext cx="1082669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Time (s</a:t>
            </a:r>
            <a:r>
              <a:rPr lang="en-US" sz="1733" dirty="0"/>
              <a:t>)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AC07E6D-D080-A1E8-DAEF-049C9A175730}"/>
              </a:ext>
            </a:extLst>
          </p:cNvPr>
          <p:cNvSpPr txBox="1"/>
          <p:nvPr/>
        </p:nvSpPr>
        <p:spPr>
          <a:xfrm>
            <a:off x="6572383" y="1743518"/>
            <a:ext cx="2061783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dirty="0"/>
              <a:t>Phase over time </a:t>
            </a:r>
          </a:p>
        </p:txBody>
      </p:sp>
      <p:sp>
        <p:nvSpPr>
          <p:cNvPr id="97" name="Freeform 131">
            <a:extLst>
              <a:ext uri="{FF2B5EF4-FFF2-40B4-BE49-F238E27FC236}">
                <a16:creationId xmlns:a16="http://schemas.microsoft.com/office/drawing/2014/main" id="{3429911E-F61E-69BA-23A1-584A71A26302}"/>
              </a:ext>
            </a:extLst>
          </p:cNvPr>
          <p:cNvSpPr/>
          <p:nvPr/>
        </p:nvSpPr>
        <p:spPr>
          <a:xfrm>
            <a:off x="5170895" y="1719973"/>
            <a:ext cx="1244892" cy="398303"/>
          </a:xfrm>
          <a:custGeom>
            <a:avLst/>
            <a:gdLst>
              <a:gd name="connsiteX0" fmla="*/ 0 w 1048512"/>
              <a:gd name="connsiteY0" fmla="*/ 211557 h 382245"/>
              <a:gd name="connsiteX1" fmla="*/ 524256 w 1048512"/>
              <a:gd name="connsiteY1" fmla="*/ 4293 h 382245"/>
              <a:gd name="connsiteX2" fmla="*/ 1048512 w 1048512"/>
              <a:gd name="connsiteY2" fmla="*/ 382245 h 382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8512" h="382245">
                <a:moveTo>
                  <a:pt x="0" y="211557"/>
                </a:moveTo>
                <a:cubicBezTo>
                  <a:pt x="174752" y="93701"/>
                  <a:pt x="349504" y="-24155"/>
                  <a:pt x="524256" y="4293"/>
                </a:cubicBezTo>
                <a:cubicBezTo>
                  <a:pt x="699008" y="32741"/>
                  <a:pt x="873760" y="207493"/>
                  <a:pt x="1048512" y="382245"/>
                </a:cubicBezTo>
              </a:path>
            </a:pathLst>
          </a:custGeom>
          <a:ln w="381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3A19AC8-2517-222F-04A8-B47B615D98CB}"/>
              </a:ext>
            </a:extLst>
          </p:cNvPr>
          <p:cNvSpPr/>
          <p:nvPr/>
        </p:nvSpPr>
        <p:spPr>
          <a:xfrm rot="5400000">
            <a:off x="5257430" y="2445333"/>
            <a:ext cx="1188915" cy="5348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3A11695-35E8-0406-1538-B8A89986A2DA}"/>
              </a:ext>
            </a:extLst>
          </p:cNvPr>
          <p:cNvSpPr txBox="1"/>
          <p:nvPr/>
        </p:nvSpPr>
        <p:spPr>
          <a:xfrm rot="16200000">
            <a:off x="5516619" y="2435178"/>
            <a:ext cx="963725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dirty="0"/>
              <a:t>Phase 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C07F5A20-1E46-FC7D-4CC7-163FDE6EE652}"/>
              </a:ext>
            </a:extLst>
          </p:cNvPr>
          <p:cNvSpPr/>
          <p:nvPr/>
        </p:nvSpPr>
        <p:spPr>
          <a:xfrm>
            <a:off x="6313325" y="3935498"/>
            <a:ext cx="2665114" cy="56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7003314-B863-2224-44B2-631670C97C2D}"/>
              </a:ext>
            </a:extLst>
          </p:cNvPr>
          <p:cNvSpPr txBox="1"/>
          <p:nvPr/>
        </p:nvSpPr>
        <p:spPr>
          <a:xfrm>
            <a:off x="5863783" y="4152484"/>
            <a:ext cx="3523721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dirty="0" err="1"/>
              <a:t>Bandpassed</a:t>
            </a:r>
            <a:r>
              <a:rPr lang="en-US" sz="1950" dirty="0"/>
              <a:t> Phase over time 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A8AEB40-FFB8-9235-762E-B641A648CB3A}"/>
              </a:ext>
            </a:extLst>
          </p:cNvPr>
          <p:cNvSpPr/>
          <p:nvPr/>
        </p:nvSpPr>
        <p:spPr>
          <a:xfrm>
            <a:off x="6293086" y="5723811"/>
            <a:ext cx="2665114" cy="568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6A48279-D438-AC39-2410-E009C351B478}"/>
              </a:ext>
            </a:extLst>
          </p:cNvPr>
          <p:cNvSpPr txBox="1"/>
          <p:nvPr/>
        </p:nvSpPr>
        <p:spPr>
          <a:xfrm>
            <a:off x="7103965" y="5607883"/>
            <a:ext cx="1082669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/>
              <a:t>Time (s</a:t>
            </a:r>
            <a:r>
              <a:rPr lang="en-US" sz="1733" dirty="0"/>
              <a:t>)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0D532E25-E8E5-50AD-1AA7-7A3529D4FA8C}"/>
              </a:ext>
            </a:extLst>
          </p:cNvPr>
          <p:cNvCxnSpPr/>
          <p:nvPr/>
        </p:nvCxnSpPr>
        <p:spPr>
          <a:xfrm>
            <a:off x="6911604" y="3580709"/>
            <a:ext cx="0" cy="510203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32E21B1D-2DBA-6D41-D12D-C1437EAC9080}"/>
              </a:ext>
            </a:extLst>
          </p:cNvPr>
          <p:cNvSpPr txBox="1"/>
          <p:nvPr/>
        </p:nvSpPr>
        <p:spPr>
          <a:xfrm>
            <a:off x="7034710" y="3515220"/>
            <a:ext cx="1360372" cy="6924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50" b="1" dirty="0">
                <a:solidFill>
                  <a:schemeClr val="accent1">
                    <a:lumMod val="75000"/>
                  </a:schemeClr>
                </a:solidFill>
              </a:rPr>
              <a:t>Temporal </a:t>
            </a:r>
          </a:p>
          <a:p>
            <a:pPr algn="ctr"/>
            <a:r>
              <a:rPr lang="en-US" sz="1950" b="1" dirty="0">
                <a:solidFill>
                  <a:schemeClr val="accent1">
                    <a:lumMod val="75000"/>
                  </a:schemeClr>
                </a:solidFill>
              </a:rPr>
              <a:t>Filtering</a:t>
            </a:r>
          </a:p>
        </p:txBody>
      </p:sp>
    </p:spTree>
    <p:extLst>
      <p:ext uri="{BB962C8B-B14F-4D97-AF65-F5344CB8AC3E}">
        <p14:creationId xmlns:p14="http://schemas.microsoft.com/office/powerpoint/2010/main" val="21284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8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7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0CF05-75FD-A224-7402-43C23D665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404B4AFA-2659-A215-AD4D-3F7E1FBD88D4}"/>
              </a:ext>
            </a:extLst>
          </p:cNvPr>
          <p:cNvCxnSpPr>
            <a:stCxn id="170" idx="0"/>
            <a:endCxn id="147" idx="4"/>
          </p:cNvCxnSpPr>
          <p:nvPr/>
        </p:nvCxnSpPr>
        <p:spPr>
          <a:xfrm flipV="1">
            <a:off x="6371259" y="2345675"/>
            <a:ext cx="0" cy="62393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>
            <a:extLst>
              <a:ext uri="{FF2B5EF4-FFF2-40B4-BE49-F238E27FC236}">
                <a16:creationId xmlns:a16="http://schemas.microsoft.com/office/drawing/2014/main" id="{44476555-0063-B9B4-7308-7420A95DE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Learning-based Application Strategy</a:t>
            </a:r>
          </a:p>
        </p:txBody>
      </p:sp>
      <p:sp>
        <p:nvSpPr>
          <p:cNvPr id="32" name="내용 개체 틀 1">
            <a:extLst>
              <a:ext uri="{FF2B5EF4-FFF2-40B4-BE49-F238E27FC236}">
                <a16:creationId xmlns:a16="http://schemas.microsoft.com/office/drawing/2014/main" id="{CA03C44F-832C-4611-1872-4AC1E015F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(VMM)</a:t>
            </a:r>
            <a:r>
              <a:rPr lang="ko-KR" altLang="en-US" sz="1400" dirty="0"/>
              <a:t>작은 움직임을 확대해 눈에 보이게 함</a:t>
            </a:r>
            <a:br>
              <a:rPr lang="ko-KR" altLang="en-US" sz="1400" dirty="0"/>
            </a:br>
            <a:r>
              <a:rPr lang="ko-KR" altLang="en-US" sz="1400" dirty="0"/>
              <a:t>→ 하지만 모든 방향을 동일하게 증폭 → 복잡한 진동</a:t>
            </a:r>
            <a:r>
              <a:rPr lang="en-US" altLang="ko-KR" sz="1400" dirty="0"/>
              <a:t>·</a:t>
            </a:r>
            <a:r>
              <a:rPr lang="ko-KR" altLang="en-US" sz="1400" dirty="0"/>
              <a:t>잡음으로 분석 어려움</a:t>
            </a:r>
            <a:endParaRPr lang="en-US" altLang="ko-KR" sz="1400" b="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6EA4FBB-A9E5-B757-FDAD-9D7D5F03D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15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4250B-0458-9644-BE8C-695E54E2CDCF}"/>
              </a:ext>
            </a:extLst>
          </p:cNvPr>
          <p:cNvSpPr/>
          <p:nvPr/>
        </p:nvSpPr>
        <p:spPr>
          <a:xfrm>
            <a:off x="166865" y="4743256"/>
            <a:ext cx="799547" cy="737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58870A-D9DD-1B02-5658-4CA124626959}"/>
              </a:ext>
            </a:extLst>
          </p:cNvPr>
          <p:cNvSpPr/>
          <p:nvPr/>
        </p:nvSpPr>
        <p:spPr>
          <a:xfrm>
            <a:off x="1399317" y="1683027"/>
            <a:ext cx="317103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9FC1E2-6FA4-BD68-0C4E-27DEAC12DD51}"/>
              </a:ext>
            </a:extLst>
          </p:cNvPr>
          <p:cNvSpPr/>
          <p:nvPr/>
        </p:nvSpPr>
        <p:spPr>
          <a:xfrm>
            <a:off x="1399316" y="4094923"/>
            <a:ext cx="3171039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4FF3DF-16B3-3EDB-5C90-4D3E872C19DA}"/>
              </a:ext>
            </a:extLst>
          </p:cNvPr>
          <p:cNvSpPr/>
          <p:nvPr/>
        </p:nvSpPr>
        <p:spPr>
          <a:xfrm>
            <a:off x="4888527" y="1677746"/>
            <a:ext cx="1808848" cy="19789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081EFC8-8D31-A515-B5A0-8EA025B24F78}"/>
              </a:ext>
            </a:extLst>
          </p:cNvPr>
          <p:cNvSpPr/>
          <p:nvPr/>
        </p:nvSpPr>
        <p:spPr>
          <a:xfrm>
            <a:off x="6867685" y="1683027"/>
            <a:ext cx="2680217" cy="439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Smiley Face 10">
            <a:extLst>
              <a:ext uri="{FF2B5EF4-FFF2-40B4-BE49-F238E27FC236}">
                <a16:creationId xmlns:a16="http://schemas.microsoft.com/office/drawing/2014/main" id="{D554632C-FFFE-B848-5E04-168DE732CFC5}"/>
              </a:ext>
            </a:extLst>
          </p:cNvPr>
          <p:cNvSpPr/>
          <p:nvPr/>
        </p:nvSpPr>
        <p:spPr>
          <a:xfrm>
            <a:off x="244530" y="4822768"/>
            <a:ext cx="247374" cy="229705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3D4365-E50C-B716-3606-BCD2447E0661}"/>
              </a:ext>
            </a:extLst>
          </p:cNvPr>
          <p:cNvSpPr/>
          <p:nvPr/>
        </p:nvSpPr>
        <p:spPr>
          <a:xfrm>
            <a:off x="166865" y="2296425"/>
            <a:ext cx="799547" cy="7377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AECA2DED-ED08-A80F-1C67-FEA023AA726F}"/>
              </a:ext>
            </a:extLst>
          </p:cNvPr>
          <p:cNvSpPr/>
          <p:nvPr/>
        </p:nvSpPr>
        <p:spPr>
          <a:xfrm>
            <a:off x="244530" y="2375937"/>
            <a:ext cx="247374" cy="229705"/>
          </a:xfrm>
          <a:prstGeom prst="smileyFac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Smiley Face 13">
            <a:extLst>
              <a:ext uri="{FF2B5EF4-FFF2-40B4-BE49-F238E27FC236}">
                <a16:creationId xmlns:a16="http://schemas.microsoft.com/office/drawing/2014/main" id="{4A3DC674-7BEC-A7C8-8585-E264ECF9F286}"/>
              </a:ext>
            </a:extLst>
          </p:cNvPr>
          <p:cNvSpPr/>
          <p:nvPr/>
        </p:nvSpPr>
        <p:spPr>
          <a:xfrm>
            <a:off x="358097" y="2475328"/>
            <a:ext cx="247374" cy="229705"/>
          </a:xfrm>
          <a:prstGeom prst="smileyFac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D3EADB-3952-4444-BFCD-70E0CCD0FDCA}"/>
                  </a:ext>
                </a:extLst>
              </p:cNvPr>
              <p:cNvSpPr txBox="1"/>
              <p:nvPr/>
            </p:nvSpPr>
            <p:spPr>
              <a:xfrm>
                <a:off x="153973" y="5421325"/>
                <a:ext cx="6556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,3]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D3EADB-3952-4444-BFCD-70E0CCD0F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73" y="5421325"/>
                <a:ext cx="655621" cy="338554"/>
              </a:xfrm>
              <a:prstGeom prst="rect">
                <a:avLst/>
              </a:prstGeom>
              <a:blipFill>
                <a:blip r:embed="rId3"/>
                <a:stretch>
                  <a:fillRect r="-66667" b="-107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D13A63-0FF6-1C04-329C-65E4F01C7FA6}"/>
                  </a:ext>
                </a:extLst>
              </p:cNvPr>
              <p:cNvSpPr txBox="1"/>
              <p:nvPr/>
            </p:nvSpPr>
            <p:spPr>
              <a:xfrm>
                <a:off x="166865" y="2974494"/>
                <a:ext cx="137352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ko-KR" sz="160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,3]</m:t>
                    </m:r>
                  </m:oMath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D13A63-0FF6-1C04-329C-65E4F01C7F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65" y="2974494"/>
                <a:ext cx="1373522" cy="338554"/>
              </a:xfrm>
              <a:prstGeom prst="rect">
                <a:avLst/>
              </a:prstGeom>
              <a:blipFill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3A1B0F-95CC-7167-89DF-2A3E08C09DE6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66412" y="5112108"/>
            <a:ext cx="432905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627CDC4-E38E-BB1B-3982-6EE834AB6507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966412" y="2665277"/>
            <a:ext cx="4329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51B6C99-7550-73F0-DA3A-8CE1B9626DA8}"/>
              </a:ext>
            </a:extLst>
          </p:cNvPr>
          <p:cNvSpPr txBox="1"/>
          <p:nvPr/>
        </p:nvSpPr>
        <p:spPr>
          <a:xfrm>
            <a:off x="1328409" y="3746813"/>
            <a:ext cx="10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ECBB03-5BBA-6D0F-FA98-663474376B52}"/>
              </a:ext>
            </a:extLst>
          </p:cNvPr>
          <p:cNvSpPr txBox="1"/>
          <p:nvPr/>
        </p:nvSpPr>
        <p:spPr>
          <a:xfrm>
            <a:off x="1328409" y="1340199"/>
            <a:ext cx="104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Encoder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987CAF-4E60-5972-E901-7482DB686748}"/>
              </a:ext>
            </a:extLst>
          </p:cNvPr>
          <p:cNvSpPr txBox="1"/>
          <p:nvPr/>
        </p:nvSpPr>
        <p:spPr>
          <a:xfrm>
            <a:off x="4793189" y="1329636"/>
            <a:ext cx="1464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Manipulator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F6EC23-17A1-C4C7-CD38-C98C3296DD8C}"/>
              </a:ext>
            </a:extLst>
          </p:cNvPr>
          <p:cNvSpPr txBox="1"/>
          <p:nvPr/>
        </p:nvSpPr>
        <p:spPr>
          <a:xfrm>
            <a:off x="6867685" y="1340199"/>
            <a:ext cx="126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Decoder</a:t>
            </a:r>
            <a:endParaRPr lang="ko-KR" alt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938F37-7DE5-B4AE-413D-FD63BC8181FE}"/>
              </a:ext>
            </a:extLst>
          </p:cNvPr>
          <p:cNvGrpSpPr/>
          <p:nvPr/>
        </p:nvGrpSpPr>
        <p:grpSpPr>
          <a:xfrm>
            <a:off x="1399317" y="1892853"/>
            <a:ext cx="369332" cy="1585843"/>
            <a:chOff x="1507123" y="1925983"/>
            <a:chExt cx="369332" cy="1585843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D689229-2252-137E-06C5-6201BF4E5630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5C9FAC8-E608-0933-5705-FF61E7D01B79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Conv16_k7s1_Relu</a:t>
              </a:r>
              <a:endParaRPr lang="ko-KR" altLang="en-US" sz="12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04FB771-162C-5EBC-C1B3-DD858729DBC7}"/>
              </a:ext>
            </a:extLst>
          </p:cNvPr>
          <p:cNvGrpSpPr/>
          <p:nvPr/>
        </p:nvGrpSpPr>
        <p:grpSpPr>
          <a:xfrm>
            <a:off x="1706697" y="1892853"/>
            <a:ext cx="369332" cy="1585843"/>
            <a:chOff x="1507123" y="1925983"/>
            <a:chExt cx="369332" cy="1585843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8F76A403-4428-A05A-145C-4CAC9E3BD618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1CCF6FF-1AEA-D6D1-B2CA-A37DAB8948D3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Conv32_k3s2_Relu</a:t>
              </a:r>
              <a:endParaRPr lang="ko-KR" altLang="en-US" sz="1200" dirty="0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5BCDF9E-84A5-8A84-9579-BED23E62084F}"/>
              </a:ext>
            </a:extLst>
          </p:cNvPr>
          <p:cNvGrpSpPr/>
          <p:nvPr/>
        </p:nvGrpSpPr>
        <p:grpSpPr>
          <a:xfrm>
            <a:off x="2368502" y="21752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2F238B8A-38D2-6A62-903E-501596F83EC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A920F06-0F51-F5B7-25C7-CED7DE8680D2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4F685D-E8B7-5009-19DB-C2811EE0B335}"/>
              </a:ext>
            </a:extLst>
          </p:cNvPr>
          <p:cNvGrpSpPr/>
          <p:nvPr/>
        </p:nvGrpSpPr>
        <p:grpSpPr>
          <a:xfrm>
            <a:off x="2086158" y="21752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F62F287-EEAD-E086-3070-D001B0CF453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2B58EE-BA57-B6F1-7621-7E85473C16E0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1E5B9A8-7B63-480E-5852-22E1DEC1EEB3}"/>
              </a:ext>
            </a:extLst>
          </p:cNvPr>
          <p:cNvGrpSpPr/>
          <p:nvPr/>
        </p:nvGrpSpPr>
        <p:grpSpPr>
          <a:xfrm>
            <a:off x="2667485" y="21752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4B4F1B7-32EE-B42C-2CB2-A33ADF0A3DC9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4059947-A843-B0C9-305F-D71F06CF8E1A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71062F4-A7BE-A566-DD0A-280943C39E90}"/>
              </a:ext>
            </a:extLst>
          </p:cNvPr>
          <p:cNvGrpSpPr/>
          <p:nvPr/>
        </p:nvGrpSpPr>
        <p:grpSpPr>
          <a:xfrm>
            <a:off x="3134097" y="2685772"/>
            <a:ext cx="492443" cy="925748"/>
            <a:chOff x="1544453" y="1925983"/>
            <a:chExt cx="328439" cy="1585843"/>
          </a:xfrm>
        </p:grpSpPr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2C2D2BE8-AB31-CE46-9463-6BC1769E7BF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9F3989E-106F-8199-7BBF-BE409A6CFFEC}"/>
                </a:ext>
              </a:extLst>
            </p:cNvPr>
            <p:cNvSpPr txBox="1"/>
            <p:nvPr/>
          </p:nvSpPr>
          <p:spPr>
            <a:xfrm>
              <a:off x="1544453" y="1972365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5743193-FEF5-CE6E-BD58-20219E8F074B}"/>
              </a:ext>
            </a:extLst>
          </p:cNvPr>
          <p:cNvGrpSpPr/>
          <p:nvPr/>
        </p:nvGrpSpPr>
        <p:grpSpPr>
          <a:xfrm>
            <a:off x="3134099" y="1712391"/>
            <a:ext cx="492443" cy="925748"/>
            <a:chOff x="1544455" y="1925983"/>
            <a:chExt cx="328439" cy="1585843"/>
          </a:xfrm>
        </p:grpSpPr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6BFA0FA4-85DB-365C-4398-B6D7CCA37610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B6C456B8-342A-FF81-7F3B-023BF5922CA0}"/>
                </a:ext>
              </a:extLst>
            </p:cNvPr>
            <p:cNvSpPr txBox="1"/>
            <p:nvPr/>
          </p:nvSpPr>
          <p:spPr>
            <a:xfrm>
              <a:off x="1544455" y="1972365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Conv32_k3s1</a:t>
              </a:r>
              <a:endParaRPr lang="ko-KR" altLang="en-US" sz="1000" dirty="0"/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8D6546C-6765-8423-F208-53898DF7D299}"/>
              </a:ext>
            </a:extLst>
          </p:cNvPr>
          <p:cNvCxnSpPr>
            <a:cxnSpLocks/>
            <a:endCxn id="50" idx="1"/>
          </p:cNvCxnSpPr>
          <p:nvPr/>
        </p:nvCxnSpPr>
        <p:spPr>
          <a:xfrm flipV="1">
            <a:off x="2973548" y="2175265"/>
            <a:ext cx="160551" cy="53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B001EBD-981E-6D99-3395-3BA673E172BA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2980056" y="2712848"/>
            <a:ext cx="154041" cy="43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F03646-95AD-562A-E7BA-27E9C8A00400}"/>
              </a:ext>
            </a:extLst>
          </p:cNvPr>
          <p:cNvGrpSpPr/>
          <p:nvPr/>
        </p:nvGrpSpPr>
        <p:grpSpPr>
          <a:xfrm>
            <a:off x="3712276" y="1892853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3809447E-F5BE-B95A-7133-FD80384D39B4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55E6667-B050-4315-5658-0A4E0DC14B65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10A1D5C-B783-CC7C-7485-579FD9D63539}"/>
              </a:ext>
            </a:extLst>
          </p:cNvPr>
          <p:cNvGrpSpPr/>
          <p:nvPr/>
        </p:nvGrpSpPr>
        <p:grpSpPr>
          <a:xfrm>
            <a:off x="4001292" y="1892853"/>
            <a:ext cx="346249" cy="617639"/>
            <a:chOff x="1520680" y="1925983"/>
            <a:chExt cx="346249" cy="162986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674F33FB-01EF-FE3E-D923-AB81F1B0EEA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AC18020-C95D-B666-23D4-E15BD39D556C}"/>
                </a:ext>
              </a:extLst>
            </p:cNvPr>
            <p:cNvSpPr txBox="1"/>
            <p:nvPr/>
          </p:nvSpPr>
          <p:spPr>
            <a:xfrm>
              <a:off x="1520680" y="1988170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0652FF8-F250-D0DC-F385-0061E1B3A274}"/>
              </a:ext>
            </a:extLst>
          </p:cNvPr>
          <p:cNvGrpSpPr/>
          <p:nvPr/>
        </p:nvGrpSpPr>
        <p:grpSpPr>
          <a:xfrm>
            <a:off x="3712276" y="2828042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6" name="Rectangle: Rounded Corners 65">
              <a:extLst>
                <a:ext uri="{FF2B5EF4-FFF2-40B4-BE49-F238E27FC236}">
                  <a16:creationId xmlns:a16="http://schemas.microsoft.com/office/drawing/2014/main" id="{8FB1B181-1D5D-8177-167A-28CB3CCB5E5B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847B9A-D42B-FA21-C35E-61A49E742737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7EFE00F-C893-B922-9C5C-CBC3A0795695}"/>
              </a:ext>
            </a:extLst>
          </p:cNvPr>
          <p:cNvGrpSpPr/>
          <p:nvPr/>
        </p:nvGrpSpPr>
        <p:grpSpPr>
          <a:xfrm>
            <a:off x="3997856" y="2828042"/>
            <a:ext cx="346249" cy="619358"/>
            <a:chOff x="1517244" y="1925983"/>
            <a:chExt cx="346249" cy="1634398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404AAAB0-F92B-CEA6-78E3-05DB59DD82EC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F513A39-4207-6266-22A7-799CADBD46FA}"/>
                </a:ext>
              </a:extLst>
            </p:cNvPr>
            <p:cNvSpPr txBox="1"/>
            <p:nvPr/>
          </p:nvSpPr>
          <p:spPr>
            <a:xfrm>
              <a:off x="1517244" y="1992707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A1DDC74-3BAA-5675-CF36-31B618C995C9}"/>
              </a:ext>
            </a:extLst>
          </p:cNvPr>
          <p:cNvGrpSpPr/>
          <p:nvPr/>
        </p:nvGrpSpPr>
        <p:grpSpPr>
          <a:xfrm>
            <a:off x="1399317" y="4296607"/>
            <a:ext cx="369332" cy="1585843"/>
            <a:chOff x="1507123" y="1925983"/>
            <a:chExt cx="369332" cy="1585843"/>
          </a:xfrm>
        </p:grpSpPr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13BC3AA1-0CFD-75DF-1C3D-518900A813E4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0BA3AE69-1E81-2C03-3D92-853819BE829F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Conv16_k7s1_Relu</a:t>
              </a:r>
              <a:endParaRPr lang="ko-KR" altLang="en-US" sz="1200" dirty="0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A3BD828-3F2B-4C27-2EF8-DB03323AADCA}"/>
              </a:ext>
            </a:extLst>
          </p:cNvPr>
          <p:cNvGrpSpPr/>
          <p:nvPr/>
        </p:nvGrpSpPr>
        <p:grpSpPr>
          <a:xfrm>
            <a:off x="1706697" y="4296607"/>
            <a:ext cx="369332" cy="1585843"/>
            <a:chOff x="1507123" y="1925983"/>
            <a:chExt cx="369332" cy="1585843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0971A5AD-C180-B8F8-4AA7-C922C7632E2C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2B32877-738C-E060-565E-2E1C877F2476}"/>
                </a:ext>
              </a:extLst>
            </p:cNvPr>
            <p:cNvSpPr txBox="1"/>
            <p:nvPr/>
          </p:nvSpPr>
          <p:spPr>
            <a:xfrm>
              <a:off x="1507123" y="2018747"/>
              <a:ext cx="369332" cy="14276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Conv32_k3s2_Relu</a:t>
              </a:r>
              <a:endParaRPr lang="ko-KR" altLang="en-US" sz="1200" dirty="0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F18926B-D718-91A1-3A16-04E17546D164}"/>
              </a:ext>
            </a:extLst>
          </p:cNvPr>
          <p:cNvGrpSpPr/>
          <p:nvPr/>
        </p:nvGrpSpPr>
        <p:grpSpPr>
          <a:xfrm>
            <a:off x="2368502" y="4579019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78" name="Rectangle: Rounded Corners 77">
              <a:extLst>
                <a:ext uri="{FF2B5EF4-FFF2-40B4-BE49-F238E27FC236}">
                  <a16:creationId xmlns:a16="http://schemas.microsoft.com/office/drawing/2014/main" id="{9C7C7369-FC52-5AF3-F55F-46ED9EF8DD0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956AA30-AD65-17CC-EC63-35E898315E98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C0B99C5-D761-1F8F-4B4A-B67B38E2CFC2}"/>
              </a:ext>
            </a:extLst>
          </p:cNvPr>
          <p:cNvGrpSpPr/>
          <p:nvPr/>
        </p:nvGrpSpPr>
        <p:grpSpPr>
          <a:xfrm>
            <a:off x="2086158" y="4579019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CD864972-097E-AEDD-8924-7217DF806E3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5D8F106-BF22-A48A-F1D7-EDCE3D36B241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DF8EE9C-5D3E-28BF-A9D2-50AB806E4564}"/>
              </a:ext>
            </a:extLst>
          </p:cNvPr>
          <p:cNvGrpSpPr/>
          <p:nvPr/>
        </p:nvGrpSpPr>
        <p:grpSpPr>
          <a:xfrm>
            <a:off x="2667485" y="4579019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78D9A58E-E185-B879-D962-01C2ED1D2C47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3FEA59B-A11A-69E7-8DB9-5BCE26061325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BF9FBD-A455-CA5B-7519-6DC3A1514A6B}"/>
              </a:ext>
            </a:extLst>
          </p:cNvPr>
          <p:cNvGrpSpPr/>
          <p:nvPr/>
        </p:nvGrpSpPr>
        <p:grpSpPr>
          <a:xfrm>
            <a:off x="3134097" y="5089526"/>
            <a:ext cx="492443" cy="925748"/>
            <a:chOff x="1544453" y="1925983"/>
            <a:chExt cx="328439" cy="1585843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8BCC3CDE-E2C7-013A-3755-C5F93DB851A6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E207141-AD54-2B47-6AC2-7EC13B47DD4F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7EA8EC1-EF68-E575-7381-55F1663C1161}"/>
              </a:ext>
            </a:extLst>
          </p:cNvPr>
          <p:cNvGrpSpPr/>
          <p:nvPr/>
        </p:nvGrpSpPr>
        <p:grpSpPr>
          <a:xfrm>
            <a:off x="3134097" y="4116145"/>
            <a:ext cx="492443" cy="925748"/>
            <a:chOff x="1544453" y="1925983"/>
            <a:chExt cx="328439" cy="1585843"/>
          </a:xfrm>
        </p:grpSpPr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33F86502-5C9D-93EE-B14D-CEFB8F072FD2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774B504-8722-18F4-2455-90460D3B3BFB}"/>
                </a:ext>
              </a:extLst>
            </p:cNvPr>
            <p:cNvSpPr txBox="1"/>
            <p:nvPr/>
          </p:nvSpPr>
          <p:spPr>
            <a:xfrm>
              <a:off x="1544453" y="1972366"/>
              <a:ext cx="328439" cy="149307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000" dirty="0"/>
                <a:t>Relu</a:t>
              </a:r>
            </a:p>
            <a:p>
              <a:pPr algn="ctr"/>
              <a:r>
                <a:rPr lang="en-US" altLang="ko-KR" sz="1000" dirty="0"/>
                <a:t>Conv32_k3s2</a:t>
              </a:r>
              <a:endParaRPr lang="ko-KR" altLang="en-US" sz="1000" dirty="0"/>
            </a:p>
          </p:txBody>
        </p: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2F96C955-E958-9DE5-E0DB-EAB1EB571B4B}"/>
              </a:ext>
            </a:extLst>
          </p:cNvPr>
          <p:cNvCxnSpPr>
            <a:cxnSpLocks/>
            <a:endCxn id="91" idx="1"/>
          </p:cNvCxnSpPr>
          <p:nvPr/>
        </p:nvCxnSpPr>
        <p:spPr>
          <a:xfrm flipV="1">
            <a:off x="2973546" y="4579019"/>
            <a:ext cx="160551" cy="5375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C790CA1-6E16-E036-0560-7BC235FE60C6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2980056" y="5116602"/>
            <a:ext cx="154041" cy="435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2457EFE-3210-CC03-F7C0-4D673AFC10E2}"/>
              </a:ext>
            </a:extLst>
          </p:cNvPr>
          <p:cNvGrpSpPr/>
          <p:nvPr/>
        </p:nvGrpSpPr>
        <p:grpSpPr>
          <a:xfrm>
            <a:off x="3712276" y="4296607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5" name="Rectangle: Rounded Corners 94">
              <a:extLst>
                <a:ext uri="{FF2B5EF4-FFF2-40B4-BE49-F238E27FC236}">
                  <a16:creationId xmlns:a16="http://schemas.microsoft.com/office/drawing/2014/main" id="{CBA912E4-BDBA-281F-8F22-7AB5569DA665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6D19F5C-A971-BBBC-EB49-2F2DD89AD825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B01A0024-47B3-7E80-C0D9-6B3D05BD5F84}"/>
              </a:ext>
            </a:extLst>
          </p:cNvPr>
          <p:cNvGrpSpPr/>
          <p:nvPr/>
        </p:nvGrpSpPr>
        <p:grpSpPr>
          <a:xfrm>
            <a:off x="3992977" y="4296607"/>
            <a:ext cx="346249" cy="602038"/>
            <a:chOff x="1512365" y="1925983"/>
            <a:chExt cx="346249" cy="1588692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98" name="Rectangle: Rounded Corners 97">
              <a:extLst>
                <a:ext uri="{FF2B5EF4-FFF2-40B4-BE49-F238E27FC236}">
                  <a16:creationId xmlns:a16="http://schemas.microsoft.com/office/drawing/2014/main" id="{6C2FA6D1-EBC7-81A0-3532-67EAF0ACE847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43AFD75-2654-09D8-C90C-90FDD39B0224}"/>
                </a:ext>
              </a:extLst>
            </p:cNvPr>
            <p:cNvSpPr txBox="1"/>
            <p:nvPr/>
          </p:nvSpPr>
          <p:spPr>
            <a:xfrm>
              <a:off x="1512365" y="1947001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39958F2-95C9-8597-156B-490205D01390}"/>
              </a:ext>
            </a:extLst>
          </p:cNvPr>
          <p:cNvGrpSpPr/>
          <p:nvPr/>
        </p:nvGrpSpPr>
        <p:grpSpPr>
          <a:xfrm>
            <a:off x="3712276" y="5231796"/>
            <a:ext cx="346249" cy="600958"/>
            <a:chOff x="1536533" y="1925983"/>
            <a:chExt cx="346249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1" name="Rectangle: Rounded Corners 100">
              <a:extLst>
                <a:ext uri="{FF2B5EF4-FFF2-40B4-BE49-F238E27FC236}">
                  <a16:creationId xmlns:a16="http://schemas.microsoft.com/office/drawing/2014/main" id="{C2BA8E05-8E09-4F6B-B360-5FD34EE5147A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8646124-8C49-88B2-8DA2-0ACD62CFF61C}"/>
                </a:ext>
              </a:extLst>
            </p:cNvPr>
            <p:cNvSpPr txBox="1"/>
            <p:nvPr/>
          </p:nvSpPr>
          <p:spPr>
            <a:xfrm>
              <a:off x="1536533" y="1925983"/>
              <a:ext cx="346249" cy="156767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E249BCE-2EB6-26EA-0AB2-4EA0D9F903CC}"/>
              </a:ext>
            </a:extLst>
          </p:cNvPr>
          <p:cNvGrpSpPr/>
          <p:nvPr/>
        </p:nvGrpSpPr>
        <p:grpSpPr>
          <a:xfrm>
            <a:off x="4009776" y="5231796"/>
            <a:ext cx="346249" cy="617078"/>
            <a:chOff x="1529164" y="1925983"/>
            <a:chExt cx="346249" cy="1628381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0C15045C-0378-1EDB-C215-1C5CBE177CF1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9FECD991-8FEF-6491-C84E-819650E94602}"/>
                </a:ext>
              </a:extLst>
            </p:cNvPr>
            <p:cNvSpPr txBox="1"/>
            <p:nvPr/>
          </p:nvSpPr>
          <p:spPr>
            <a:xfrm>
              <a:off x="1529164" y="1986690"/>
              <a:ext cx="346249" cy="1567674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050" dirty="0" err="1"/>
                <a:t>Res.Blk</a:t>
              </a:r>
              <a:r>
                <a:rPr lang="en-US" altLang="ko-KR" sz="1050" dirty="0"/>
                <a:t>.</a:t>
              </a:r>
              <a:endParaRPr lang="ko-KR" altLang="en-US" sz="105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984DD41-34AE-34AC-8DC7-EA2A1CDFD254}"/>
                  </a:ext>
                </a:extLst>
              </p:cNvPr>
              <p:cNvSpPr txBox="1"/>
              <p:nvPr/>
            </p:nvSpPr>
            <p:spPr>
              <a:xfrm>
                <a:off x="4119257" y="1918138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7984DD41-34AE-34AC-8DC7-EA2A1CDFD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57" y="1918138"/>
                <a:ext cx="638474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BB03273-EA8A-E629-6CF0-461589724CB2}"/>
                  </a:ext>
                </a:extLst>
              </p:cNvPr>
              <p:cNvSpPr txBox="1"/>
              <p:nvPr/>
            </p:nvSpPr>
            <p:spPr>
              <a:xfrm>
                <a:off x="4212945" y="4322515"/>
                <a:ext cx="4510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BB03273-EA8A-E629-6CF0-461589724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945" y="4322515"/>
                <a:ext cx="451098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9036318-2FF3-FD2B-8ECC-24465437FFEE}"/>
                  </a:ext>
                </a:extLst>
              </p:cNvPr>
              <p:cNvSpPr txBox="1"/>
              <p:nvPr/>
            </p:nvSpPr>
            <p:spPr>
              <a:xfrm>
                <a:off x="4119257" y="2967339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A9036318-2FF3-FD2B-8ECC-24465437F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57" y="2967339"/>
                <a:ext cx="638474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2421477-EACA-0941-E7C0-CE75411949BA}"/>
                  </a:ext>
                </a:extLst>
              </p:cNvPr>
              <p:cNvSpPr txBox="1"/>
              <p:nvPr/>
            </p:nvSpPr>
            <p:spPr>
              <a:xfrm>
                <a:off x="4119257" y="5238495"/>
                <a:ext cx="638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92421477-EACA-0941-E7C0-CE7541194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257" y="5238495"/>
                <a:ext cx="638474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7" name="Oval 146">
            <a:extLst>
              <a:ext uri="{FF2B5EF4-FFF2-40B4-BE49-F238E27FC236}">
                <a16:creationId xmlns:a16="http://schemas.microsoft.com/office/drawing/2014/main" id="{1F7162EC-017B-D0C8-90F4-B128CA0DD89A}"/>
              </a:ext>
            </a:extLst>
          </p:cNvPr>
          <p:cNvSpPr/>
          <p:nvPr/>
        </p:nvSpPr>
        <p:spPr>
          <a:xfrm>
            <a:off x="6208200" y="2027622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0D3AB15-1336-9C27-946D-A6017BB8BA4A}"/>
              </a:ext>
            </a:extLst>
          </p:cNvPr>
          <p:cNvCxnSpPr>
            <a:cxnSpLocks/>
            <a:endCxn id="147" idx="2"/>
          </p:cNvCxnSpPr>
          <p:nvPr/>
        </p:nvCxnSpPr>
        <p:spPr>
          <a:xfrm flipV="1">
            <a:off x="4288770" y="2186649"/>
            <a:ext cx="1919430" cy="668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Plus Sign 149">
            <a:extLst>
              <a:ext uri="{FF2B5EF4-FFF2-40B4-BE49-F238E27FC236}">
                <a16:creationId xmlns:a16="http://schemas.microsoft.com/office/drawing/2014/main" id="{B8E8D91E-A80A-24DC-4B08-F9C338AC5DF5}"/>
              </a:ext>
            </a:extLst>
          </p:cNvPr>
          <p:cNvSpPr/>
          <p:nvPr/>
        </p:nvSpPr>
        <p:spPr>
          <a:xfrm>
            <a:off x="6245410" y="2047217"/>
            <a:ext cx="251696" cy="273892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33795C42-BDD8-76A7-A3B6-E3B946BFD175}"/>
              </a:ext>
            </a:extLst>
          </p:cNvPr>
          <p:cNvSpPr/>
          <p:nvPr/>
        </p:nvSpPr>
        <p:spPr>
          <a:xfrm>
            <a:off x="5234609" y="2962811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Minus Sign 158">
            <a:extLst>
              <a:ext uri="{FF2B5EF4-FFF2-40B4-BE49-F238E27FC236}">
                <a16:creationId xmlns:a16="http://schemas.microsoft.com/office/drawing/2014/main" id="{7931D916-965B-F631-ACDF-0F727943AC3D}"/>
              </a:ext>
            </a:extLst>
          </p:cNvPr>
          <p:cNvSpPr/>
          <p:nvPr/>
        </p:nvSpPr>
        <p:spPr>
          <a:xfrm>
            <a:off x="5234608" y="3018378"/>
            <a:ext cx="326117" cy="219410"/>
          </a:xfrm>
          <a:prstGeom prst="mathMin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7BF556AD-C1D6-5243-17B5-14E69282BAEE}"/>
              </a:ext>
            </a:extLst>
          </p:cNvPr>
          <p:cNvGrpSpPr/>
          <p:nvPr/>
        </p:nvGrpSpPr>
        <p:grpSpPr>
          <a:xfrm>
            <a:off x="5669795" y="2740560"/>
            <a:ext cx="366972" cy="766212"/>
            <a:chOff x="1557558" y="1925983"/>
            <a:chExt cx="353184" cy="1585843"/>
          </a:xfrm>
        </p:grpSpPr>
        <p:sp>
          <p:nvSpPr>
            <p:cNvPr id="163" name="Rectangle: Rounded Corners 162">
              <a:extLst>
                <a:ext uri="{FF2B5EF4-FFF2-40B4-BE49-F238E27FC236}">
                  <a16:creationId xmlns:a16="http://schemas.microsoft.com/office/drawing/2014/main" id="{899C4F6A-6C7D-D051-591E-E2A39E52EA58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15997B4A-ECF6-5A63-8AAF-9CA210A4EE39}"/>
                </a:ext>
              </a:extLst>
            </p:cNvPr>
            <p:cNvSpPr txBox="1"/>
            <p:nvPr/>
          </p:nvSpPr>
          <p:spPr>
            <a:xfrm>
              <a:off x="1581295" y="1981507"/>
              <a:ext cx="329447" cy="1493076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800" dirty="0"/>
                <a:t>Relu</a:t>
              </a:r>
            </a:p>
            <a:p>
              <a:pPr algn="ctr"/>
              <a:r>
                <a:rPr lang="en-US" altLang="ko-KR" sz="800" dirty="0"/>
                <a:t>Conv32_k3s1</a:t>
              </a:r>
              <a:endParaRPr lang="ko-KR" altLang="en-US" sz="800" dirty="0"/>
            </a:p>
          </p:txBody>
        </p:sp>
      </p:grp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59B9999E-98B4-0408-2669-8558EC91DBDC}"/>
              </a:ext>
            </a:extLst>
          </p:cNvPr>
          <p:cNvCxnSpPr>
            <a:cxnSpLocks/>
            <a:stCxn id="147" idx="6"/>
          </p:cNvCxnSpPr>
          <p:nvPr/>
        </p:nvCxnSpPr>
        <p:spPr>
          <a:xfrm>
            <a:off x="6534317" y="2186649"/>
            <a:ext cx="33336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0" name="Oval 169">
            <a:extLst>
              <a:ext uri="{FF2B5EF4-FFF2-40B4-BE49-F238E27FC236}">
                <a16:creationId xmlns:a16="http://schemas.microsoft.com/office/drawing/2014/main" id="{DF482A4C-269E-8B99-0BB1-B7800017DF02}"/>
              </a:ext>
            </a:extLst>
          </p:cNvPr>
          <p:cNvSpPr/>
          <p:nvPr/>
        </p:nvSpPr>
        <p:spPr>
          <a:xfrm>
            <a:off x="6208200" y="2969614"/>
            <a:ext cx="326117" cy="31805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Multiplication Sign 171">
            <a:extLst>
              <a:ext uri="{FF2B5EF4-FFF2-40B4-BE49-F238E27FC236}">
                <a16:creationId xmlns:a16="http://schemas.microsoft.com/office/drawing/2014/main" id="{39AD301E-6272-451E-6ED9-5AE7D0F54672}"/>
              </a:ext>
            </a:extLst>
          </p:cNvPr>
          <p:cNvSpPr/>
          <p:nvPr/>
        </p:nvSpPr>
        <p:spPr>
          <a:xfrm>
            <a:off x="6238342" y="2974494"/>
            <a:ext cx="269074" cy="311009"/>
          </a:xfrm>
          <a:prstGeom prst="mathMultiply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4E12E513-50F4-5BF2-A27F-2FCE76349795}"/>
              </a:ext>
            </a:extLst>
          </p:cNvPr>
          <p:cNvCxnSpPr>
            <a:cxnSpLocks/>
            <a:endCxn id="170" idx="4"/>
          </p:cNvCxnSpPr>
          <p:nvPr/>
        </p:nvCxnSpPr>
        <p:spPr>
          <a:xfrm flipV="1">
            <a:off x="6371257" y="3287667"/>
            <a:ext cx="2" cy="5793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0D286BBC-5F42-256E-C5D8-3826B072847F}"/>
                  </a:ext>
                </a:extLst>
              </p:cNvPr>
              <p:cNvSpPr txBox="1"/>
              <p:nvPr/>
            </p:nvSpPr>
            <p:spPr>
              <a:xfrm>
                <a:off x="5992779" y="3810361"/>
                <a:ext cx="75695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76" name="TextBox 175">
                <a:extLst>
                  <a:ext uri="{FF2B5EF4-FFF2-40B4-BE49-F238E27FC236}">
                    <a16:creationId xmlns:a16="http://schemas.microsoft.com/office/drawing/2014/main" id="{0D286BBC-5F42-256E-C5D8-3826B0728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779" y="3810361"/>
                <a:ext cx="756955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14A65F1-2E9B-69C4-B8B5-68519FE478A2}"/>
              </a:ext>
            </a:extLst>
          </p:cNvPr>
          <p:cNvCxnSpPr>
            <a:cxnSpLocks/>
          </p:cNvCxnSpPr>
          <p:nvPr/>
        </p:nvCxnSpPr>
        <p:spPr>
          <a:xfrm>
            <a:off x="5022574" y="2193332"/>
            <a:ext cx="0" cy="92693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F1B066D5-CD66-4173-53F2-5013FD360D65}"/>
              </a:ext>
            </a:extLst>
          </p:cNvPr>
          <p:cNvCxnSpPr/>
          <p:nvPr/>
        </p:nvCxnSpPr>
        <p:spPr>
          <a:xfrm>
            <a:off x="5022574" y="3120268"/>
            <a:ext cx="212035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5492DBC6-2252-3DCD-109D-FB3CBEE8D718}"/>
              </a:ext>
            </a:extLst>
          </p:cNvPr>
          <p:cNvCxnSpPr>
            <a:cxnSpLocks/>
            <a:stCxn id="98" idx="3"/>
            <a:endCxn id="151" idx="4"/>
          </p:cNvCxnSpPr>
          <p:nvPr/>
        </p:nvCxnSpPr>
        <p:spPr>
          <a:xfrm flipV="1">
            <a:off x="4306633" y="3280864"/>
            <a:ext cx="1091035" cy="1316222"/>
          </a:xfrm>
          <a:prstGeom prst="bentConnector2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522BBA8-E3AE-F955-7F49-F00E19129FFE}"/>
              </a:ext>
            </a:extLst>
          </p:cNvPr>
          <p:cNvCxnSpPr>
            <a:cxnSpLocks/>
            <a:stCxn id="151" idx="6"/>
            <a:endCxn id="163" idx="1"/>
          </p:cNvCxnSpPr>
          <p:nvPr/>
        </p:nvCxnSpPr>
        <p:spPr>
          <a:xfrm>
            <a:off x="5560726" y="3121838"/>
            <a:ext cx="109068" cy="1828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2E337651-2F08-4DE3-BCDA-19F3E2919DE0}"/>
              </a:ext>
            </a:extLst>
          </p:cNvPr>
          <p:cNvCxnSpPr>
            <a:cxnSpLocks/>
            <a:stCxn id="170" idx="2"/>
            <a:endCxn id="163" idx="3"/>
          </p:cNvCxnSpPr>
          <p:nvPr/>
        </p:nvCxnSpPr>
        <p:spPr>
          <a:xfrm flipH="1" flipV="1">
            <a:off x="5948739" y="3123666"/>
            <a:ext cx="259461" cy="497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88809C2F-E04E-95E4-C443-39246A2E722D}"/>
              </a:ext>
            </a:extLst>
          </p:cNvPr>
          <p:cNvGrpSpPr/>
          <p:nvPr/>
        </p:nvGrpSpPr>
        <p:grpSpPr>
          <a:xfrm>
            <a:off x="5992779" y="2708762"/>
            <a:ext cx="735374" cy="205498"/>
            <a:chOff x="5992779" y="2708762"/>
            <a:chExt cx="735374" cy="205498"/>
          </a:xfrm>
        </p:grpSpPr>
        <p:sp>
          <p:nvSpPr>
            <p:cNvPr id="199" name="Rectangle: Rounded Corners 198">
              <a:extLst>
                <a:ext uri="{FF2B5EF4-FFF2-40B4-BE49-F238E27FC236}">
                  <a16:creationId xmlns:a16="http://schemas.microsoft.com/office/drawing/2014/main" id="{B3EADFCC-801E-CACF-ADC2-CC744D8CFF92}"/>
                </a:ext>
              </a:extLst>
            </p:cNvPr>
            <p:cNvSpPr/>
            <p:nvPr/>
          </p:nvSpPr>
          <p:spPr>
            <a:xfrm>
              <a:off x="6078469" y="2708804"/>
              <a:ext cx="568548" cy="205456"/>
            </a:xfrm>
            <a:prstGeom prst="roundRect">
              <a:avLst/>
            </a:prstGeom>
            <a:solidFill>
              <a:srgbClr val="B8C2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38E6B790-B8FE-4A9F-0C4B-E9101C4A0D0F}"/>
                </a:ext>
              </a:extLst>
            </p:cNvPr>
            <p:cNvSpPr txBox="1"/>
            <p:nvPr/>
          </p:nvSpPr>
          <p:spPr>
            <a:xfrm>
              <a:off x="5992779" y="2708762"/>
              <a:ext cx="735374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700" dirty="0"/>
                <a:t>Conv32_k3s1</a:t>
              </a:r>
              <a:endParaRPr lang="ko-KR" altLang="en-US" sz="700" dirty="0"/>
            </a:p>
          </p:txBody>
        </p:sp>
      </p:grpSp>
      <p:sp>
        <p:nvSpPr>
          <p:cNvPr id="203" name="Rectangle: Rounded Corners 202">
            <a:extLst>
              <a:ext uri="{FF2B5EF4-FFF2-40B4-BE49-F238E27FC236}">
                <a16:creationId xmlns:a16="http://schemas.microsoft.com/office/drawing/2014/main" id="{4EDCA26E-B3A9-E9F2-5CE6-415FF4B5A586}"/>
              </a:ext>
            </a:extLst>
          </p:cNvPr>
          <p:cNvSpPr/>
          <p:nvPr/>
        </p:nvSpPr>
        <p:spPr>
          <a:xfrm>
            <a:off x="6146944" y="2443613"/>
            <a:ext cx="455844" cy="205456"/>
          </a:xfrm>
          <a:prstGeom prst="roundRect">
            <a:avLst/>
          </a:prstGeom>
          <a:solidFill>
            <a:srgbClr val="BEE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F89787EB-E0B0-C804-4513-42EC033730FA}"/>
              </a:ext>
            </a:extLst>
          </p:cNvPr>
          <p:cNvSpPr txBox="1"/>
          <p:nvPr/>
        </p:nvSpPr>
        <p:spPr>
          <a:xfrm>
            <a:off x="6104097" y="2439400"/>
            <a:ext cx="5415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700" dirty="0"/>
              <a:t>Res. Blk</a:t>
            </a:r>
            <a:endParaRPr lang="ko-KR" altLang="en-US" sz="700" dirty="0"/>
          </a:p>
        </p:txBody>
      </p: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85974704-222E-F4CC-A314-48F515439CFC}"/>
              </a:ext>
            </a:extLst>
          </p:cNvPr>
          <p:cNvCxnSpPr>
            <a:cxnSpLocks/>
          </p:cNvCxnSpPr>
          <p:nvPr/>
        </p:nvCxnSpPr>
        <p:spPr>
          <a:xfrm flipH="1" flipV="1">
            <a:off x="4299351" y="3237431"/>
            <a:ext cx="390257" cy="2487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42EF0908-1942-3EF2-D6DE-25E41C767C12}"/>
              </a:ext>
            </a:extLst>
          </p:cNvPr>
          <p:cNvCxnSpPr/>
          <p:nvPr/>
        </p:nvCxnSpPr>
        <p:spPr>
          <a:xfrm>
            <a:off x="4689608" y="3237431"/>
            <a:ext cx="0" cy="174096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58695657-BA54-9647-997E-51D286D365EF}"/>
              </a:ext>
            </a:extLst>
          </p:cNvPr>
          <p:cNvCxnSpPr/>
          <p:nvPr/>
        </p:nvCxnSpPr>
        <p:spPr>
          <a:xfrm>
            <a:off x="4689608" y="4978400"/>
            <a:ext cx="217807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890339E3-635D-C00E-3FF7-8F130412B985}"/>
              </a:ext>
            </a:extLst>
          </p:cNvPr>
          <p:cNvSpPr/>
          <p:nvPr/>
        </p:nvSpPr>
        <p:spPr>
          <a:xfrm>
            <a:off x="6940667" y="1940411"/>
            <a:ext cx="278944" cy="76621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8FB35281-ACE9-8B7E-E8BB-AD3CB495BA73}"/>
              </a:ext>
            </a:extLst>
          </p:cNvPr>
          <p:cNvSpPr txBox="1"/>
          <p:nvPr/>
        </p:nvSpPr>
        <p:spPr>
          <a:xfrm>
            <a:off x="6910862" y="1974516"/>
            <a:ext cx="338554" cy="721391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altLang="ko-KR" sz="1000" dirty="0" err="1"/>
              <a:t>Upsample</a:t>
            </a:r>
            <a:endParaRPr lang="ko-KR" altLang="en-US" sz="1000" dirty="0"/>
          </a:p>
        </p:txBody>
      </p: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254320D-3973-C224-4FE2-02A8D8CF0D38}"/>
              </a:ext>
            </a:extLst>
          </p:cNvPr>
          <p:cNvGrpSpPr/>
          <p:nvPr/>
        </p:nvGrpSpPr>
        <p:grpSpPr>
          <a:xfrm>
            <a:off x="7246160" y="1940411"/>
            <a:ext cx="400110" cy="3333954"/>
            <a:chOff x="7246160" y="1940411"/>
            <a:chExt cx="400110" cy="3333954"/>
          </a:xfrm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C70EB60E-158C-7BF4-A4BE-42D8BC43E958}"/>
                </a:ext>
              </a:extLst>
            </p:cNvPr>
            <p:cNvSpPr/>
            <p:nvPr/>
          </p:nvSpPr>
          <p:spPr>
            <a:xfrm>
              <a:off x="7298610" y="1940411"/>
              <a:ext cx="278944" cy="33339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0E3C07E-B172-4936-70EB-9058164D9E8C}"/>
                </a:ext>
              </a:extLst>
            </p:cNvPr>
            <p:cNvSpPr txBox="1"/>
            <p:nvPr/>
          </p:nvSpPr>
          <p:spPr>
            <a:xfrm>
              <a:off x="7246160" y="3151250"/>
              <a:ext cx="400110" cy="7213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Concat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8887DAB2-F182-FBE4-C1E3-9C287BBE1096}"/>
              </a:ext>
            </a:extLst>
          </p:cNvPr>
          <p:cNvGrpSpPr/>
          <p:nvPr/>
        </p:nvGrpSpPr>
        <p:grpSpPr>
          <a:xfrm>
            <a:off x="7979248" y="30187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85A6EC7C-2B22-A109-F3B5-09B8F1B1F1EE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273BC0F6-60F8-238F-5832-1A1DCCB5D0A0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841068F4-264D-7C11-E3EB-CFFB46ADCDA6}"/>
              </a:ext>
            </a:extLst>
          </p:cNvPr>
          <p:cNvGrpSpPr/>
          <p:nvPr/>
        </p:nvGrpSpPr>
        <p:grpSpPr>
          <a:xfrm>
            <a:off x="7637164" y="3018765"/>
            <a:ext cx="369332" cy="1021017"/>
            <a:chOff x="1513450" y="1925983"/>
            <a:chExt cx="369332" cy="1585843"/>
          </a:xfrm>
          <a:solidFill>
            <a:schemeClr val="accent3">
              <a:lumMod val="40000"/>
              <a:lumOff val="60000"/>
            </a:schemeClr>
          </a:solidFill>
        </p:grpSpPr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5ABEF4AA-D044-9AC2-43C0-860C1058D037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F5E7236-58E0-F4BF-992A-EA947DDBA231}"/>
                </a:ext>
              </a:extLst>
            </p:cNvPr>
            <p:cNvSpPr txBox="1"/>
            <p:nvPr/>
          </p:nvSpPr>
          <p:spPr>
            <a:xfrm>
              <a:off x="1513450" y="2260890"/>
              <a:ext cx="369332" cy="664606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 err="1"/>
                <a:t>Res.Blk</a:t>
              </a:r>
              <a:r>
                <a:rPr lang="en-US" altLang="ko-KR" sz="1200" dirty="0"/>
                <a:t>.</a:t>
              </a:r>
              <a:endParaRPr lang="ko-KR" altLang="en-US" sz="1200" dirty="0"/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BFDFB41F-566E-01AB-E1C6-50C98EAD66AE}"/>
              </a:ext>
            </a:extLst>
          </p:cNvPr>
          <p:cNvGrpSpPr/>
          <p:nvPr/>
        </p:nvGrpSpPr>
        <p:grpSpPr>
          <a:xfrm>
            <a:off x="8304984" y="1940411"/>
            <a:ext cx="400110" cy="3333954"/>
            <a:chOff x="7253120" y="1940411"/>
            <a:chExt cx="400110" cy="3333954"/>
          </a:xfrm>
        </p:grpSpPr>
        <p:sp>
          <p:nvSpPr>
            <p:cNvPr id="229" name="Rectangle: Rounded Corners 228">
              <a:extLst>
                <a:ext uri="{FF2B5EF4-FFF2-40B4-BE49-F238E27FC236}">
                  <a16:creationId xmlns:a16="http://schemas.microsoft.com/office/drawing/2014/main" id="{098BCCA6-CFC6-7FD8-6EEB-570CB43109F6}"/>
                </a:ext>
              </a:extLst>
            </p:cNvPr>
            <p:cNvSpPr/>
            <p:nvPr/>
          </p:nvSpPr>
          <p:spPr>
            <a:xfrm>
              <a:off x="7298610" y="1940411"/>
              <a:ext cx="278944" cy="333395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185D973-CFEB-CEEE-AC9C-D5824C1DD53B}"/>
                </a:ext>
              </a:extLst>
            </p:cNvPr>
            <p:cNvSpPr txBox="1"/>
            <p:nvPr/>
          </p:nvSpPr>
          <p:spPr>
            <a:xfrm>
              <a:off x="7253120" y="3190126"/>
              <a:ext cx="400110" cy="72139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lang="en-US" altLang="ko-KR" sz="1400" dirty="0" err="1"/>
                <a:t>Concat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51728EF4-33C1-8E2B-163F-BCEDAFCD277C}"/>
              </a:ext>
            </a:extLst>
          </p:cNvPr>
          <p:cNvGrpSpPr/>
          <p:nvPr/>
        </p:nvGrpSpPr>
        <p:grpSpPr>
          <a:xfrm>
            <a:off x="8659223" y="2863815"/>
            <a:ext cx="369332" cy="1585843"/>
            <a:chOff x="1507123" y="1925983"/>
            <a:chExt cx="369332" cy="1585843"/>
          </a:xfrm>
        </p:grpSpPr>
        <p:sp>
          <p:nvSpPr>
            <p:cNvPr id="232" name="Rectangle: Rounded Corners 231">
              <a:extLst>
                <a:ext uri="{FF2B5EF4-FFF2-40B4-BE49-F238E27FC236}">
                  <a16:creationId xmlns:a16="http://schemas.microsoft.com/office/drawing/2014/main" id="{3DAE3455-BDB6-A7EA-12E5-2E52C738FDDD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31CF7DAC-29E0-A896-C7B2-3CCB73D3EA77}"/>
                </a:ext>
              </a:extLst>
            </p:cNvPr>
            <p:cNvSpPr txBox="1"/>
            <p:nvPr/>
          </p:nvSpPr>
          <p:spPr>
            <a:xfrm>
              <a:off x="1507123" y="1985154"/>
              <a:ext cx="369332" cy="1478931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Conv32_k3s1_ReLu</a:t>
              </a:r>
              <a:endParaRPr lang="ko-KR" altLang="en-US" sz="1200" dirty="0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F147A57A-8EB5-F033-2BC5-83787E5A341B}"/>
              </a:ext>
            </a:extLst>
          </p:cNvPr>
          <p:cNvGrpSpPr/>
          <p:nvPr/>
        </p:nvGrpSpPr>
        <p:grpSpPr>
          <a:xfrm>
            <a:off x="8957738" y="2863815"/>
            <a:ext cx="369332" cy="1585843"/>
            <a:chOff x="1492653" y="1925983"/>
            <a:chExt cx="369332" cy="1585843"/>
          </a:xfrm>
        </p:grpSpPr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0B20BD23-BE44-238E-0CFF-98549D30D943}"/>
                </a:ext>
              </a:extLst>
            </p:cNvPr>
            <p:cNvSpPr/>
            <p:nvPr/>
          </p:nvSpPr>
          <p:spPr>
            <a:xfrm>
              <a:off x="1557558" y="1925983"/>
              <a:ext cx="268463" cy="1585843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F921C3C1-AC1D-5DBF-A804-6BB0D11D99D8}"/>
                </a:ext>
              </a:extLst>
            </p:cNvPr>
            <p:cNvSpPr txBox="1"/>
            <p:nvPr/>
          </p:nvSpPr>
          <p:spPr>
            <a:xfrm>
              <a:off x="1492653" y="2239792"/>
              <a:ext cx="369332" cy="943528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en-US" altLang="ko-KR" sz="1200" dirty="0"/>
                <a:t>Conv3_k7s1</a:t>
              </a:r>
              <a:endParaRPr lang="ko-KR" altLang="en-US" sz="1200" dirty="0"/>
            </a:p>
          </p:txBody>
        </p:sp>
      </p:grp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1885CECD-6B56-C097-A684-3A92FB95826D}"/>
              </a:ext>
            </a:extLst>
          </p:cNvPr>
          <p:cNvCxnSpPr>
            <a:cxnSpLocks/>
            <a:stCxn id="235" idx="3"/>
          </p:cNvCxnSpPr>
          <p:nvPr/>
        </p:nvCxnSpPr>
        <p:spPr>
          <a:xfrm>
            <a:off x="9291106" y="3656737"/>
            <a:ext cx="56598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1D6A691-5CB0-20FA-B92D-8EC39413A189}"/>
              </a:ext>
            </a:extLst>
          </p:cNvPr>
          <p:cNvSpPr/>
          <p:nvPr/>
        </p:nvSpPr>
        <p:spPr>
          <a:xfrm>
            <a:off x="4639537" y="1879710"/>
            <a:ext cx="565047" cy="60890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3A6CBB-060E-4294-E5AF-92063251546F}"/>
              </a:ext>
            </a:extLst>
          </p:cNvPr>
          <p:cNvCxnSpPr>
            <a:cxnSpLocks/>
            <a:stCxn id="4" idx="0"/>
            <a:endCxn id="19" idx="1"/>
          </p:cNvCxnSpPr>
          <p:nvPr/>
        </p:nvCxnSpPr>
        <p:spPr>
          <a:xfrm flipV="1">
            <a:off x="4922061" y="1102806"/>
            <a:ext cx="2235987" cy="77690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8DD9F6C-1804-A37E-8331-991F2B93DBDB}"/>
              </a:ext>
            </a:extLst>
          </p:cNvPr>
          <p:cNvSpPr txBox="1"/>
          <p:nvPr/>
        </p:nvSpPr>
        <p:spPr>
          <a:xfrm>
            <a:off x="7158048" y="918140"/>
            <a:ext cx="1671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u="sng" dirty="0"/>
              <a:t>phase</a:t>
            </a:r>
            <a:endParaRPr lang="ko-KR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407308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FC924-B459-DDFC-D049-2A70858F0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B9C26EA-9411-B6B1-CD39-C000914D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Learning-based Axial Video Motion Magnification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38EF921-5EE1-2964-2DA1-DA761C7C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16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D63B03-F6D9-DFB2-549B-2A135918EB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8779" y="2981339"/>
            <a:ext cx="6411242" cy="3370830"/>
          </a:xfrm>
          <a:prstGeom prst="rect">
            <a:avLst/>
          </a:prstGeom>
        </p:spPr>
      </p:pic>
      <p:sp>
        <p:nvSpPr>
          <p:cNvPr id="7" name="내용 개체 틀 1">
            <a:extLst>
              <a:ext uri="{FF2B5EF4-FFF2-40B4-BE49-F238E27FC236}">
                <a16:creationId xmlns:a16="http://schemas.microsoft.com/office/drawing/2014/main" id="{DD865029-D764-5C2D-82A2-AED579E72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7" y="587298"/>
            <a:ext cx="9729578" cy="6186574"/>
          </a:xfrm>
        </p:spPr>
        <p:txBody>
          <a:bodyPr>
            <a:normAutofit/>
          </a:bodyPr>
          <a:lstStyle/>
          <a:p>
            <a:r>
              <a:rPr lang="en-US" altLang="ko-KR" sz="1400" dirty="0"/>
              <a:t>Axial Motion Magnification</a:t>
            </a:r>
            <a:br>
              <a:rPr lang="en-US" altLang="ko-KR" sz="1400" dirty="0"/>
            </a:br>
            <a:r>
              <a:rPr lang="ko-KR" altLang="en-US" sz="1400" dirty="0"/>
              <a:t>사용자가 지정한 방향</a:t>
            </a:r>
            <a:r>
              <a:rPr lang="en-US" altLang="ko-KR" sz="1400" dirty="0"/>
              <a:t>(</a:t>
            </a:r>
            <a:r>
              <a:rPr lang="ko-KR" altLang="en-US" sz="1400" dirty="0"/>
              <a:t>각도 </a:t>
            </a:r>
            <a:r>
              <a:rPr lang="en-US" altLang="ko-KR" sz="1400" dirty="0"/>
              <a:t>ϕ)</a:t>
            </a:r>
            <a:r>
              <a:rPr lang="ko-KR" altLang="en-US" sz="1400" dirty="0"/>
              <a:t>의 움직임만 분리</a:t>
            </a:r>
            <a:r>
              <a:rPr lang="en-US" altLang="ko-KR" sz="1400" dirty="0"/>
              <a:t>·</a:t>
            </a:r>
            <a:r>
              <a:rPr lang="ko-KR" altLang="en-US" sz="1400" dirty="0"/>
              <a:t>증폭  → 불필요한 방향 성분 제거</a:t>
            </a:r>
            <a:r>
              <a:rPr lang="en-US" altLang="ko-KR" sz="1400" dirty="0"/>
              <a:t>, </a:t>
            </a:r>
            <a:r>
              <a:rPr lang="ko-KR" altLang="en-US" sz="1400" dirty="0"/>
              <a:t>가독성 향상</a:t>
            </a:r>
          </a:p>
          <a:p>
            <a:r>
              <a:rPr lang="en-US" altLang="ko-KR" sz="1400" dirty="0"/>
              <a:t>Motion Separation Module(MSM): </a:t>
            </a:r>
            <a:r>
              <a:rPr lang="ko-KR" altLang="en-US" sz="1400" dirty="0"/>
              <a:t>움직임을 두 직교 방향</a:t>
            </a:r>
            <a:r>
              <a:rPr lang="en-US" altLang="ko-KR" sz="1400" dirty="0"/>
              <a:t>(ϕ, ϕ⊥)</a:t>
            </a:r>
            <a:r>
              <a:rPr lang="ko-KR" altLang="en-US" sz="1400" dirty="0"/>
              <a:t>으로 분리 후 독립 증폭</a:t>
            </a:r>
          </a:p>
          <a:p>
            <a:r>
              <a:rPr lang="ko-KR" altLang="en-US" sz="1400" dirty="0"/>
              <a:t>성과</a:t>
            </a:r>
          </a:p>
          <a:p>
            <a:r>
              <a:rPr lang="ko-KR" altLang="en-US" sz="1400" dirty="0"/>
              <a:t>회전체 결함</a:t>
            </a:r>
            <a:r>
              <a:rPr lang="en-US" altLang="ko-KR" sz="1400" dirty="0"/>
              <a:t>, </a:t>
            </a:r>
            <a:r>
              <a:rPr lang="ko-KR" altLang="en-US" sz="1400" dirty="0"/>
              <a:t>구조물 진동 분석 등에서 </a:t>
            </a:r>
            <a:r>
              <a:rPr lang="en-US" altLang="ko-KR" sz="1400" dirty="0"/>
              <a:t>artifact </a:t>
            </a:r>
            <a:r>
              <a:rPr lang="ko-KR" altLang="en-US" sz="1400" dirty="0"/>
              <a:t>감소 및 모션 가독성 향상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42392-315A-E544-CC93-408671F50300}"/>
              </a:ext>
            </a:extLst>
          </p:cNvPr>
          <p:cNvSpPr txBox="1"/>
          <p:nvPr/>
        </p:nvSpPr>
        <p:spPr>
          <a:xfrm>
            <a:off x="5075889" y="6358374"/>
            <a:ext cx="409774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dirty="0"/>
              <a:t>Kwon, B.-K., Oh, H.-B., Kim, J.-S., Ha, H., &amp; Oh, T.-H.</a:t>
            </a:r>
            <a:br>
              <a:rPr lang="en-US" altLang="ko-KR" sz="1050" dirty="0"/>
            </a:br>
            <a:r>
              <a:rPr lang="en-US" altLang="ko-KR" sz="1050" i="1" dirty="0"/>
              <a:t>Learning-based Axial Video Motion Magnification</a:t>
            </a:r>
            <a:r>
              <a:rPr lang="en-US" altLang="ko-KR" sz="1050" dirty="0"/>
              <a:t>. WACV, 2024.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6DDDC3D-0387-1919-43D7-49B35FD2B642}"/>
              </a:ext>
            </a:extLst>
          </p:cNvPr>
          <p:cNvCxnSpPr/>
          <p:nvPr/>
        </p:nvCxnSpPr>
        <p:spPr>
          <a:xfrm flipV="1">
            <a:off x="3733800" y="2841625"/>
            <a:ext cx="368300" cy="7239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F318080-7035-9F83-699E-CD852F653F99}"/>
              </a:ext>
            </a:extLst>
          </p:cNvPr>
          <p:cNvSpPr txBox="1"/>
          <p:nvPr/>
        </p:nvSpPr>
        <p:spPr>
          <a:xfrm>
            <a:off x="3279775" y="2589199"/>
            <a:ext cx="1594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/>
              <a:t>모션의 </a:t>
            </a:r>
            <a:r>
              <a:rPr lang="en-US" altLang="ko-KR" sz="1000" b="1" dirty="0" err="1"/>
              <a:t>x,y</a:t>
            </a:r>
            <a:r>
              <a:rPr lang="ko-KR" altLang="en-US" sz="1000" b="1" dirty="0"/>
              <a:t>축 방향 추출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AA14B24-A539-1845-0786-D7D11C0DA1BE}"/>
              </a:ext>
            </a:extLst>
          </p:cNvPr>
          <p:cNvCxnSpPr>
            <a:cxnSpLocks/>
          </p:cNvCxnSpPr>
          <p:nvPr/>
        </p:nvCxnSpPr>
        <p:spPr>
          <a:xfrm flipV="1">
            <a:off x="4156075" y="2981339"/>
            <a:ext cx="1101725" cy="67626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36DEAE-7C9D-6339-60E7-12FA11C22EDB}"/>
                  </a:ext>
                </a:extLst>
              </p:cNvPr>
              <p:cNvSpPr txBox="1"/>
              <p:nvPr/>
            </p:nvSpPr>
            <p:spPr>
              <a:xfrm>
                <a:off x="4845437" y="2543437"/>
                <a:ext cx="1962869" cy="434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0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⊥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ko-KR" sz="10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000" b="1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e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e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  <m:r>
                                <a:rPr lang="en-US" altLang="ko-KR" sz="1000" b="1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ko-KR" sz="1000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1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0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ko-KR" sz="1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ko-KR" sz="1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0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ko-KR" sz="10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ko-KR" altLang="en-US" sz="1000" b="1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C36DEAE-7C9D-6339-60E7-12FA11C22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437" y="2543437"/>
                <a:ext cx="1962869" cy="4347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18E625-151F-851E-A40E-544E1D80562C}"/>
              </a:ext>
            </a:extLst>
          </p:cNvPr>
          <p:cNvCxnSpPr>
            <a:cxnSpLocks/>
          </p:cNvCxnSpPr>
          <p:nvPr/>
        </p:nvCxnSpPr>
        <p:spPr>
          <a:xfrm flipV="1">
            <a:off x="5958207" y="2760836"/>
            <a:ext cx="1350643" cy="11028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DB38E6-2B15-F6C9-9F44-CEABAEF85FC4}"/>
              </a:ext>
            </a:extLst>
          </p:cNvPr>
          <p:cNvSpPr txBox="1"/>
          <p:nvPr/>
        </p:nvSpPr>
        <p:spPr>
          <a:xfrm>
            <a:off x="6965975" y="2520425"/>
            <a:ext cx="1594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 err="1"/>
              <a:t>x,y</a:t>
            </a:r>
            <a:r>
              <a:rPr lang="ko-KR" altLang="en-US" sz="1000" b="1" dirty="0"/>
              <a:t>좌표계로 역변환</a:t>
            </a:r>
          </a:p>
        </p:txBody>
      </p:sp>
    </p:spTree>
    <p:extLst>
      <p:ext uri="{BB962C8B-B14F-4D97-AF65-F5344CB8AC3E}">
        <p14:creationId xmlns:p14="http://schemas.microsoft.com/office/powerpoint/2010/main" val="3850831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840E1-621B-201E-EFBD-3089DAE8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8826B14-D470-0D79-13A9-56205DB6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B360D48-02BE-D1E9-87E4-2EE97019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8620B-A437-4F0D-A730-8BB93955CBDE}" type="slidenum">
              <a:rPr lang="ko-KR" altLang="en-US" smtClean="0"/>
              <a:pPr/>
              <a:t>17</a:t>
            </a:fld>
            <a:r>
              <a:rPr lang="ko-KR" altLang="en-US" dirty="0"/>
              <a:t> </a:t>
            </a:r>
            <a:r>
              <a:rPr lang="en-US" altLang="ko-KR" dirty="0"/>
              <a:t>/ 17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7C0A7-3485-7E5B-DB8B-2B509EDC2895}"/>
              </a:ext>
            </a:extLst>
          </p:cNvPr>
          <p:cNvSpPr txBox="1"/>
          <p:nvPr/>
        </p:nvSpPr>
        <p:spPr>
          <a:xfrm>
            <a:off x="193836" y="699495"/>
            <a:ext cx="953574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Wu, H.-Y., Rubinstein, M., Shih, E., Guttag, J., Durand, F., &amp; Freeman, W. T.</a:t>
            </a:r>
            <a:br>
              <a:rPr lang="en-US" altLang="ko-KR" sz="1600" dirty="0"/>
            </a:br>
            <a:r>
              <a:rPr lang="en-US" altLang="ko-KR" sz="1600" i="1" dirty="0"/>
              <a:t>Eulerian Video Magnification for Revealing Subtle Changes in the World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ACM Transactions on Graphics (SIGGRAPH), 31(4), 2012.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Wadhwa, N., Rubinstein, M., Durand, F., &amp; Freeman, W. T.</a:t>
            </a:r>
            <a:br>
              <a:rPr lang="en-US" altLang="ko-KR" sz="1600" dirty="0"/>
            </a:br>
            <a:r>
              <a:rPr lang="en-US" altLang="ko-KR" sz="1600" i="1" dirty="0"/>
              <a:t>Phase-based Video Motion Processing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ACM Transactions on Graphics (SIGGRAPH), 32(4), 2013.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Oh, T.-H., </a:t>
            </a:r>
            <a:r>
              <a:rPr lang="en-US" altLang="ko-KR" sz="1600" dirty="0" err="1"/>
              <a:t>Jaroensri</a:t>
            </a:r>
            <a:r>
              <a:rPr lang="en-US" altLang="ko-KR" sz="1600" dirty="0"/>
              <a:t>, R., Kim, C., </a:t>
            </a:r>
            <a:r>
              <a:rPr lang="en-US" altLang="ko-KR" sz="1600" dirty="0" err="1"/>
              <a:t>Elgharib</a:t>
            </a:r>
            <a:r>
              <a:rPr lang="en-US" altLang="ko-KR" sz="1600" dirty="0"/>
              <a:t>, M., &amp; Freeman, W. T.</a:t>
            </a:r>
            <a:br>
              <a:rPr lang="en-US" altLang="ko-KR" sz="1600" dirty="0"/>
            </a:br>
            <a:r>
              <a:rPr lang="en-US" altLang="ko-KR" sz="1600" i="1" dirty="0"/>
              <a:t>Learning-based Video Motion Magnification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European Conference on Computer Vision (ECCV), 2018.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Kwon, B.-K., Oh, H.-B., Kim, J.-S., Ha, H., &amp; Oh, T.-H.</a:t>
            </a:r>
            <a:br>
              <a:rPr lang="en-US" altLang="ko-KR" sz="1600" dirty="0"/>
            </a:br>
            <a:r>
              <a:rPr lang="en-US" altLang="ko-KR" sz="1600" i="1" dirty="0"/>
              <a:t>Learning-based Axial Video Motion Magnification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Proceedings of the IEEE/CVF Winter Conference on Applications of Computer Vision (WACV), 2024.</a:t>
            </a:r>
          </a:p>
          <a:p>
            <a:pPr marL="342900" indent="-342900">
              <a:buFont typeface="+mj-lt"/>
              <a:buAutoNum type="arabicPeriod"/>
            </a:pPr>
            <a:endParaRPr lang="en-US" altLang="ko-KR" sz="1600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1600" dirty="0"/>
              <a:t>Ha, H., Oh, H.-B., Kim, J.-S., Kwon, B.-K., Kim, S.-B., Tran, L.-T., Kim, J.-Y., Bae, S.-H., &amp; Oh, T.-H.</a:t>
            </a:r>
            <a:br>
              <a:rPr lang="en-US" altLang="ko-KR" sz="1600" dirty="0"/>
            </a:br>
            <a:r>
              <a:rPr lang="en-US" altLang="ko-KR" sz="1600" i="1" dirty="0"/>
              <a:t>Revisiting Learning-based Video Motion Magnification for Real-time Processing</a:t>
            </a:r>
            <a:r>
              <a:rPr lang="en-US" altLang="ko-KR" sz="1600" dirty="0"/>
              <a:t>.</a:t>
            </a:r>
            <a:br>
              <a:rPr lang="en-US" altLang="ko-KR" sz="1600" dirty="0"/>
            </a:br>
            <a:r>
              <a:rPr lang="en-US" altLang="ko-KR" sz="1600" dirty="0"/>
              <a:t>ACM Transactions on Graphics (SIGGRAPH Asia), 2024.</a:t>
            </a:r>
          </a:p>
          <a:p>
            <a:pPr marL="342900" indent="-342900">
              <a:buFont typeface="+mj-lt"/>
              <a:buAutoNum type="arabicPeriod"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645868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ESAL-IMS">
      <a:dk1>
        <a:sysClr val="windowText" lastClr="000000"/>
      </a:dk1>
      <a:lt1>
        <a:sysClr val="window" lastClr="FFFFFF"/>
      </a:lt1>
      <a:dk2>
        <a:srgbClr val="66665C"/>
      </a:dk2>
      <a:lt2>
        <a:srgbClr val="C80150"/>
      </a:lt2>
      <a:accent1>
        <a:srgbClr val="4E67C8"/>
      </a:accent1>
      <a:accent2>
        <a:srgbClr val="59A8D1"/>
      </a:accent2>
      <a:accent3>
        <a:srgbClr val="5DCEAF"/>
      </a:accent3>
      <a:accent4>
        <a:srgbClr val="A7EA52"/>
      </a:accent4>
      <a:accent5>
        <a:srgbClr val="FFB300"/>
      </a:accent5>
      <a:accent6>
        <a:srgbClr val="FF8021"/>
      </a:accent6>
      <a:hlink>
        <a:srgbClr val="56C7AA"/>
      </a:hlink>
      <a:folHlink>
        <a:srgbClr val="59A8D1"/>
      </a:folHlink>
    </a:clrScheme>
    <a:fontScheme name="사용자 지정 3">
      <a:majorFont>
        <a:latin typeface="Arial Black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32494</TotalTime>
  <Words>1522</Words>
  <Application>Microsoft Office PowerPoint</Application>
  <PresentationFormat>A4 Paper (210x297 mm)</PresentationFormat>
  <Paragraphs>315</Paragraphs>
  <Slides>17</Slides>
  <Notes>16</Notes>
  <HiddenSlides>0</HiddenSlides>
  <MMClips>4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맑은 고딕</vt:lpstr>
      <vt:lpstr>Arial</vt:lpstr>
      <vt:lpstr>Arial Black</vt:lpstr>
      <vt:lpstr>Cambria Math</vt:lpstr>
      <vt:lpstr>Wingdings</vt:lpstr>
      <vt:lpstr>Office 테마</vt:lpstr>
      <vt:lpstr>Learning based video motion magnification(W4)</vt:lpstr>
      <vt:lpstr>Outline</vt:lpstr>
      <vt:lpstr>Feedback</vt:lpstr>
      <vt:lpstr>Gantt chart</vt:lpstr>
      <vt:lpstr>Eulerian Video Magnification vs Phase-based</vt:lpstr>
      <vt:lpstr>Eulerian Video Magnification</vt:lpstr>
      <vt:lpstr>Eulerian Video Magnification</vt:lpstr>
      <vt:lpstr>Eulerian Video Magnification</vt:lpstr>
      <vt:lpstr>Eulerian Video Magnification</vt:lpstr>
      <vt:lpstr>Linear vs. Phase-Based Motion Processing</vt:lpstr>
      <vt:lpstr>Phase-Based Video Motion Processing</vt:lpstr>
      <vt:lpstr>Phase-Based Video Motion Processing</vt:lpstr>
      <vt:lpstr>Steerable pyramid [Simoncelli et al. 1992]</vt:lpstr>
      <vt:lpstr>Steerable pyramid [Simoncelli et al. 1992]</vt:lpstr>
      <vt:lpstr>Learning-based Application Strategy</vt:lpstr>
      <vt:lpstr>Learning-based Axial Video Motion Magnification</vt:lpstr>
      <vt:lpstr>Reference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최승헌</cp:lastModifiedBy>
  <cp:revision>2012</cp:revision>
  <cp:lastPrinted>2025-07-30T07:55:41Z</cp:lastPrinted>
  <dcterms:created xsi:type="dcterms:W3CDTF">2017-08-14T05:22:50Z</dcterms:created>
  <dcterms:modified xsi:type="dcterms:W3CDTF">2025-08-14T04:13:45Z</dcterms:modified>
  <cp:version/>
</cp:coreProperties>
</file>