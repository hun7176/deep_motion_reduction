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838" r:id="rId1"/>
  </p:sldMasterIdLst>
  <p:notesMasterIdLst>
    <p:notesMasterId r:id="rId22"/>
  </p:notesMasterIdLst>
  <p:handoutMasterIdLst>
    <p:handoutMasterId r:id="rId23"/>
  </p:handoutMasterIdLst>
  <p:sldIdLst>
    <p:sldId id="427" r:id="rId2"/>
    <p:sldId id="440" r:id="rId3"/>
    <p:sldId id="442" r:id="rId4"/>
    <p:sldId id="461" r:id="rId5"/>
    <p:sldId id="462" r:id="rId6"/>
    <p:sldId id="466" r:id="rId7"/>
    <p:sldId id="465" r:id="rId8"/>
    <p:sldId id="463" r:id="rId9"/>
    <p:sldId id="467" r:id="rId10"/>
    <p:sldId id="464" r:id="rId11"/>
    <p:sldId id="468" r:id="rId12"/>
    <p:sldId id="460" r:id="rId13"/>
    <p:sldId id="454" r:id="rId14"/>
    <p:sldId id="476" r:id="rId15"/>
    <p:sldId id="470" r:id="rId16"/>
    <p:sldId id="471" r:id="rId17"/>
    <p:sldId id="453" r:id="rId18"/>
    <p:sldId id="473" r:id="rId19"/>
    <p:sldId id="475" r:id="rId20"/>
    <p:sldId id="446" r:id="rId21"/>
  </p:sldIdLst>
  <p:sldSz cx="9906000" cy="6858000" type="A4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11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EBDF"/>
    <a:srgbClr val="B8C2E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8" autoAdjust="0"/>
    <p:restoredTop sz="89039" autoAdjust="0"/>
  </p:normalViewPr>
  <p:slideViewPr>
    <p:cSldViewPr snapToGrid="0">
      <p:cViewPr>
        <p:scale>
          <a:sx n="125" d="100"/>
          <a:sy n="125" d="100"/>
        </p:scale>
        <p:origin x="2568" y="496"/>
      </p:cViewPr>
      <p:guideLst>
        <p:guide orient="horz" pos="2158"/>
        <p:guide pos="311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401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C6C58E5-B335-43D1-8539-84214CC4298E}" type="datetime1">
              <a:rPr lang="ko-KR" altLang="en-US"/>
              <a:pPr lvl="0">
                <a:defRPr/>
              </a:pPr>
              <a:t>2025-07-31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8E8FDA6-6DC9-4EAB-920B-F536BAB80F47}" type="slidenum">
              <a:rPr lang="ko-KR" altLang="en-US"/>
              <a:pPr lvl="0"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4D4F443-80F1-45FE-964F-4B7F08BCAEFC}" type="datetime1">
              <a:rPr lang="ko-KR" altLang="en-US"/>
              <a:pPr lvl="0">
                <a:defRPr/>
              </a:pPr>
              <a:t>2025-07-31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77900" y="1239838"/>
            <a:ext cx="48418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749B5091-BB0E-4248-8F7A-EFA923AEA320}" type="slidenum">
              <a:rPr lang="ko-KR" altLang="en-US"/>
              <a:pPr lvl="0"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1pPr>
    <a:lvl2pPr marL="578759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2pPr>
    <a:lvl3pPr marL="1157521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3pPr>
    <a:lvl4pPr marL="1736281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4pPr>
    <a:lvl5pPr marL="2315040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5pPr>
    <a:lvl6pPr marL="2893802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6pPr>
    <a:lvl7pPr marL="3472561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7pPr>
    <a:lvl8pPr marL="4051323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8pPr>
    <a:lvl9pPr marL="4630082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B5091-BB0E-4248-8F7A-EFA923AEA320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047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109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E4E5-A6D2-4C81-6B4C-AE6C5A7D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AC7CD8-45C5-B227-88AC-A7B79A688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54CE3F-71AD-4F3F-8670-0E513AACF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9F5AC1-2AB0-A20F-5663-4E1A41449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1764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BA19D-8781-B492-602F-1B8E3438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95047C-1141-50D3-A5BC-8BCD846D3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A5C6CD-1547-DE05-2B96-CC3F1E0FC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D42A83-2A95-6E1C-BBDA-9078F87E7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7287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32ED-6B4A-2047-AF97-B052E904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3312F4-A262-113E-C33D-18F43A18F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E4D4FE-69DB-C62D-A5CD-D852A7A5F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Encoder </a:t>
            </a:r>
            <a:r>
              <a:rPr lang="ko-KR" altLang="en-US" b="1" dirty="0"/>
              <a:t>설계 근거</a:t>
            </a:r>
            <a:endParaRPr lang="ko-KR" altLang="en-US" dirty="0"/>
          </a:p>
          <a:p>
            <a:r>
              <a:rPr lang="en-US" altLang="ko-KR" dirty="0"/>
              <a:t>Reflection padding</a:t>
            </a:r>
            <a:r>
              <a:rPr lang="ko-KR" altLang="en-US" dirty="0"/>
              <a:t>으로 경계 정보 보존</a:t>
            </a:r>
          </a:p>
          <a:p>
            <a:r>
              <a:rPr lang="en-US" altLang="ko-KR" dirty="0"/>
              <a:t>7x7 </a:t>
            </a:r>
            <a:r>
              <a:rPr lang="ko-KR" altLang="en-US" dirty="0"/>
              <a:t>커널로 이미지 윤곽 추출 </a:t>
            </a:r>
            <a:r>
              <a:rPr lang="en-US" altLang="ko-KR" dirty="0"/>
              <a:t>(Johnson et al.)</a:t>
            </a:r>
          </a:p>
          <a:p>
            <a:r>
              <a:rPr lang="en-US" altLang="ko-KR" dirty="0"/>
              <a:t>3x3, stride=2</a:t>
            </a:r>
            <a:r>
              <a:rPr lang="ko-KR" altLang="en-US" dirty="0"/>
              <a:t>로 다운샘플링 및 고차원 특징</a:t>
            </a:r>
          </a:p>
          <a:p>
            <a:r>
              <a:rPr lang="en-US" altLang="ko-KR" dirty="0"/>
              <a:t>Residual Block</a:t>
            </a:r>
            <a:r>
              <a:rPr lang="ko-KR" altLang="en-US" dirty="0"/>
              <a:t>으로 깊이 있는 표현 </a:t>
            </a:r>
            <a:r>
              <a:rPr lang="en-US" altLang="ko-KR" dirty="0"/>
              <a:t>+ </a:t>
            </a:r>
            <a:r>
              <a:rPr lang="ko-KR" altLang="en-US" dirty="0"/>
              <a:t>학습 안정성 확보 </a:t>
            </a:r>
            <a:r>
              <a:rPr lang="en-US" altLang="ko-KR" dirty="0"/>
              <a:t>(</a:t>
            </a:r>
            <a:r>
              <a:rPr lang="en-US" altLang="ko-KR" dirty="0" err="1"/>
              <a:t>ResNet</a:t>
            </a:r>
            <a:r>
              <a:rPr lang="en-US" altLang="ko-KR" dirty="0"/>
              <a:t> </a:t>
            </a:r>
            <a:r>
              <a:rPr lang="ko-KR" altLang="en-US" dirty="0"/>
              <a:t>구조 기반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659BE4-675D-FCE5-B9D5-0EFB8C3C8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9688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4F031-5FBC-0F26-BEFB-A7EE0886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2157E7-B46F-CB9E-FA91-4967849B8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A9F9E6-C803-A2D6-6DD6-C2B6DB72F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Encoder </a:t>
            </a:r>
            <a:r>
              <a:rPr lang="ko-KR" altLang="en-US" b="1" dirty="0"/>
              <a:t>설계 근거</a:t>
            </a:r>
            <a:endParaRPr lang="ko-KR" altLang="en-US" dirty="0"/>
          </a:p>
          <a:p>
            <a:r>
              <a:rPr lang="en-US" altLang="ko-KR" dirty="0"/>
              <a:t>Reflection padding</a:t>
            </a:r>
            <a:r>
              <a:rPr lang="ko-KR" altLang="en-US" dirty="0"/>
              <a:t>으로 경계 정보 보존</a:t>
            </a:r>
          </a:p>
          <a:p>
            <a:r>
              <a:rPr lang="en-US" altLang="ko-KR" dirty="0"/>
              <a:t>7x7 </a:t>
            </a:r>
            <a:r>
              <a:rPr lang="ko-KR" altLang="en-US" dirty="0"/>
              <a:t>커널로 이미지 윤곽 추출 </a:t>
            </a:r>
            <a:r>
              <a:rPr lang="en-US" altLang="ko-KR" dirty="0"/>
              <a:t>(Johnson et al.)</a:t>
            </a:r>
          </a:p>
          <a:p>
            <a:r>
              <a:rPr lang="en-US" altLang="ko-KR" dirty="0"/>
              <a:t>3x3, stride=2</a:t>
            </a:r>
            <a:r>
              <a:rPr lang="ko-KR" altLang="en-US" dirty="0"/>
              <a:t>로 다운샘플링 및 고차원 특징</a:t>
            </a:r>
          </a:p>
          <a:p>
            <a:r>
              <a:rPr lang="en-US" altLang="ko-KR" dirty="0"/>
              <a:t>Residual Block</a:t>
            </a:r>
            <a:r>
              <a:rPr lang="ko-KR" altLang="en-US" dirty="0"/>
              <a:t>으로 깊이 있는 표현 </a:t>
            </a:r>
            <a:r>
              <a:rPr lang="en-US" altLang="ko-KR" dirty="0"/>
              <a:t>+ </a:t>
            </a:r>
            <a:r>
              <a:rPr lang="ko-KR" altLang="en-US" dirty="0"/>
              <a:t>학습 안정성 확보 </a:t>
            </a:r>
            <a:r>
              <a:rPr lang="en-US" altLang="ko-KR" dirty="0"/>
              <a:t>(</a:t>
            </a:r>
            <a:r>
              <a:rPr lang="en-US" altLang="ko-KR" dirty="0" err="1"/>
              <a:t>ResNet</a:t>
            </a:r>
            <a:r>
              <a:rPr lang="en-US" altLang="ko-KR" dirty="0"/>
              <a:t> </a:t>
            </a:r>
            <a:r>
              <a:rPr lang="ko-KR" altLang="en-US" dirty="0"/>
              <a:t>구조 기반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94B563-B890-E8B8-E977-D738E735F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7057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1F4E7-A5EF-DF46-B0C9-E3186D1BB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FCA67F-8BF1-1C59-33CE-F782C4879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08BD76-1A96-EF87-E013-6EB12E3B7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Encoder </a:t>
            </a:r>
            <a:r>
              <a:rPr lang="ko-KR" altLang="en-US" b="1" dirty="0"/>
              <a:t>설계 근거</a:t>
            </a:r>
            <a:endParaRPr lang="ko-KR" altLang="en-US" dirty="0"/>
          </a:p>
          <a:p>
            <a:r>
              <a:rPr lang="en-US" altLang="ko-KR" dirty="0"/>
              <a:t>Reflection padding</a:t>
            </a:r>
            <a:r>
              <a:rPr lang="ko-KR" altLang="en-US" dirty="0"/>
              <a:t>으로 경계 정보 보존</a:t>
            </a:r>
          </a:p>
          <a:p>
            <a:r>
              <a:rPr lang="en-US" altLang="ko-KR" dirty="0"/>
              <a:t>7x7 </a:t>
            </a:r>
            <a:r>
              <a:rPr lang="ko-KR" altLang="en-US" dirty="0"/>
              <a:t>커널로 이미지 윤곽 추출 </a:t>
            </a:r>
            <a:r>
              <a:rPr lang="en-US" altLang="ko-KR" dirty="0"/>
              <a:t>(Johnson et al.)</a:t>
            </a:r>
          </a:p>
          <a:p>
            <a:r>
              <a:rPr lang="en-US" altLang="ko-KR" dirty="0"/>
              <a:t>3x3, stride=2</a:t>
            </a:r>
            <a:r>
              <a:rPr lang="ko-KR" altLang="en-US" dirty="0"/>
              <a:t>로 다운샘플링 및 고차원 특징</a:t>
            </a:r>
          </a:p>
          <a:p>
            <a:r>
              <a:rPr lang="en-US" altLang="ko-KR" dirty="0"/>
              <a:t>Residual Block</a:t>
            </a:r>
            <a:r>
              <a:rPr lang="ko-KR" altLang="en-US" dirty="0"/>
              <a:t>으로 깊이 있는 표현 </a:t>
            </a:r>
            <a:r>
              <a:rPr lang="en-US" altLang="ko-KR" dirty="0"/>
              <a:t>+ </a:t>
            </a:r>
            <a:r>
              <a:rPr lang="ko-KR" altLang="en-US" dirty="0"/>
              <a:t>학습 안정성 확보 </a:t>
            </a:r>
            <a:r>
              <a:rPr lang="en-US" altLang="ko-KR" dirty="0"/>
              <a:t>(</a:t>
            </a:r>
            <a:r>
              <a:rPr lang="en-US" altLang="ko-KR" dirty="0" err="1"/>
              <a:t>ResNet</a:t>
            </a:r>
            <a:r>
              <a:rPr lang="en-US" altLang="ko-KR" dirty="0"/>
              <a:t> </a:t>
            </a:r>
            <a:r>
              <a:rPr lang="ko-KR" altLang="en-US" dirty="0"/>
              <a:t>구조 기반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"Feature space</a:t>
            </a:r>
            <a:r>
              <a:rPr lang="ko-KR" altLang="en-US" dirty="0"/>
              <a:t>란 원본 데이터를 </a:t>
            </a:r>
            <a:r>
              <a:rPr lang="en-US" altLang="ko-KR" dirty="0"/>
              <a:t>CNN</a:t>
            </a:r>
            <a:r>
              <a:rPr lang="ko-KR" altLang="en-US" dirty="0"/>
              <a:t>이 이해 가능한 형태로 추출한 중간 표현 공간을 말합니다</a:t>
            </a:r>
            <a:r>
              <a:rPr lang="en-US" altLang="ko-KR" dirty="0"/>
              <a:t>. </a:t>
            </a:r>
            <a:r>
              <a:rPr lang="ko-KR" altLang="en-US" dirty="0"/>
              <a:t>우리는 픽셀 간의 단순 차이가 아닌</a:t>
            </a:r>
            <a:r>
              <a:rPr lang="en-US" altLang="ko-KR" dirty="0"/>
              <a:t>, feature space</a:t>
            </a:r>
            <a:r>
              <a:rPr lang="ko-KR" altLang="en-US" dirty="0"/>
              <a:t>에서 추출된 </a:t>
            </a:r>
            <a:r>
              <a:rPr lang="en-US" altLang="ko-KR" dirty="0"/>
              <a:t>motion representation </a:t>
            </a:r>
            <a:r>
              <a:rPr lang="ko-KR" altLang="en-US" dirty="0"/>
              <a:t>간의 차이를 증폭함으로써 더 정확하고 의미 있는 </a:t>
            </a:r>
            <a:r>
              <a:rPr lang="en-US" altLang="ko-KR" dirty="0"/>
              <a:t>motion magnification</a:t>
            </a:r>
            <a:r>
              <a:rPr lang="ko-KR" altLang="en-US" dirty="0"/>
              <a:t>을 수행할 수 있습니다</a:t>
            </a:r>
            <a:r>
              <a:rPr lang="en-US" altLang="ko-KR" dirty="0"/>
              <a:t>.“</a:t>
            </a:r>
          </a:p>
          <a:p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4000" b="0" dirty="0"/>
              <a:t>Reflection Padding : </a:t>
            </a:r>
            <a:r>
              <a:rPr lang="en-US" altLang="ko-KR" sz="3600" b="0" dirty="0"/>
              <a:t>Johnson et al. (2016) — </a:t>
            </a:r>
            <a:r>
              <a:rPr lang="en-US" altLang="ko-KR" sz="3600" b="0" i="1" dirty="0"/>
              <a:t>Perceptual Losses for Real-Time Style Transfer and Super-Resolution</a:t>
            </a:r>
            <a:endParaRPr lang="en-US" altLang="ko-KR" sz="3600" b="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4000" b="0" dirty="0"/>
              <a:t>Conv 7×7, stride=1 : </a:t>
            </a:r>
            <a:r>
              <a:rPr lang="ko-KR" altLang="ko-KR" sz="2400" b="0" dirty="0"/>
              <a:t>Johnson et al. (2016) — 같은 논문</a:t>
            </a:r>
            <a:br>
              <a:rPr lang="ko-KR" altLang="ko-KR" sz="2400" b="0" dirty="0"/>
            </a:br>
            <a:r>
              <a:rPr lang="ko-KR" altLang="ko-KR" sz="2400" b="0" dirty="0"/>
              <a:t>초기 계층에서 7x7 conv로 global context를 추출함으로써 style/content 분리에 효과</a:t>
            </a:r>
            <a:br>
              <a:rPr lang="ko-KR" altLang="ko-KR" sz="2400" b="0" dirty="0"/>
            </a:br>
            <a:r>
              <a:rPr lang="ko-KR" altLang="ko-KR" sz="2400" b="0" dirty="0"/>
              <a:t>Wadhwa et al. (2013) — </a:t>
            </a:r>
            <a:r>
              <a:rPr lang="ko-KR" altLang="ko-KR" sz="2400" b="0" i="1" dirty="0"/>
              <a:t>Phase-based Video Motion Processing</a:t>
            </a:r>
            <a:r>
              <a:rPr lang="ko-KR" altLang="ko-KR" sz="2400" b="0" dirty="0"/>
              <a:t> 영상 내 fine motion 정보를 분석하기 위해 frequency 기반 </a:t>
            </a:r>
            <a:r>
              <a:rPr lang="ko-KR" altLang="ko-KR" sz="2400" dirty="0"/>
              <a:t>global feature 추출을 제안</a:t>
            </a:r>
            <a:br>
              <a:rPr lang="ko-KR" altLang="ko-KR" sz="2400" dirty="0"/>
            </a:br>
            <a:endParaRPr lang="en-US" altLang="ko-KR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4000" b="0" dirty="0"/>
              <a:t>Conv 3×3, stride=2 : </a:t>
            </a:r>
            <a:r>
              <a:rPr lang="ko-KR" altLang="ko-KR" sz="1600" b="0" dirty="0"/>
              <a:t>공간 해상도는 줄이고 채널 수를 늘려서 연산량 줄이면서 정보 표현력 강화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1600" b="0" dirty="0"/>
              <a:t>작은 커널(3x3)은 fine-grained local 패턴 인식에 적합VGG (Simonyan &amp; Zisserman, 2014) — </a:t>
            </a:r>
            <a:r>
              <a:rPr lang="ko-KR" altLang="ko-KR" sz="1600" b="0" i="1" dirty="0"/>
              <a:t>Very Deep Convolutional Networks</a:t>
            </a:r>
            <a:br>
              <a:rPr lang="ko-KR" altLang="ko-KR" sz="1600" b="0" dirty="0"/>
            </a:br>
            <a:r>
              <a:rPr lang="ko-KR" altLang="ko-KR" sz="1600" b="0" dirty="0"/>
              <a:t>➤ 반복적인 3x3 convolution이 CNN 구조의 기본 설계로 자리를 잡은 계기</a:t>
            </a:r>
            <a:br>
              <a:rPr lang="ko-KR" altLang="ko-KR" sz="1600" b="0" dirty="0"/>
            </a:br>
            <a:r>
              <a:rPr lang="ko-KR" altLang="ko-KR" sz="1600" b="0" dirty="0"/>
              <a:t>➤ 작은 커널이지만 깊이로 표현력을 증가시킴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1600" b="0" dirty="0"/>
              <a:t>He et al. (2016) — </a:t>
            </a:r>
            <a:r>
              <a:rPr lang="ko-KR" altLang="ko-KR" sz="1600" b="0" i="1" dirty="0"/>
              <a:t>Deep Residual Learning (ResNet)</a:t>
            </a:r>
            <a:br>
              <a:rPr lang="ko-KR" altLang="ko-KR" sz="1600" b="0" dirty="0"/>
            </a:br>
            <a:r>
              <a:rPr lang="ko-KR" altLang="ko-KR" sz="1600" b="0" dirty="0"/>
              <a:t>➤ residual block 내에서도 3x3 conv를 기본으로 사용</a:t>
            </a:r>
            <a:br>
              <a:rPr lang="ko-KR" altLang="ko-KR" sz="1600" b="0" dirty="0"/>
            </a:br>
            <a:r>
              <a:rPr lang="ko-KR" altLang="ko-KR" sz="1600" b="0" dirty="0"/>
              <a:t>➤ downsampling은 stride=2 또는 pooling을 병용</a:t>
            </a:r>
            <a:endParaRPr lang="en-US" altLang="ko-KR" sz="1600" b="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600" dirty="0" err="1"/>
              <a:t>Downsampling</a:t>
            </a:r>
            <a:r>
              <a:rPr lang="en-US" altLang="ko-KR" sz="1600" dirty="0"/>
              <a:t>, local feature </a:t>
            </a:r>
            <a:r>
              <a:rPr lang="ko-KR" altLang="en-US" sz="1600" dirty="0"/>
              <a:t>추출</a:t>
            </a:r>
            <a:endParaRPr lang="en-US" altLang="ko-KR" sz="4000" b="0" dirty="0"/>
          </a:p>
          <a:p>
            <a:pPr>
              <a:lnSpc>
                <a:spcPct val="150000"/>
              </a:lnSpc>
            </a:pPr>
            <a:r>
              <a:rPr lang="en-US" altLang="ko-KR" sz="4000" b="0" dirty="0"/>
              <a:t>Residual Blocks × N : He et al. (2016) — </a:t>
            </a:r>
            <a:r>
              <a:rPr lang="en-US" altLang="ko-KR" sz="4000" b="0" i="1" dirty="0"/>
              <a:t>Deep Residual Learning for Image Recognition (</a:t>
            </a:r>
            <a:r>
              <a:rPr lang="en-US" altLang="ko-KR" sz="4000" b="0" i="1" dirty="0" err="1"/>
              <a:t>ResNet</a:t>
            </a:r>
            <a:r>
              <a:rPr lang="en-US" altLang="ko-KR" sz="4000" b="0" i="1" dirty="0"/>
              <a:t>)</a:t>
            </a:r>
            <a:br>
              <a:rPr lang="en-US" altLang="ko-KR" sz="4000" b="0" dirty="0"/>
            </a:br>
            <a:r>
              <a:rPr lang="en-US" altLang="ko-KR" sz="4000" b="0" dirty="0"/>
              <a:t>➤ residual connection</a:t>
            </a:r>
            <a:r>
              <a:rPr lang="ko-KR" altLang="en-US" sz="4000" b="0" dirty="0"/>
              <a:t>으로 </a:t>
            </a:r>
            <a:r>
              <a:rPr lang="en-US" altLang="ko-KR" sz="4000" b="0" dirty="0"/>
              <a:t>deep CNN </a:t>
            </a:r>
            <a:r>
              <a:rPr lang="ko-KR" altLang="en-US" sz="4000" b="0" dirty="0"/>
              <a:t>학습 가능성 획기적 향상</a:t>
            </a:r>
            <a:endParaRPr lang="en-US" altLang="ko-KR" sz="4000" b="0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6FAA9-774D-231B-A6FA-486C4DA95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6676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A19DD-2285-6AA8-78B8-72E755588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EB2D94-5BEC-8A78-6C7A-85407C3AE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615225-4BDD-4AA0-E62B-5A298391E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85C5A5-15B1-F265-C560-5B4A06277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8359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94E38-B2E2-062D-BB7A-B0132B0F3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6C8C8D-6058-4288-81BE-8E414E08F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1AF868-9733-ED77-901C-F7EE6D765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112DD1-B561-14CE-2953-0618F0264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18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EB9E9-7A5F-5B95-71FF-C5571B15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F48BC4-988A-F978-069F-DD99B9D7F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6686B7-D019-B088-80A2-70D75666C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3746D8-48DE-A626-6F24-A42A34C6A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0178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7B131-6401-4F78-664E-95769012A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443FD0-8AF1-347F-F7A9-19F96AA79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9091F6-5F7B-0FF0-1D11-A1873DDAC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"Decoder</a:t>
            </a:r>
            <a:r>
              <a:rPr lang="ko-KR" altLang="en-US" dirty="0"/>
              <a:t>는 </a:t>
            </a:r>
            <a:r>
              <a:rPr lang="en-US" altLang="ko-KR" dirty="0"/>
              <a:t>residual block</a:t>
            </a:r>
            <a:r>
              <a:rPr lang="ko-KR" altLang="en-US" dirty="0"/>
              <a:t>을 통해 </a:t>
            </a:r>
            <a:r>
              <a:rPr lang="en-US" altLang="ko-KR" dirty="0"/>
              <a:t>feature</a:t>
            </a:r>
            <a:r>
              <a:rPr lang="ko-KR" altLang="en-US" dirty="0"/>
              <a:t>를 먼저 정제하고</a:t>
            </a:r>
            <a:r>
              <a:rPr lang="en-US" altLang="ko-KR" dirty="0"/>
              <a:t>, nearest neighbor </a:t>
            </a:r>
            <a:r>
              <a:rPr lang="en-US" altLang="ko-KR" dirty="0" err="1"/>
              <a:t>upsampling</a:t>
            </a:r>
            <a:r>
              <a:rPr lang="ko-KR" altLang="en-US" dirty="0"/>
              <a:t>을 통해 해상도를 </a:t>
            </a:r>
            <a:r>
              <a:rPr lang="en-US" altLang="ko-KR" dirty="0"/>
              <a:t>2</a:t>
            </a:r>
            <a:r>
              <a:rPr lang="ko-KR" altLang="en-US" dirty="0"/>
              <a:t>배로 복원합니다</a:t>
            </a:r>
            <a:r>
              <a:rPr lang="en-US" altLang="ko-KR" dirty="0"/>
              <a:t>. </a:t>
            </a:r>
            <a:r>
              <a:rPr lang="ko-KR" altLang="en-US" dirty="0"/>
              <a:t>이후 </a:t>
            </a:r>
            <a:r>
              <a:rPr lang="en-US" altLang="ko-KR" dirty="0"/>
              <a:t>conv 3x3, ReLU</a:t>
            </a:r>
            <a:r>
              <a:rPr lang="ko-KR" altLang="en-US" dirty="0"/>
              <a:t>를 거쳐 고차원 </a:t>
            </a:r>
            <a:r>
              <a:rPr lang="en-US" altLang="ko-KR" dirty="0"/>
              <a:t>feature</a:t>
            </a:r>
            <a:r>
              <a:rPr lang="ko-KR" altLang="en-US" dirty="0"/>
              <a:t>를 정제한 뒤</a:t>
            </a:r>
            <a:r>
              <a:rPr lang="en-US" altLang="ko-KR" dirty="0"/>
              <a:t>, 7x7 conv</a:t>
            </a:r>
            <a:r>
              <a:rPr lang="ko-KR" altLang="en-US" dirty="0"/>
              <a:t>로 최종 출력을 생성합니다</a:t>
            </a:r>
            <a:r>
              <a:rPr lang="en-US" altLang="ko-KR" dirty="0"/>
              <a:t>. </a:t>
            </a:r>
            <a:r>
              <a:rPr lang="ko-KR" altLang="en-US" dirty="0"/>
              <a:t>이 과정은 스타일 전이 네트워크나 </a:t>
            </a:r>
            <a:r>
              <a:rPr lang="en-US" altLang="ko-KR" dirty="0"/>
              <a:t>DCGAN</a:t>
            </a:r>
            <a:r>
              <a:rPr lang="ko-KR" altLang="en-US" dirty="0"/>
              <a:t>의 </a:t>
            </a:r>
            <a:r>
              <a:rPr lang="en-US" altLang="ko-KR" dirty="0"/>
              <a:t>decoder </a:t>
            </a:r>
            <a:r>
              <a:rPr lang="ko-KR" altLang="en-US" dirty="0"/>
              <a:t>설계와 유사합니다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E04F8E-5FB6-B970-990D-836CA4FED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5780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67706-4FB2-3E26-0F39-34FB93F7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5CB5A-D0A1-F0E2-488D-46B890EF5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D7CF5C-340F-9E21-131F-F84C97C92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164B05-2DC8-3164-CB9D-12AD79737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5441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B0BC6-A19E-2261-AA9A-B934E33E9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8833F7-AEBA-0160-2F1F-B48C0F3DD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E220-3200-C935-1266-44D4AC317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 err="1"/>
              <a:t>MagNet</a:t>
            </a:r>
            <a:r>
              <a:rPr lang="en-US" altLang="ko-KR" dirty="0"/>
              <a:t> </a:t>
            </a:r>
            <a:r>
              <a:rPr lang="ko-KR" altLang="en-US" dirty="0"/>
              <a:t>모델은 증폭만 가능하도록 학습되어 있음</a:t>
            </a:r>
          </a:p>
          <a:p>
            <a:r>
              <a:rPr lang="ko-KR" altLang="en-US" dirty="0"/>
              <a:t>이번에는 학습 시 </a:t>
            </a:r>
            <a:r>
              <a:rPr lang="en-US" altLang="ko-KR" dirty="0"/>
              <a:t>loss</a:t>
            </a:r>
            <a:r>
              <a:rPr lang="ko-KR" altLang="en-US" dirty="0"/>
              <a:t>에 감쇠 유도 항을 추가하여</a:t>
            </a:r>
            <a:br>
              <a:rPr lang="ko-KR" altLang="en-US" dirty="0"/>
            </a:br>
            <a:r>
              <a:rPr lang="ko-KR" altLang="en-US" dirty="0"/>
              <a:t>작은 </a:t>
            </a:r>
            <a:r>
              <a:rPr lang="en-US" altLang="ko-KR" dirty="0"/>
              <a:t>motion</a:t>
            </a:r>
            <a:r>
              <a:rPr lang="ko-KR" altLang="en-US" dirty="0"/>
              <a:t>을 억제하거나 무시하는 특성을 유도함</a:t>
            </a:r>
          </a:p>
          <a:p>
            <a:r>
              <a:rPr lang="ko-KR" altLang="en-US" dirty="0"/>
              <a:t>실험적으로 </a:t>
            </a:r>
            <a:r>
              <a:rPr lang="en-US" altLang="ko-KR" dirty="0"/>
              <a:t>α=0.5 cascade</a:t>
            </a:r>
            <a:r>
              <a:rPr lang="ko-KR" altLang="en-US" dirty="0"/>
              <a:t>에서도 </a:t>
            </a:r>
            <a:r>
              <a:rPr lang="en-US" altLang="ko-KR" dirty="0"/>
              <a:t>attenuation</a:t>
            </a:r>
            <a:r>
              <a:rPr lang="ko-KR" altLang="en-US" dirty="0"/>
              <a:t>이 되는 것을 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loss </a:t>
            </a:r>
            <a:r>
              <a:rPr lang="ko-KR" altLang="en-US" dirty="0"/>
              <a:t>설계를 통해 이 방향을 강화하고자 함</a:t>
            </a:r>
          </a:p>
          <a:p>
            <a:r>
              <a:rPr lang="ko-KR" altLang="en-US" dirty="0"/>
              <a:t>다음 발표에서는 실제 감쇠 데이터셋을 생성하여</a:t>
            </a:r>
            <a:br>
              <a:rPr lang="ko-KR" altLang="en-US" dirty="0"/>
            </a:br>
            <a:r>
              <a:rPr lang="ko-KR" altLang="en-US" dirty="0"/>
              <a:t>모델을 </a:t>
            </a:r>
            <a:r>
              <a:rPr lang="en-US" altLang="ko-KR" dirty="0"/>
              <a:t>attenuation </a:t>
            </a:r>
            <a:r>
              <a:rPr lang="ko-KR" altLang="en-US" dirty="0"/>
              <a:t>전용으로 학습해볼 예정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01FC0A-C57C-6E1A-FEBE-10301EF88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99607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C6B27-2309-893D-4BCA-A9E034A51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0D173B-7A6C-6A48-477E-79BB1FFDE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494FBE-2728-680C-0D2C-7C7928A9D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 err="1"/>
              <a:t>MagNet</a:t>
            </a:r>
            <a:r>
              <a:rPr lang="en-US" altLang="ko-KR" dirty="0"/>
              <a:t> </a:t>
            </a:r>
            <a:r>
              <a:rPr lang="ko-KR" altLang="en-US" dirty="0"/>
              <a:t>모델은 증폭만 가능하도록 학습되어 있음</a:t>
            </a:r>
          </a:p>
          <a:p>
            <a:r>
              <a:rPr lang="ko-KR" altLang="en-US" dirty="0"/>
              <a:t>이번에는 학습 시 </a:t>
            </a:r>
            <a:r>
              <a:rPr lang="en-US" altLang="ko-KR" dirty="0"/>
              <a:t>loss</a:t>
            </a:r>
            <a:r>
              <a:rPr lang="ko-KR" altLang="en-US" dirty="0"/>
              <a:t>에 감쇠 유도 항을 추가하여</a:t>
            </a:r>
            <a:br>
              <a:rPr lang="ko-KR" altLang="en-US" dirty="0"/>
            </a:br>
            <a:r>
              <a:rPr lang="ko-KR" altLang="en-US" dirty="0"/>
              <a:t>작은 </a:t>
            </a:r>
            <a:r>
              <a:rPr lang="en-US" altLang="ko-KR" dirty="0"/>
              <a:t>motion</a:t>
            </a:r>
            <a:r>
              <a:rPr lang="ko-KR" altLang="en-US" dirty="0"/>
              <a:t>을 억제하거나 무시하는 특성을 유도함</a:t>
            </a:r>
          </a:p>
          <a:p>
            <a:r>
              <a:rPr lang="ko-KR" altLang="en-US" dirty="0"/>
              <a:t>실험적으로 </a:t>
            </a:r>
            <a:r>
              <a:rPr lang="en-US" altLang="ko-KR" dirty="0"/>
              <a:t>α=0.5 cascade</a:t>
            </a:r>
            <a:r>
              <a:rPr lang="ko-KR" altLang="en-US" dirty="0"/>
              <a:t>에서도 </a:t>
            </a:r>
            <a:r>
              <a:rPr lang="en-US" altLang="ko-KR" dirty="0"/>
              <a:t>attenuation</a:t>
            </a:r>
            <a:r>
              <a:rPr lang="ko-KR" altLang="en-US" dirty="0"/>
              <a:t>이 되는 것을 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loss </a:t>
            </a:r>
            <a:r>
              <a:rPr lang="ko-KR" altLang="en-US" dirty="0"/>
              <a:t>설계를 통해 이 방향을 강화하고자 함</a:t>
            </a:r>
          </a:p>
          <a:p>
            <a:r>
              <a:rPr lang="ko-KR" altLang="en-US" dirty="0"/>
              <a:t>다음 발표에서는 실제 감쇠 데이터셋을 생성하여</a:t>
            </a:r>
            <a:br>
              <a:rPr lang="ko-KR" altLang="en-US" dirty="0"/>
            </a:br>
            <a:r>
              <a:rPr lang="ko-KR" altLang="en-US" dirty="0"/>
              <a:t>모델을 </a:t>
            </a:r>
            <a:r>
              <a:rPr lang="en-US" altLang="ko-KR" dirty="0"/>
              <a:t>attenuation </a:t>
            </a:r>
            <a:r>
              <a:rPr lang="ko-KR" altLang="en-US" dirty="0"/>
              <a:t>전용으로 학습해볼 예정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ADF776-E0D4-D7C4-3E2B-0743D93B5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573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527C9-C689-815F-5FFB-0D21CAF6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9079F5-CA3C-735E-F44D-C3C375A06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153673-2FAD-F88E-C4BB-97D71E95D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 err="1"/>
              <a:t>MagNet</a:t>
            </a:r>
            <a:r>
              <a:rPr lang="en-US" altLang="ko-KR" dirty="0"/>
              <a:t> </a:t>
            </a:r>
            <a:r>
              <a:rPr lang="ko-KR" altLang="en-US" dirty="0"/>
              <a:t>모델은 증폭만 가능하도록 학습되어 있음</a:t>
            </a:r>
          </a:p>
          <a:p>
            <a:r>
              <a:rPr lang="ko-KR" altLang="en-US" dirty="0"/>
              <a:t>이번에는 학습 시 </a:t>
            </a:r>
            <a:r>
              <a:rPr lang="en-US" altLang="ko-KR" dirty="0"/>
              <a:t>loss</a:t>
            </a:r>
            <a:r>
              <a:rPr lang="ko-KR" altLang="en-US" dirty="0"/>
              <a:t>에 감쇠 유도 항을 추가하여</a:t>
            </a:r>
            <a:br>
              <a:rPr lang="ko-KR" altLang="en-US" dirty="0"/>
            </a:br>
            <a:r>
              <a:rPr lang="ko-KR" altLang="en-US" dirty="0"/>
              <a:t>작은 </a:t>
            </a:r>
            <a:r>
              <a:rPr lang="en-US" altLang="ko-KR" dirty="0"/>
              <a:t>motion</a:t>
            </a:r>
            <a:r>
              <a:rPr lang="ko-KR" altLang="en-US" dirty="0"/>
              <a:t>을 억제하거나 무시하는 특성을 유도함</a:t>
            </a:r>
          </a:p>
          <a:p>
            <a:r>
              <a:rPr lang="ko-KR" altLang="en-US" dirty="0"/>
              <a:t>실험적으로 </a:t>
            </a:r>
            <a:r>
              <a:rPr lang="en-US" altLang="ko-KR" dirty="0"/>
              <a:t>α=0.5 cascade</a:t>
            </a:r>
            <a:r>
              <a:rPr lang="ko-KR" altLang="en-US" dirty="0"/>
              <a:t>에서도 </a:t>
            </a:r>
            <a:r>
              <a:rPr lang="en-US" altLang="ko-KR" dirty="0"/>
              <a:t>attenuation</a:t>
            </a:r>
            <a:r>
              <a:rPr lang="ko-KR" altLang="en-US" dirty="0"/>
              <a:t>이 되는 것을 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loss </a:t>
            </a:r>
            <a:r>
              <a:rPr lang="ko-KR" altLang="en-US" dirty="0"/>
              <a:t>설계를 통해 이 방향을 강화하고자 함</a:t>
            </a:r>
          </a:p>
          <a:p>
            <a:r>
              <a:rPr lang="ko-KR" altLang="en-US" dirty="0"/>
              <a:t>다음 발표에서는 실제 감쇠 데이터셋을 생성하여</a:t>
            </a:r>
            <a:br>
              <a:rPr lang="ko-KR" altLang="en-US" dirty="0"/>
            </a:br>
            <a:r>
              <a:rPr lang="ko-KR" altLang="en-US" dirty="0"/>
              <a:t>모델을 </a:t>
            </a:r>
            <a:r>
              <a:rPr lang="en-US" altLang="ko-KR" dirty="0"/>
              <a:t>attenuation </a:t>
            </a:r>
            <a:r>
              <a:rPr lang="ko-KR" altLang="en-US" dirty="0"/>
              <a:t>전용으로 학습해볼 예정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5DA847-3FCC-EDB1-124D-2C37CB046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8334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B0BC6-A19E-2261-AA9A-B934E33E9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8833F7-AEBA-0160-2F1F-B48C0F3DD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E220-3200-C935-1266-44D4AC317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01FC0A-C57C-6E1A-FEBE-10301EF88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9960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6B300-6A44-3806-1104-AA1D5A9D6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CD6790-21F8-0CBD-5069-D905DF86D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B5240A-4E83-D3E9-65EC-6AD6931FB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12BC44-06E1-C1AA-816A-132A08B5E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10556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976FD-25C3-6692-DE4E-FF83B7CA4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C6FD27-776D-2CB7-3E45-E18C07708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ECCF23-F6B6-E83A-CC98-4CB26505C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 err="1"/>
              <a:t>MagNet</a:t>
            </a:r>
            <a:r>
              <a:rPr lang="en-US" altLang="ko-KR" dirty="0"/>
              <a:t> </a:t>
            </a:r>
            <a:r>
              <a:rPr lang="ko-KR" altLang="en-US" dirty="0"/>
              <a:t>모델은 증폭만 가능하도록 학습되어 있음</a:t>
            </a:r>
          </a:p>
          <a:p>
            <a:r>
              <a:rPr lang="ko-KR" altLang="en-US" dirty="0"/>
              <a:t>이번에는 학습 시 </a:t>
            </a:r>
            <a:r>
              <a:rPr lang="en-US" altLang="ko-KR" dirty="0"/>
              <a:t>loss</a:t>
            </a:r>
            <a:r>
              <a:rPr lang="ko-KR" altLang="en-US" dirty="0"/>
              <a:t>에 감쇠 유도 항을 추가하여</a:t>
            </a:r>
            <a:br>
              <a:rPr lang="ko-KR" altLang="en-US" dirty="0"/>
            </a:br>
            <a:r>
              <a:rPr lang="ko-KR" altLang="en-US" dirty="0"/>
              <a:t>작은 </a:t>
            </a:r>
            <a:r>
              <a:rPr lang="en-US" altLang="ko-KR" dirty="0"/>
              <a:t>motion</a:t>
            </a:r>
            <a:r>
              <a:rPr lang="ko-KR" altLang="en-US" dirty="0"/>
              <a:t>을 억제하거나 무시하는 특성을 유도함</a:t>
            </a:r>
          </a:p>
          <a:p>
            <a:r>
              <a:rPr lang="ko-KR" altLang="en-US" dirty="0"/>
              <a:t>실험적으로 </a:t>
            </a:r>
            <a:r>
              <a:rPr lang="en-US" altLang="ko-KR" dirty="0"/>
              <a:t>α=0.5 cascade</a:t>
            </a:r>
            <a:r>
              <a:rPr lang="ko-KR" altLang="en-US" dirty="0"/>
              <a:t>에서도 </a:t>
            </a:r>
            <a:r>
              <a:rPr lang="en-US" altLang="ko-KR" dirty="0"/>
              <a:t>attenuation</a:t>
            </a:r>
            <a:r>
              <a:rPr lang="ko-KR" altLang="en-US" dirty="0"/>
              <a:t>이 되는 것을 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loss </a:t>
            </a:r>
            <a:r>
              <a:rPr lang="ko-KR" altLang="en-US" dirty="0"/>
              <a:t>설계를 통해 이 방향을 강화하고자 함</a:t>
            </a:r>
          </a:p>
          <a:p>
            <a:r>
              <a:rPr lang="ko-KR" altLang="en-US" dirty="0"/>
              <a:t>다음 발표에서는 실제 감쇠 데이터셋을 생성하여</a:t>
            </a:r>
            <a:br>
              <a:rPr lang="ko-KR" altLang="en-US" dirty="0"/>
            </a:br>
            <a:r>
              <a:rPr lang="ko-KR" altLang="en-US" dirty="0"/>
              <a:t>모델을 </a:t>
            </a:r>
            <a:r>
              <a:rPr lang="en-US" altLang="ko-KR" dirty="0"/>
              <a:t>attenuation </a:t>
            </a:r>
            <a:r>
              <a:rPr lang="ko-KR" altLang="en-US" dirty="0"/>
              <a:t>전용으로 학습해볼 예정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D6D74-4F2D-A508-E51B-FE6BDD4C8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55257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5190-D778-FD3D-E8D9-375DEE996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864B15-EDD4-0B52-7D5F-D18FD08C6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63B28B-3AA8-4958-8684-AF7DAC37F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ECBCD0-12AD-E5AF-BCC3-697A471F4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7219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A201-0080-A40C-03B6-AB5B7EA06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123365-AE9C-E607-E94A-410ED51D0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2901CD-7340-BE9C-35F7-6E729F37D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AF098-A440-A024-26D6-7BEB1EAE7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3763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44" y="3648941"/>
            <a:ext cx="2302498" cy="4267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467" y="2550857"/>
            <a:ext cx="8983066" cy="129479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1467" y="4148242"/>
            <a:ext cx="8983066" cy="1655762"/>
          </a:xfrm>
        </p:spPr>
        <p:txBody>
          <a:bodyPr/>
          <a:lstStyle>
            <a:lvl1pPr marL="0" indent="0" algn="l">
              <a:buNone/>
              <a:defRPr sz="2400" i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61467" y="3989995"/>
            <a:ext cx="6641356" cy="4571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lvl="0" algn="ctr"/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08403" y="6469469"/>
            <a:ext cx="2301640" cy="304403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fld id="{8B38620B-A437-4F0D-A730-8BB93955CBDE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870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608" y="314078"/>
            <a:ext cx="1181545" cy="21900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7" y="587299"/>
            <a:ext cx="9729578" cy="5584432"/>
          </a:xfrm>
        </p:spPr>
        <p:txBody>
          <a:bodyPr/>
          <a:lstStyle>
            <a:lvl1pPr marL="182563" indent="-182563" latinLnBrk="0">
              <a:lnSpc>
                <a:spcPct val="12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2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8163" indent="-355600" latinLnBrk="0">
              <a:lnSpc>
                <a:spcPct val="120000"/>
              </a:lnSpc>
              <a:buFont typeface="Wingdings" panose="05000000000000000000" pitchFamily="2" charset="2"/>
              <a:buChar char="ü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19138" indent="-273050" latinLnBrk="0">
              <a:lnSpc>
                <a:spcPct val="120000"/>
              </a:lnSpc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4250" indent="-266700" latinLnBrk="0"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08403" y="6469469"/>
            <a:ext cx="2301640" cy="304403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fld id="{8B38620B-A437-4F0D-A730-8BB93955CBDE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10</a:t>
            </a:r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176421" y="471116"/>
            <a:ext cx="8431004" cy="45719"/>
          </a:xfrm>
          <a:prstGeom prst="rect">
            <a:avLst/>
          </a:prstGeom>
          <a:solidFill>
            <a:srgbClr val="C8015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lvl="0" algn="ctr"/>
            <a:endParaRPr lang="ko-KR" altLang="en-US" dirty="0"/>
          </a:p>
        </p:txBody>
      </p:sp>
      <p:sp>
        <p:nvSpPr>
          <p:cNvPr id="14" name="Footer Placeholder 4"/>
          <p:cNvSpPr txBox="1">
            <a:spLocks/>
          </p:cNvSpPr>
          <p:nvPr userDrawn="1"/>
        </p:nvSpPr>
        <p:spPr>
          <a:xfrm>
            <a:off x="102413" y="6469469"/>
            <a:ext cx="3343275" cy="304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50" b="1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i="1" dirty="0">
                <a:solidFill>
                  <a:schemeClr val="bg2"/>
                </a:solidFill>
              </a:rPr>
              <a:t>Embedded</a:t>
            </a:r>
            <a:r>
              <a:rPr lang="en-US" altLang="ko-KR" i="1" baseline="0" dirty="0">
                <a:solidFill>
                  <a:schemeClr val="bg2"/>
                </a:solidFill>
              </a:rPr>
              <a:t> System Architecture Lab</a:t>
            </a:r>
          </a:p>
          <a:p>
            <a:r>
              <a:rPr lang="en-US" altLang="ko-KR" i="1" baseline="0" dirty="0">
                <a:solidFill>
                  <a:schemeClr val="tx2"/>
                </a:solidFill>
              </a:rPr>
              <a:t>Department of Electrical Engineering</a:t>
            </a:r>
            <a:endParaRPr lang="ko-KR" altLang="en-US" i="1" dirty="0">
              <a:solidFill>
                <a:schemeClr val="tx2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2413" y="140019"/>
            <a:ext cx="9627165" cy="329979"/>
          </a:xfrm>
        </p:spPr>
        <p:txBody>
          <a:bodyPr>
            <a:noAutofit/>
          </a:bodyPr>
          <a:lstStyle>
            <a:lvl1pPr>
              <a:defRPr sz="2400" b="1">
                <a:solidFill>
                  <a:srgbClr val="C801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59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742950" y="1329879"/>
            <a:ext cx="8420100" cy="1294790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461467" y="3434881"/>
            <a:ext cx="898306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18" name="직사각형 9"/>
          <p:cNvSpPr/>
          <p:nvPr userDrawn="1"/>
        </p:nvSpPr>
        <p:spPr>
          <a:xfrm>
            <a:off x="461467" y="2770795"/>
            <a:ext cx="8983066" cy="45719"/>
          </a:xfrm>
          <a:prstGeom prst="rect">
            <a:avLst/>
          </a:prstGeom>
          <a:solidFill>
            <a:srgbClr val="C8015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lvl="0" algn="ctr"/>
            <a:endParaRPr lang="ko-KR" altLang="en-US" dirty="0"/>
          </a:p>
        </p:txBody>
      </p:sp>
      <p:pic>
        <p:nvPicPr>
          <p:cNvPr id="19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144" y="6092701"/>
            <a:ext cx="2798389" cy="40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33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8620B-A437-4F0D-A730-8BB93955CBD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2513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4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media" Target="../media/media2.mp4"/><Relationship Id="rId7" Type="http://schemas.openxmlformats.org/officeDocument/2006/relationships/image" Target="../media/image1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3" Type="http://schemas.microsoft.com/office/2007/relationships/media" Target="../media/media3.mp4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8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4.mp4"/><Relationship Id="rId11" Type="http://schemas.openxmlformats.org/officeDocument/2006/relationships/image" Target="../media/image19.png"/><Relationship Id="rId5" Type="http://schemas.microsoft.com/office/2007/relationships/media" Target="../media/media4.mp4"/><Relationship Id="rId10" Type="http://schemas.openxmlformats.org/officeDocument/2006/relationships/image" Target="../media/image18.png"/><Relationship Id="rId4" Type="http://schemas.openxmlformats.org/officeDocument/2006/relationships/video" Target="../media/media3.mp4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ideo" Target="../media/media8.mp4"/><Relationship Id="rId13" Type="http://schemas.openxmlformats.org/officeDocument/2006/relationships/image" Target="../media/image27.png"/><Relationship Id="rId3" Type="http://schemas.microsoft.com/office/2007/relationships/media" Target="../media/media6.mp4"/><Relationship Id="rId7" Type="http://schemas.microsoft.com/office/2007/relationships/media" Target="../media/media8.mp4"/><Relationship Id="rId12" Type="http://schemas.openxmlformats.org/officeDocument/2006/relationships/image" Target="../media/image26.pn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video" Target="../media/media7.mp4"/><Relationship Id="rId11" Type="http://schemas.openxmlformats.org/officeDocument/2006/relationships/image" Target="../media/image25.png"/><Relationship Id="rId5" Type="http://schemas.microsoft.com/office/2007/relationships/media" Target="../media/media7.mp4"/><Relationship Id="rId10" Type="http://schemas.openxmlformats.org/officeDocument/2006/relationships/notesSlide" Target="../notesSlides/notesSlide19.xml"/><Relationship Id="rId4" Type="http://schemas.openxmlformats.org/officeDocument/2006/relationships/video" Target="../media/media6.mp4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Learning based video motion magnification(W2)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 err="1"/>
              <a:t>Seungheon</a:t>
            </a:r>
            <a:r>
              <a:rPr lang="en-US" altLang="ko-KR" b="1" dirty="0"/>
              <a:t> Choi</a:t>
            </a:r>
          </a:p>
          <a:p>
            <a:r>
              <a:rPr lang="en-US" altLang="ko-KR" dirty="0"/>
              <a:t>Department of Electronic Engineering</a:t>
            </a:r>
          </a:p>
          <a:p>
            <a:r>
              <a:rPr lang="en-US" altLang="ko-KR" dirty="0"/>
              <a:t>Kyungpook National University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28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ECAAC-C567-4673-4B0E-EB7B1636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27606EF-A9D6-00DB-67AB-DB1CE5B7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6237D350-37DF-23C6-6DCF-07E9262F2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9"/>
            <a:ext cx="9729578" cy="2657128"/>
          </a:xfrm>
        </p:spPr>
        <p:txBody>
          <a:bodyPr>
            <a:normAutofit/>
          </a:bodyPr>
          <a:lstStyle/>
          <a:p>
            <a:r>
              <a:rPr lang="en-US" altLang="ko-KR" dirty="0"/>
              <a:t>1. Gantt chart</a:t>
            </a:r>
          </a:p>
          <a:p>
            <a:r>
              <a:rPr lang="en-US" altLang="ko-KR" dirty="0"/>
              <a:t>2. Understanding the Data &amp; Model Architecture</a:t>
            </a:r>
          </a:p>
          <a:p>
            <a:r>
              <a:rPr lang="en-US" altLang="ko-KR" dirty="0"/>
              <a:t>3. Code optimization</a:t>
            </a:r>
          </a:p>
          <a:p>
            <a:r>
              <a:rPr lang="en-US" altLang="ko-KR" dirty="0"/>
              <a:t>4. Result and Analysis</a:t>
            </a:r>
          </a:p>
          <a:p>
            <a:r>
              <a:rPr lang="en-US" altLang="ko-KR" dirty="0"/>
              <a:t>5. Conclusion	</a:t>
            </a:r>
          </a:p>
          <a:p>
            <a:pPr lvl="1"/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D4C24ED-5520-BD17-A25B-5FE2576E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2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711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85675-3FEA-6CC0-812D-87986038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032BB20-3AD5-794B-429B-72A284B5D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Gantt chart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5C825BB-8B66-45F1-A0B7-136CBD10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3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C42286-BE32-2175-4A93-AA54E1BC1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4834"/>
              </p:ext>
            </p:extLst>
          </p:nvPr>
        </p:nvGraphicFramePr>
        <p:xfrm>
          <a:off x="246354" y="1278780"/>
          <a:ext cx="9413291" cy="467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9035">
                  <a:extLst>
                    <a:ext uri="{9D8B030D-6E8A-4147-A177-3AD203B41FA5}">
                      <a16:colId xmlns:a16="http://schemas.microsoft.com/office/drawing/2014/main" val="3970873885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855267482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4182672622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2505224699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1118137737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2321747252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3831305581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3486438122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3652681326"/>
                    </a:ext>
                  </a:extLst>
                </a:gridCol>
              </a:tblGrid>
              <a:tr h="345056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week2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Week4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592226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논문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71250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코드 실행 및 결과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886805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학습 데이터 파악 및 학습 재현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030739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Code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구조 분석 및 모델 구조 이해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950557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모션 감소 목적에 맞춘 모델 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788799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네트워크 수정 및 재학습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손실함수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파라미터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548000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결과 분석 및 디버깅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696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752A62-8C4C-B894-1D49-2EE2A197BE0C}"/>
              </a:ext>
            </a:extLst>
          </p:cNvPr>
          <p:cNvCxnSpPr>
            <a:cxnSpLocks/>
          </p:cNvCxnSpPr>
          <p:nvPr/>
        </p:nvCxnSpPr>
        <p:spPr>
          <a:xfrm flipV="1">
            <a:off x="6468846" y="5957030"/>
            <a:ext cx="0" cy="3047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01D543-F2F3-5BC8-DABD-0F65AA8E0E45}"/>
              </a:ext>
            </a:extLst>
          </p:cNvPr>
          <p:cNvSpPr txBox="1"/>
          <p:nvPr/>
        </p:nvSpPr>
        <p:spPr>
          <a:xfrm>
            <a:off x="6161000" y="6222239"/>
            <a:ext cx="1038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today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6825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0CF05-75FD-A224-7402-43C23D665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404B4AFA-2659-A215-AD4D-3F7E1FBD88D4}"/>
              </a:ext>
            </a:extLst>
          </p:cNvPr>
          <p:cNvCxnSpPr>
            <a:stCxn id="170" idx="0"/>
            <a:endCxn id="147" idx="4"/>
          </p:cNvCxnSpPr>
          <p:nvPr/>
        </p:nvCxnSpPr>
        <p:spPr>
          <a:xfrm flipV="1">
            <a:off x="6371259" y="2345675"/>
            <a:ext cx="0" cy="6239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>
            <a:extLst>
              <a:ext uri="{FF2B5EF4-FFF2-40B4-BE49-F238E27FC236}">
                <a16:creationId xmlns:a16="http://schemas.microsoft.com/office/drawing/2014/main" id="{44476555-0063-B9B4-7308-7420A95D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Understanding the Data &amp; Model Architecture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CA03C44F-832C-4611-1872-4AC1E015F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Model Architecture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6EA4FBB-A9E5-B757-FDAD-9D7D5F03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4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C4250B-0458-9644-BE8C-695E54E2CDCF}"/>
              </a:ext>
            </a:extLst>
          </p:cNvPr>
          <p:cNvSpPr/>
          <p:nvPr/>
        </p:nvSpPr>
        <p:spPr>
          <a:xfrm>
            <a:off x="166865" y="4743256"/>
            <a:ext cx="799547" cy="7377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58870A-D9DD-1B02-5658-4CA124626959}"/>
              </a:ext>
            </a:extLst>
          </p:cNvPr>
          <p:cNvSpPr/>
          <p:nvPr/>
        </p:nvSpPr>
        <p:spPr>
          <a:xfrm>
            <a:off x="1399317" y="1683027"/>
            <a:ext cx="3171038" cy="1978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9FC1E2-6FA4-BD68-0C4E-27DEAC12DD51}"/>
              </a:ext>
            </a:extLst>
          </p:cNvPr>
          <p:cNvSpPr/>
          <p:nvPr/>
        </p:nvSpPr>
        <p:spPr>
          <a:xfrm>
            <a:off x="1399316" y="4094923"/>
            <a:ext cx="3171039" cy="1978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4FF3DF-16B3-3EDB-5C90-4D3E872C19DA}"/>
              </a:ext>
            </a:extLst>
          </p:cNvPr>
          <p:cNvSpPr/>
          <p:nvPr/>
        </p:nvSpPr>
        <p:spPr>
          <a:xfrm>
            <a:off x="4888527" y="1677746"/>
            <a:ext cx="1808848" cy="1978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81EFC8-8D31-A515-B5A0-8EA025B24F78}"/>
              </a:ext>
            </a:extLst>
          </p:cNvPr>
          <p:cNvSpPr/>
          <p:nvPr/>
        </p:nvSpPr>
        <p:spPr>
          <a:xfrm>
            <a:off x="6867685" y="1683027"/>
            <a:ext cx="2680217" cy="439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Smiley Face 10">
            <a:extLst>
              <a:ext uri="{FF2B5EF4-FFF2-40B4-BE49-F238E27FC236}">
                <a16:creationId xmlns:a16="http://schemas.microsoft.com/office/drawing/2014/main" id="{D554632C-FFFE-B848-5E04-168DE732CFC5}"/>
              </a:ext>
            </a:extLst>
          </p:cNvPr>
          <p:cNvSpPr/>
          <p:nvPr/>
        </p:nvSpPr>
        <p:spPr>
          <a:xfrm>
            <a:off x="244530" y="4822768"/>
            <a:ext cx="247374" cy="229705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3D4365-E50C-B716-3606-BCD2447E0661}"/>
              </a:ext>
            </a:extLst>
          </p:cNvPr>
          <p:cNvSpPr/>
          <p:nvPr/>
        </p:nvSpPr>
        <p:spPr>
          <a:xfrm>
            <a:off x="166865" y="2296425"/>
            <a:ext cx="799547" cy="7377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Smiley Face 12">
            <a:extLst>
              <a:ext uri="{FF2B5EF4-FFF2-40B4-BE49-F238E27FC236}">
                <a16:creationId xmlns:a16="http://schemas.microsoft.com/office/drawing/2014/main" id="{AECA2DED-ED08-A80F-1C67-FEA023AA726F}"/>
              </a:ext>
            </a:extLst>
          </p:cNvPr>
          <p:cNvSpPr/>
          <p:nvPr/>
        </p:nvSpPr>
        <p:spPr>
          <a:xfrm>
            <a:off x="244530" y="2375937"/>
            <a:ext cx="247374" cy="229705"/>
          </a:xfrm>
          <a:prstGeom prst="smileyFac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Smiley Face 13">
            <a:extLst>
              <a:ext uri="{FF2B5EF4-FFF2-40B4-BE49-F238E27FC236}">
                <a16:creationId xmlns:a16="http://schemas.microsoft.com/office/drawing/2014/main" id="{4A3DC674-7BEC-A7C8-8585-E264ECF9F286}"/>
              </a:ext>
            </a:extLst>
          </p:cNvPr>
          <p:cNvSpPr/>
          <p:nvPr/>
        </p:nvSpPr>
        <p:spPr>
          <a:xfrm>
            <a:off x="358097" y="2475328"/>
            <a:ext cx="247374" cy="229705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D3EADB-3952-4444-BFCD-70E0CCD0FDCA}"/>
                  </a:ext>
                </a:extLst>
              </p:cNvPr>
              <p:cNvSpPr txBox="1"/>
              <p:nvPr/>
            </p:nvSpPr>
            <p:spPr>
              <a:xfrm>
                <a:off x="153973" y="5421325"/>
                <a:ext cx="65562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,3]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D3EADB-3952-4444-BFCD-70E0CCD0F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73" y="5421325"/>
                <a:ext cx="655621" cy="338554"/>
              </a:xfrm>
              <a:prstGeom prst="rect">
                <a:avLst/>
              </a:prstGeom>
              <a:blipFill>
                <a:blip r:embed="rId3"/>
                <a:stretch>
                  <a:fillRect r="-66667"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D13A63-0FF6-1C04-329C-65E4F01C7FA6}"/>
                  </a:ext>
                </a:extLst>
              </p:cNvPr>
              <p:cNvSpPr txBox="1"/>
              <p:nvPr/>
            </p:nvSpPr>
            <p:spPr>
              <a:xfrm>
                <a:off x="166865" y="2974494"/>
                <a:ext cx="137352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,3]</m:t>
                    </m:r>
                  </m:oMath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D13A63-0FF6-1C04-329C-65E4F01C7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65" y="2974494"/>
                <a:ext cx="1373522" cy="338554"/>
              </a:xfrm>
              <a:prstGeom prst="rect">
                <a:avLst/>
              </a:prstGeom>
              <a:blipFill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3A1B0F-95CC-7167-89DF-2A3E08C09DE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966412" y="5112108"/>
            <a:ext cx="43290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27CDC4-E38E-BB1B-3982-6EE834AB6507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966412" y="2665277"/>
            <a:ext cx="432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51B6C99-7550-73F0-DA3A-8CE1B9626DA8}"/>
              </a:ext>
            </a:extLst>
          </p:cNvPr>
          <p:cNvSpPr txBox="1"/>
          <p:nvPr/>
        </p:nvSpPr>
        <p:spPr>
          <a:xfrm>
            <a:off x="1328409" y="3746813"/>
            <a:ext cx="104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Encoder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ECBB03-5BBA-6D0F-FA98-663474376B52}"/>
              </a:ext>
            </a:extLst>
          </p:cNvPr>
          <p:cNvSpPr txBox="1"/>
          <p:nvPr/>
        </p:nvSpPr>
        <p:spPr>
          <a:xfrm>
            <a:off x="1328409" y="1340199"/>
            <a:ext cx="104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Encoder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987CAF-4E60-5972-E901-7482DB686748}"/>
              </a:ext>
            </a:extLst>
          </p:cNvPr>
          <p:cNvSpPr txBox="1"/>
          <p:nvPr/>
        </p:nvSpPr>
        <p:spPr>
          <a:xfrm>
            <a:off x="4793189" y="1329636"/>
            <a:ext cx="146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Manipulator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6EC23-17A1-C4C7-CD38-C98C3296DD8C}"/>
              </a:ext>
            </a:extLst>
          </p:cNvPr>
          <p:cNvSpPr txBox="1"/>
          <p:nvPr/>
        </p:nvSpPr>
        <p:spPr>
          <a:xfrm>
            <a:off x="6867685" y="1340199"/>
            <a:ext cx="126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Decoder</a:t>
            </a:r>
            <a:endParaRPr lang="ko-KR" alt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938F37-7DE5-B4AE-413D-FD63BC8181FE}"/>
              </a:ext>
            </a:extLst>
          </p:cNvPr>
          <p:cNvGrpSpPr/>
          <p:nvPr/>
        </p:nvGrpSpPr>
        <p:grpSpPr>
          <a:xfrm>
            <a:off x="1399317" y="1892853"/>
            <a:ext cx="369332" cy="1585843"/>
            <a:chOff x="1507123" y="1925983"/>
            <a:chExt cx="369332" cy="1585843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D689229-2252-137E-06C5-6201BF4E5630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5C9FAC8-E608-0933-5705-FF61E7D01B79}"/>
                </a:ext>
              </a:extLst>
            </p:cNvPr>
            <p:cNvSpPr txBox="1"/>
            <p:nvPr/>
          </p:nvSpPr>
          <p:spPr>
            <a:xfrm>
              <a:off x="1507123" y="2018747"/>
              <a:ext cx="369332" cy="14276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Conv16_k7s1_Relu</a:t>
              </a:r>
              <a:endParaRPr lang="ko-KR" altLang="en-US" sz="1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04FB771-162C-5EBC-C1B3-DD858729DBC7}"/>
              </a:ext>
            </a:extLst>
          </p:cNvPr>
          <p:cNvGrpSpPr/>
          <p:nvPr/>
        </p:nvGrpSpPr>
        <p:grpSpPr>
          <a:xfrm>
            <a:off x="1706697" y="1892853"/>
            <a:ext cx="369332" cy="1585843"/>
            <a:chOff x="1507123" y="1925983"/>
            <a:chExt cx="369332" cy="1585843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F76A403-4428-A05A-145C-4CAC9E3BD618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CCF6FF-1AEA-D6D1-B2CA-A37DAB8948D3}"/>
                </a:ext>
              </a:extLst>
            </p:cNvPr>
            <p:cNvSpPr txBox="1"/>
            <p:nvPr/>
          </p:nvSpPr>
          <p:spPr>
            <a:xfrm>
              <a:off x="1507123" y="2018747"/>
              <a:ext cx="369332" cy="14276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Conv32_k3s2_Relu</a:t>
              </a:r>
              <a:endParaRPr lang="ko-KR" altLang="en-US" sz="12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5BCDF9E-84A5-8A84-9579-BED23E62084F}"/>
              </a:ext>
            </a:extLst>
          </p:cNvPr>
          <p:cNvGrpSpPr/>
          <p:nvPr/>
        </p:nvGrpSpPr>
        <p:grpSpPr>
          <a:xfrm>
            <a:off x="2368502" y="2175265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F238B8A-38D2-6A62-903E-501596F83ECE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A920F06-0F51-F5B7-25C7-CED7DE8680D2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C4F685D-E8B7-5009-19DB-C2811EE0B335}"/>
              </a:ext>
            </a:extLst>
          </p:cNvPr>
          <p:cNvGrpSpPr/>
          <p:nvPr/>
        </p:nvGrpSpPr>
        <p:grpSpPr>
          <a:xfrm>
            <a:off x="2086158" y="2175265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F62F287-EEAD-E086-3070-D001B0CF4532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A2B58EE-BA57-B6F1-7621-7E85473C16E0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1E5B9A8-7B63-480E-5852-22E1DEC1EEB3}"/>
              </a:ext>
            </a:extLst>
          </p:cNvPr>
          <p:cNvGrpSpPr/>
          <p:nvPr/>
        </p:nvGrpSpPr>
        <p:grpSpPr>
          <a:xfrm>
            <a:off x="2667485" y="2175265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4B4F1B7-32EE-B42C-2CB2-A33ADF0A3DC9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4059947-A843-B0C9-305F-D71F06CF8E1A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1062F4-A7BE-A566-DD0A-280943C39E90}"/>
              </a:ext>
            </a:extLst>
          </p:cNvPr>
          <p:cNvGrpSpPr/>
          <p:nvPr/>
        </p:nvGrpSpPr>
        <p:grpSpPr>
          <a:xfrm>
            <a:off x="3134097" y="2685772"/>
            <a:ext cx="492443" cy="925748"/>
            <a:chOff x="1544453" y="1925983"/>
            <a:chExt cx="328439" cy="1585843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C2D2BE8-AB31-CE46-9463-6BC1769E7BF6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9F3989E-106F-8199-7BBF-BE409A6CFFEC}"/>
                </a:ext>
              </a:extLst>
            </p:cNvPr>
            <p:cNvSpPr txBox="1"/>
            <p:nvPr/>
          </p:nvSpPr>
          <p:spPr>
            <a:xfrm>
              <a:off x="1544453" y="1972365"/>
              <a:ext cx="328439" cy="149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dirty="0"/>
                <a:t>Relu</a:t>
              </a:r>
            </a:p>
            <a:p>
              <a:pPr algn="ctr"/>
              <a:r>
                <a:rPr lang="en-US" altLang="ko-KR" sz="1000" dirty="0"/>
                <a:t>Conv32_k3s2</a:t>
              </a:r>
              <a:endParaRPr lang="ko-KR" altLang="en-US" sz="10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5743193-FEF5-CE6E-BD58-20219E8F074B}"/>
              </a:ext>
            </a:extLst>
          </p:cNvPr>
          <p:cNvGrpSpPr/>
          <p:nvPr/>
        </p:nvGrpSpPr>
        <p:grpSpPr>
          <a:xfrm>
            <a:off x="3134099" y="1712391"/>
            <a:ext cx="492443" cy="925748"/>
            <a:chOff x="1544455" y="1925983"/>
            <a:chExt cx="328439" cy="1585843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BFA0FA4-85DB-365C-4398-B6D7CCA37610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6C456B8-342A-FF81-7F3B-023BF5922CA0}"/>
                </a:ext>
              </a:extLst>
            </p:cNvPr>
            <p:cNvSpPr txBox="1"/>
            <p:nvPr/>
          </p:nvSpPr>
          <p:spPr>
            <a:xfrm>
              <a:off x="1544455" y="1972365"/>
              <a:ext cx="328439" cy="149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dirty="0"/>
                <a:t>Relu</a:t>
              </a:r>
            </a:p>
            <a:p>
              <a:pPr algn="ctr"/>
              <a:r>
                <a:rPr lang="en-US" altLang="ko-KR" sz="1000" dirty="0"/>
                <a:t>Conv32_k3s1</a:t>
              </a:r>
              <a:endParaRPr lang="ko-KR" altLang="en-US" sz="1000" dirty="0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8D6546C-6765-8423-F208-53898DF7D299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2973548" y="2175265"/>
            <a:ext cx="160551" cy="53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B001EBD-981E-6D99-3395-3BA673E172B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2980056" y="2712848"/>
            <a:ext cx="154041" cy="435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8F03646-95AD-562A-E7BA-27E9C8A00400}"/>
              </a:ext>
            </a:extLst>
          </p:cNvPr>
          <p:cNvGrpSpPr/>
          <p:nvPr/>
        </p:nvGrpSpPr>
        <p:grpSpPr>
          <a:xfrm>
            <a:off x="3712276" y="1892853"/>
            <a:ext cx="346249" cy="600958"/>
            <a:chOff x="1536533" y="1925983"/>
            <a:chExt cx="346249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3809447E-F5BE-B95A-7133-FD80384D39B4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55E6667-B050-4315-5658-0A4E0DC14B65}"/>
                </a:ext>
              </a:extLst>
            </p:cNvPr>
            <p:cNvSpPr txBox="1"/>
            <p:nvPr/>
          </p:nvSpPr>
          <p:spPr>
            <a:xfrm>
              <a:off x="1536533" y="1925983"/>
              <a:ext cx="346249" cy="156767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10A1D5C-B783-CC7C-7485-579FD9D63539}"/>
              </a:ext>
            </a:extLst>
          </p:cNvPr>
          <p:cNvGrpSpPr/>
          <p:nvPr/>
        </p:nvGrpSpPr>
        <p:grpSpPr>
          <a:xfrm>
            <a:off x="4001292" y="1892853"/>
            <a:ext cx="346249" cy="617639"/>
            <a:chOff x="1520680" y="1925983"/>
            <a:chExt cx="346249" cy="1629861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674F33FB-01EF-FE3E-D923-AB81F1B0EEAD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AC18020-C95D-B666-23D4-E15BD39D556C}"/>
                </a:ext>
              </a:extLst>
            </p:cNvPr>
            <p:cNvSpPr txBox="1"/>
            <p:nvPr/>
          </p:nvSpPr>
          <p:spPr>
            <a:xfrm>
              <a:off x="1520680" y="1988170"/>
              <a:ext cx="346249" cy="15676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0652FF8-F250-D0DC-F385-0061E1B3A274}"/>
              </a:ext>
            </a:extLst>
          </p:cNvPr>
          <p:cNvGrpSpPr/>
          <p:nvPr/>
        </p:nvGrpSpPr>
        <p:grpSpPr>
          <a:xfrm>
            <a:off x="3712276" y="2828042"/>
            <a:ext cx="346249" cy="600958"/>
            <a:chOff x="1536533" y="1925983"/>
            <a:chExt cx="346249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8FB1B181-1D5D-8177-167A-28CB3CCB5E5B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F847B9A-D42B-FA21-C35E-61A49E742737}"/>
                </a:ext>
              </a:extLst>
            </p:cNvPr>
            <p:cNvSpPr txBox="1"/>
            <p:nvPr/>
          </p:nvSpPr>
          <p:spPr>
            <a:xfrm>
              <a:off x="1536533" y="1925983"/>
              <a:ext cx="346249" cy="156767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7EFE00F-C893-B922-9C5C-CBC3A0795695}"/>
              </a:ext>
            </a:extLst>
          </p:cNvPr>
          <p:cNvGrpSpPr/>
          <p:nvPr/>
        </p:nvGrpSpPr>
        <p:grpSpPr>
          <a:xfrm>
            <a:off x="3997856" y="2828042"/>
            <a:ext cx="346249" cy="619358"/>
            <a:chOff x="1517244" y="1925983"/>
            <a:chExt cx="346249" cy="163439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404AAAB0-F92B-CEA6-78E3-05DB59DD82EC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F513A39-4207-6266-22A7-799CADBD46FA}"/>
                </a:ext>
              </a:extLst>
            </p:cNvPr>
            <p:cNvSpPr txBox="1"/>
            <p:nvPr/>
          </p:nvSpPr>
          <p:spPr>
            <a:xfrm>
              <a:off x="1517244" y="1992707"/>
              <a:ext cx="346249" cy="15676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A1DDC74-3BAA-5675-CF36-31B618C995C9}"/>
              </a:ext>
            </a:extLst>
          </p:cNvPr>
          <p:cNvGrpSpPr/>
          <p:nvPr/>
        </p:nvGrpSpPr>
        <p:grpSpPr>
          <a:xfrm>
            <a:off x="1399317" y="4296607"/>
            <a:ext cx="369332" cy="1585843"/>
            <a:chOff x="1507123" y="1925983"/>
            <a:chExt cx="369332" cy="1585843"/>
          </a:xfrm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13BC3AA1-0CFD-75DF-1C3D-518900A813E4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BA3AE69-1E81-2C03-3D92-853819BE829F}"/>
                </a:ext>
              </a:extLst>
            </p:cNvPr>
            <p:cNvSpPr txBox="1"/>
            <p:nvPr/>
          </p:nvSpPr>
          <p:spPr>
            <a:xfrm>
              <a:off x="1507123" y="2018747"/>
              <a:ext cx="369332" cy="14276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Conv16_k7s1_Relu</a:t>
              </a:r>
              <a:endParaRPr lang="ko-KR" altLang="en-US" sz="12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A3BD828-3F2B-4C27-2EF8-DB03323AADCA}"/>
              </a:ext>
            </a:extLst>
          </p:cNvPr>
          <p:cNvGrpSpPr/>
          <p:nvPr/>
        </p:nvGrpSpPr>
        <p:grpSpPr>
          <a:xfrm>
            <a:off x="1706697" y="4296607"/>
            <a:ext cx="369332" cy="1585843"/>
            <a:chOff x="1507123" y="1925983"/>
            <a:chExt cx="369332" cy="1585843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0971A5AD-C180-B8F8-4AA7-C922C7632E2C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2B32877-738C-E060-565E-2E1C877F2476}"/>
                </a:ext>
              </a:extLst>
            </p:cNvPr>
            <p:cNvSpPr txBox="1"/>
            <p:nvPr/>
          </p:nvSpPr>
          <p:spPr>
            <a:xfrm>
              <a:off x="1507123" y="2018747"/>
              <a:ext cx="369332" cy="14276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Conv32_k3s2_Relu</a:t>
              </a:r>
              <a:endParaRPr lang="ko-KR" altLang="en-US" sz="1200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F18926B-D718-91A1-3A16-04E17546D164}"/>
              </a:ext>
            </a:extLst>
          </p:cNvPr>
          <p:cNvGrpSpPr/>
          <p:nvPr/>
        </p:nvGrpSpPr>
        <p:grpSpPr>
          <a:xfrm>
            <a:off x="2368502" y="4579019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9C7C7369-FC52-5AF3-F55F-46ED9EF8DD06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956AA30-AD65-17CC-EC63-35E898315E98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C0B99C5-D761-1F8F-4B4A-B67B38E2CFC2}"/>
              </a:ext>
            </a:extLst>
          </p:cNvPr>
          <p:cNvGrpSpPr/>
          <p:nvPr/>
        </p:nvGrpSpPr>
        <p:grpSpPr>
          <a:xfrm>
            <a:off x="2086158" y="4579019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CD864972-097E-AEDD-8924-7217DF806E3E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5D8F106-BF22-A48A-F1D7-EDCE3D36B241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DF8EE9C-5D3E-28BF-A9D2-50AB806E4564}"/>
              </a:ext>
            </a:extLst>
          </p:cNvPr>
          <p:cNvGrpSpPr/>
          <p:nvPr/>
        </p:nvGrpSpPr>
        <p:grpSpPr>
          <a:xfrm>
            <a:off x="2667485" y="4579019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78D9A58E-E185-B879-D962-01C2ED1D2C47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3FEA59B-A11A-69E7-8DB9-5BCE26061325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1BF9FBD-A455-CA5B-7519-6DC3A1514A6B}"/>
              </a:ext>
            </a:extLst>
          </p:cNvPr>
          <p:cNvGrpSpPr/>
          <p:nvPr/>
        </p:nvGrpSpPr>
        <p:grpSpPr>
          <a:xfrm>
            <a:off x="3134097" y="5089526"/>
            <a:ext cx="492443" cy="925748"/>
            <a:chOff x="1544453" y="1925983"/>
            <a:chExt cx="328439" cy="1585843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8BCC3CDE-E2C7-013A-3755-C5F93DB851A6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E207141-AD54-2B47-6AC2-7EC13B47DD4F}"/>
                </a:ext>
              </a:extLst>
            </p:cNvPr>
            <p:cNvSpPr txBox="1"/>
            <p:nvPr/>
          </p:nvSpPr>
          <p:spPr>
            <a:xfrm>
              <a:off x="1544453" y="1972366"/>
              <a:ext cx="328439" cy="149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dirty="0"/>
                <a:t>Relu</a:t>
              </a:r>
            </a:p>
            <a:p>
              <a:pPr algn="ctr"/>
              <a:r>
                <a:rPr lang="en-US" altLang="ko-KR" sz="1000" dirty="0"/>
                <a:t>Conv32_k3s2</a:t>
              </a:r>
              <a:endParaRPr lang="ko-KR" altLang="en-US" sz="10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7EA8EC1-EF68-E575-7381-55F1663C1161}"/>
              </a:ext>
            </a:extLst>
          </p:cNvPr>
          <p:cNvGrpSpPr/>
          <p:nvPr/>
        </p:nvGrpSpPr>
        <p:grpSpPr>
          <a:xfrm>
            <a:off x="3134097" y="4116145"/>
            <a:ext cx="492443" cy="925748"/>
            <a:chOff x="1544453" y="1925983"/>
            <a:chExt cx="328439" cy="1585843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33F86502-5C9D-93EE-B14D-CEFB8F072FD2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774B504-8722-18F4-2455-90460D3B3BFB}"/>
                </a:ext>
              </a:extLst>
            </p:cNvPr>
            <p:cNvSpPr txBox="1"/>
            <p:nvPr/>
          </p:nvSpPr>
          <p:spPr>
            <a:xfrm>
              <a:off x="1544453" y="1972366"/>
              <a:ext cx="328439" cy="149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dirty="0"/>
                <a:t>Relu</a:t>
              </a:r>
            </a:p>
            <a:p>
              <a:pPr algn="ctr"/>
              <a:r>
                <a:rPr lang="en-US" altLang="ko-KR" sz="1000" dirty="0"/>
                <a:t>Conv32_k3s2</a:t>
              </a:r>
              <a:endParaRPr lang="ko-KR" altLang="en-US" sz="1000" dirty="0"/>
            </a:p>
          </p:txBody>
        </p:sp>
      </p:grp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F96C955-E958-9DE5-E0DB-EAB1EB571B4B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2973546" y="4579019"/>
            <a:ext cx="160551" cy="53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C790CA1-6E16-E036-0560-7BC235FE60C6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2980056" y="5116602"/>
            <a:ext cx="154041" cy="435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2457EFE-3210-CC03-F7C0-4D673AFC10E2}"/>
              </a:ext>
            </a:extLst>
          </p:cNvPr>
          <p:cNvGrpSpPr/>
          <p:nvPr/>
        </p:nvGrpSpPr>
        <p:grpSpPr>
          <a:xfrm>
            <a:off x="3712276" y="4296607"/>
            <a:ext cx="346249" cy="600958"/>
            <a:chOff x="1536533" y="1925983"/>
            <a:chExt cx="346249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CBA912E4-BDBA-281F-8F22-7AB5569DA665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6D19F5C-A971-BBBC-EB49-2F2DD89AD825}"/>
                </a:ext>
              </a:extLst>
            </p:cNvPr>
            <p:cNvSpPr txBox="1"/>
            <p:nvPr/>
          </p:nvSpPr>
          <p:spPr>
            <a:xfrm>
              <a:off x="1536533" y="1925983"/>
              <a:ext cx="346249" cy="156767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01A0024-47B3-7E80-C0D9-6B3D05BD5F84}"/>
              </a:ext>
            </a:extLst>
          </p:cNvPr>
          <p:cNvGrpSpPr/>
          <p:nvPr/>
        </p:nvGrpSpPr>
        <p:grpSpPr>
          <a:xfrm>
            <a:off x="3992977" y="4296607"/>
            <a:ext cx="346249" cy="602038"/>
            <a:chOff x="1512365" y="1925983"/>
            <a:chExt cx="346249" cy="1588692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6C2FA6D1-EBC7-81A0-3532-67EAF0ACE847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43AFD75-2654-09D8-C90C-90FDD39B0224}"/>
                </a:ext>
              </a:extLst>
            </p:cNvPr>
            <p:cNvSpPr txBox="1"/>
            <p:nvPr/>
          </p:nvSpPr>
          <p:spPr>
            <a:xfrm>
              <a:off x="1512365" y="1947001"/>
              <a:ext cx="346249" cy="15676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39958F2-95C9-8597-156B-490205D01390}"/>
              </a:ext>
            </a:extLst>
          </p:cNvPr>
          <p:cNvGrpSpPr/>
          <p:nvPr/>
        </p:nvGrpSpPr>
        <p:grpSpPr>
          <a:xfrm>
            <a:off x="3712276" y="5231796"/>
            <a:ext cx="346249" cy="600958"/>
            <a:chOff x="1536533" y="1925983"/>
            <a:chExt cx="346249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C2BA8E05-8E09-4F6B-B360-5FD34EE5147A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8646124-8C49-88B2-8DA2-0ACD62CFF61C}"/>
                </a:ext>
              </a:extLst>
            </p:cNvPr>
            <p:cNvSpPr txBox="1"/>
            <p:nvPr/>
          </p:nvSpPr>
          <p:spPr>
            <a:xfrm>
              <a:off x="1536533" y="1925983"/>
              <a:ext cx="346249" cy="156767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E249BCE-2EB6-26EA-0AB2-4EA0D9F903CC}"/>
              </a:ext>
            </a:extLst>
          </p:cNvPr>
          <p:cNvGrpSpPr/>
          <p:nvPr/>
        </p:nvGrpSpPr>
        <p:grpSpPr>
          <a:xfrm>
            <a:off x="4009776" y="5231796"/>
            <a:ext cx="346249" cy="617078"/>
            <a:chOff x="1529164" y="1925983"/>
            <a:chExt cx="346249" cy="1628381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0C15045C-0378-1EDB-C215-1C5CBE177CF1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FECD991-8FEF-6491-C84E-819650E94602}"/>
                </a:ext>
              </a:extLst>
            </p:cNvPr>
            <p:cNvSpPr txBox="1"/>
            <p:nvPr/>
          </p:nvSpPr>
          <p:spPr>
            <a:xfrm>
              <a:off x="1529164" y="1986690"/>
              <a:ext cx="346249" cy="15676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7984DD41-34AE-34AC-8DC7-EA2A1CDFD254}"/>
                  </a:ext>
                </a:extLst>
              </p:cNvPr>
              <p:cNvSpPr txBox="1"/>
              <p:nvPr/>
            </p:nvSpPr>
            <p:spPr>
              <a:xfrm>
                <a:off x="4119257" y="1918138"/>
                <a:ext cx="6384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7984DD41-34AE-34AC-8DC7-EA2A1CDFD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257" y="1918138"/>
                <a:ext cx="63847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BB03273-EA8A-E629-6CF0-461589724CB2}"/>
                  </a:ext>
                </a:extLst>
              </p:cNvPr>
              <p:cNvSpPr txBox="1"/>
              <p:nvPr/>
            </p:nvSpPr>
            <p:spPr>
              <a:xfrm>
                <a:off x="4212945" y="4322515"/>
                <a:ext cx="4510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BB03273-EA8A-E629-6CF0-461589724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945" y="4322515"/>
                <a:ext cx="451098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A9036318-2FF3-FD2B-8ECC-24465437FFEE}"/>
                  </a:ext>
                </a:extLst>
              </p:cNvPr>
              <p:cNvSpPr txBox="1"/>
              <p:nvPr/>
            </p:nvSpPr>
            <p:spPr>
              <a:xfrm>
                <a:off x="4119257" y="2967339"/>
                <a:ext cx="6384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A9036318-2FF3-FD2B-8ECC-24465437F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257" y="2967339"/>
                <a:ext cx="63847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2421477-EACA-0941-E7C0-CE75411949BA}"/>
                  </a:ext>
                </a:extLst>
              </p:cNvPr>
              <p:cNvSpPr txBox="1"/>
              <p:nvPr/>
            </p:nvSpPr>
            <p:spPr>
              <a:xfrm>
                <a:off x="4119257" y="5238495"/>
                <a:ext cx="6384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2421477-EACA-0941-E7C0-CE7541194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257" y="5238495"/>
                <a:ext cx="63847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Oval 146">
            <a:extLst>
              <a:ext uri="{FF2B5EF4-FFF2-40B4-BE49-F238E27FC236}">
                <a16:creationId xmlns:a16="http://schemas.microsoft.com/office/drawing/2014/main" id="{1F7162EC-017B-D0C8-90F4-B128CA0DD89A}"/>
              </a:ext>
            </a:extLst>
          </p:cNvPr>
          <p:cNvSpPr/>
          <p:nvPr/>
        </p:nvSpPr>
        <p:spPr>
          <a:xfrm>
            <a:off x="6208200" y="2027622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A0D3AB15-1336-9C27-946D-A6017BB8BA4A}"/>
              </a:ext>
            </a:extLst>
          </p:cNvPr>
          <p:cNvCxnSpPr>
            <a:cxnSpLocks/>
            <a:endCxn id="147" idx="2"/>
          </p:cNvCxnSpPr>
          <p:nvPr/>
        </p:nvCxnSpPr>
        <p:spPr>
          <a:xfrm flipV="1">
            <a:off x="4288770" y="2186649"/>
            <a:ext cx="1919430" cy="66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Plus Sign 149">
            <a:extLst>
              <a:ext uri="{FF2B5EF4-FFF2-40B4-BE49-F238E27FC236}">
                <a16:creationId xmlns:a16="http://schemas.microsoft.com/office/drawing/2014/main" id="{B8E8D91E-A80A-24DC-4B08-F9C338AC5DF5}"/>
              </a:ext>
            </a:extLst>
          </p:cNvPr>
          <p:cNvSpPr/>
          <p:nvPr/>
        </p:nvSpPr>
        <p:spPr>
          <a:xfrm>
            <a:off x="6245410" y="2047217"/>
            <a:ext cx="251696" cy="273892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33795C42-BDD8-76A7-A3B6-E3B946BFD175}"/>
              </a:ext>
            </a:extLst>
          </p:cNvPr>
          <p:cNvSpPr/>
          <p:nvPr/>
        </p:nvSpPr>
        <p:spPr>
          <a:xfrm>
            <a:off x="5234609" y="2962811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Minus Sign 158">
            <a:extLst>
              <a:ext uri="{FF2B5EF4-FFF2-40B4-BE49-F238E27FC236}">
                <a16:creationId xmlns:a16="http://schemas.microsoft.com/office/drawing/2014/main" id="{7931D916-965B-F631-ACDF-0F727943AC3D}"/>
              </a:ext>
            </a:extLst>
          </p:cNvPr>
          <p:cNvSpPr/>
          <p:nvPr/>
        </p:nvSpPr>
        <p:spPr>
          <a:xfrm>
            <a:off x="5234608" y="3018378"/>
            <a:ext cx="326117" cy="219410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7BF556AD-C1D6-5243-17B5-14E69282BAEE}"/>
              </a:ext>
            </a:extLst>
          </p:cNvPr>
          <p:cNvGrpSpPr/>
          <p:nvPr/>
        </p:nvGrpSpPr>
        <p:grpSpPr>
          <a:xfrm>
            <a:off x="5669795" y="2740560"/>
            <a:ext cx="366972" cy="766212"/>
            <a:chOff x="1557558" y="1925983"/>
            <a:chExt cx="353184" cy="1585843"/>
          </a:xfrm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899C4F6A-6C7D-D051-591E-E2A39E52EA58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5997B4A-ECF6-5A63-8AAF-9CA210A4EE39}"/>
                </a:ext>
              </a:extLst>
            </p:cNvPr>
            <p:cNvSpPr txBox="1"/>
            <p:nvPr/>
          </p:nvSpPr>
          <p:spPr>
            <a:xfrm>
              <a:off x="1581295" y="1981507"/>
              <a:ext cx="329447" cy="149307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800" dirty="0"/>
                <a:t>Relu</a:t>
              </a:r>
            </a:p>
            <a:p>
              <a:pPr algn="ctr"/>
              <a:r>
                <a:rPr lang="en-US" altLang="ko-KR" sz="800" dirty="0"/>
                <a:t>Conv32_k3s1</a:t>
              </a:r>
              <a:endParaRPr lang="ko-KR" altLang="en-US" sz="800" dirty="0"/>
            </a:p>
          </p:txBody>
        </p:sp>
      </p:grp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59B9999E-98B4-0408-2669-8558EC91DBDC}"/>
              </a:ext>
            </a:extLst>
          </p:cNvPr>
          <p:cNvCxnSpPr>
            <a:cxnSpLocks/>
            <a:stCxn id="147" idx="6"/>
          </p:cNvCxnSpPr>
          <p:nvPr/>
        </p:nvCxnSpPr>
        <p:spPr>
          <a:xfrm>
            <a:off x="6534317" y="2186649"/>
            <a:ext cx="3333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DF482A4C-269E-8B99-0BB1-B7800017DF02}"/>
              </a:ext>
            </a:extLst>
          </p:cNvPr>
          <p:cNvSpPr/>
          <p:nvPr/>
        </p:nvSpPr>
        <p:spPr>
          <a:xfrm>
            <a:off x="6208200" y="2969614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Multiplication Sign 171">
            <a:extLst>
              <a:ext uri="{FF2B5EF4-FFF2-40B4-BE49-F238E27FC236}">
                <a16:creationId xmlns:a16="http://schemas.microsoft.com/office/drawing/2014/main" id="{39AD301E-6272-451E-6ED9-5AE7D0F54672}"/>
              </a:ext>
            </a:extLst>
          </p:cNvPr>
          <p:cNvSpPr/>
          <p:nvPr/>
        </p:nvSpPr>
        <p:spPr>
          <a:xfrm>
            <a:off x="6238342" y="2974494"/>
            <a:ext cx="269074" cy="311009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4E12E513-50F4-5BF2-A27F-2FCE76349795}"/>
              </a:ext>
            </a:extLst>
          </p:cNvPr>
          <p:cNvCxnSpPr>
            <a:cxnSpLocks/>
            <a:endCxn id="170" idx="4"/>
          </p:cNvCxnSpPr>
          <p:nvPr/>
        </p:nvCxnSpPr>
        <p:spPr>
          <a:xfrm flipV="1">
            <a:off x="6371257" y="3287667"/>
            <a:ext cx="2" cy="5793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0D286BBC-5F42-256E-C5D8-3826B072847F}"/>
                  </a:ext>
                </a:extLst>
              </p:cNvPr>
              <p:cNvSpPr txBox="1"/>
              <p:nvPr/>
            </p:nvSpPr>
            <p:spPr>
              <a:xfrm>
                <a:off x="5992779" y="3810361"/>
                <a:ext cx="756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0D286BBC-5F42-256E-C5D8-3826B0728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779" y="3810361"/>
                <a:ext cx="756955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B14A65F1-2E9B-69C4-B8B5-68519FE478A2}"/>
              </a:ext>
            </a:extLst>
          </p:cNvPr>
          <p:cNvCxnSpPr>
            <a:cxnSpLocks/>
          </p:cNvCxnSpPr>
          <p:nvPr/>
        </p:nvCxnSpPr>
        <p:spPr>
          <a:xfrm>
            <a:off x="5022574" y="2193332"/>
            <a:ext cx="0" cy="9269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1B066D5-CD66-4173-53F2-5013FD360D65}"/>
              </a:ext>
            </a:extLst>
          </p:cNvPr>
          <p:cNvCxnSpPr/>
          <p:nvPr/>
        </p:nvCxnSpPr>
        <p:spPr>
          <a:xfrm>
            <a:off x="5022574" y="3120268"/>
            <a:ext cx="21203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5492DBC6-2252-3DCD-109D-FB3CBEE8D718}"/>
              </a:ext>
            </a:extLst>
          </p:cNvPr>
          <p:cNvCxnSpPr>
            <a:cxnSpLocks/>
            <a:stCxn id="98" idx="3"/>
            <a:endCxn id="151" idx="4"/>
          </p:cNvCxnSpPr>
          <p:nvPr/>
        </p:nvCxnSpPr>
        <p:spPr>
          <a:xfrm flipV="1">
            <a:off x="4306633" y="3280864"/>
            <a:ext cx="1091035" cy="131622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5522BBA8-E3AE-F955-7F49-F00E19129FFE}"/>
              </a:ext>
            </a:extLst>
          </p:cNvPr>
          <p:cNvCxnSpPr>
            <a:cxnSpLocks/>
            <a:stCxn id="151" idx="6"/>
            <a:endCxn id="163" idx="1"/>
          </p:cNvCxnSpPr>
          <p:nvPr/>
        </p:nvCxnSpPr>
        <p:spPr>
          <a:xfrm>
            <a:off x="5560726" y="3121838"/>
            <a:ext cx="109068" cy="182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E337651-2F08-4DE3-BCDA-19F3E2919DE0}"/>
              </a:ext>
            </a:extLst>
          </p:cNvPr>
          <p:cNvCxnSpPr>
            <a:cxnSpLocks/>
            <a:stCxn id="170" idx="2"/>
            <a:endCxn id="163" idx="3"/>
          </p:cNvCxnSpPr>
          <p:nvPr/>
        </p:nvCxnSpPr>
        <p:spPr>
          <a:xfrm flipH="1" flipV="1">
            <a:off x="5948739" y="3123666"/>
            <a:ext cx="259461" cy="49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8809C2F-E04E-95E4-C443-39246A2E722D}"/>
              </a:ext>
            </a:extLst>
          </p:cNvPr>
          <p:cNvGrpSpPr/>
          <p:nvPr/>
        </p:nvGrpSpPr>
        <p:grpSpPr>
          <a:xfrm>
            <a:off x="5992779" y="2708762"/>
            <a:ext cx="735374" cy="205498"/>
            <a:chOff x="5992779" y="2708762"/>
            <a:chExt cx="735374" cy="205498"/>
          </a:xfrm>
        </p:grpSpPr>
        <p:sp>
          <p:nvSpPr>
            <p:cNvPr id="199" name="Rectangle: Rounded Corners 198">
              <a:extLst>
                <a:ext uri="{FF2B5EF4-FFF2-40B4-BE49-F238E27FC236}">
                  <a16:creationId xmlns:a16="http://schemas.microsoft.com/office/drawing/2014/main" id="{B3EADFCC-801E-CACF-ADC2-CC744D8CFF92}"/>
                </a:ext>
              </a:extLst>
            </p:cNvPr>
            <p:cNvSpPr/>
            <p:nvPr/>
          </p:nvSpPr>
          <p:spPr>
            <a:xfrm>
              <a:off x="6078469" y="2708804"/>
              <a:ext cx="568548" cy="205456"/>
            </a:xfrm>
            <a:prstGeom prst="roundRect">
              <a:avLst/>
            </a:prstGeom>
            <a:solidFill>
              <a:srgbClr val="B8C2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38E6B790-B8FE-4A9F-0C4B-E9101C4A0D0F}"/>
                </a:ext>
              </a:extLst>
            </p:cNvPr>
            <p:cNvSpPr txBox="1"/>
            <p:nvPr/>
          </p:nvSpPr>
          <p:spPr>
            <a:xfrm>
              <a:off x="5992779" y="2708762"/>
              <a:ext cx="7353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Conv32_k3s1</a:t>
              </a:r>
              <a:endParaRPr lang="ko-KR" altLang="en-US" sz="700" dirty="0"/>
            </a:p>
          </p:txBody>
        </p:sp>
      </p:grp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4EDCA26E-B3A9-E9F2-5CE6-415FF4B5A586}"/>
              </a:ext>
            </a:extLst>
          </p:cNvPr>
          <p:cNvSpPr/>
          <p:nvPr/>
        </p:nvSpPr>
        <p:spPr>
          <a:xfrm>
            <a:off x="6146944" y="2443613"/>
            <a:ext cx="455844" cy="205456"/>
          </a:xfrm>
          <a:prstGeom prst="roundRect">
            <a:avLst/>
          </a:prstGeom>
          <a:solidFill>
            <a:srgbClr val="BEE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89787EB-E0B0-C804-4513-42EC033730FA}"/>
              </a:ext>
            </a:extLst>
          </p:cNvPr>
          <p:cNvSpPr txBox="1"/>
          <p:nvPr/>
        </p:nvSpPr>
        <p:spPr>
          <a:xfrm>
            <a:off x="6104097" y="2439400"/>
            <a:ext cx="5415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Res. Blk</a:t>
            </a:r>
            <a:endParaRPr lang="ko-KR" altLang="en-US" sz="700" dirty="0"/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85974704-222E-F4CC-A314-48F515439CFC}"/>
              </a:ext>
            </a:extLst>
          </p:cNvPr>
          <p:cNvCxnSpPr>
            <a:cxnSpLocks/>
          </p:cNvCxnSpPr>
          <p:nvPr/>
        </p:nvCxnSpPr>
        <p:spPr>
          <a:xfrm flipH="1" flipV="1">
            <a:off x="4299351" y="3237431"/>
            <a:ext cx="390257" cy="24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42EF0908-1942-3EF2-D6DE-25E41C767C12}"/>
              </a:ext>
            </a:extLst>
          </p:cNvPr>
          <p:cNvCxnSpPr/>
          <p:nvPr/>
        </p:nvCxnSpPr>
        <p:spPr>
          <a:xfrm>
            <a:off x="4689608" y="3237431"/>
            <a:ext cx="0" cy="174096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58695657-BA54-9647-997E-51D286D365EF}"/>
              </a:ext>
            </a:extLst>
          </p:cNvPr>
          <p:cNvCxnSpPr/>
          <p:nvPr/>
        </p:nvCxnSpPr>
        <p:spPr>
          <a:xfrm>
            <a:off x="4689608" y="4978400"/>
            <a:ext cx="217807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890339E3-635D-C00E-3FF7-8F130412B985}"/>
              </a:ext>
            </a:extLst>
          </p:cNvPr>
          <p:cNvSpPr/>
          <p:nvPr/>
        </p:nvSpPr>
        <p:spPr>
          <a:xfrm>
            <a:off x="6940667" y="1940411"/>
            <a:ext cx="278944" cy="76621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FB35281-ACE9-8B7E-E8BB-AD3CB495BA73}"/>
              </a:ext>
            </a:extLst>
          </p:cNvPr>
          <p:cNvSpPr txBox="1"/>
          <p:nvPr/>
        </p:nvSpPr>
        <p:spPr>
          <a:xfrm>
            <a:off x="6910862" y="1974516"/>
            <a:ext cx="338554" cy="7213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sz="1000" dirty="0" err="1"/>
              <a:t>Upsample</a:t>
            </a:r>
            <a:endParaRPr lang="ko-KR" altLang="en-US" sz="1000" dirty="0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A254320D-3973-C224-4FE2-02A8D8CF0D38}"/>
              </a:ext>
            </a:extLst>
          </p:cNvPr>
          <p:cNvGrpSpPr/>
          <p:nvPr/>
        </p:nvGrpSpPr>
        <p:grpSpPr>
          <a:xfrm>
            <a:off x="7246160" y="1940411"/>
            <a:ext cx="400110" cy="3333954"/>
            <a:chOff x="7246160" y="1940411"/>
            <a:chExt cx="400110" cy="3333954"/>
          </a:xfrm>
        </p:grpSpPr>
        <p:sp>
          <p:nvSpPr>
            <p:cNvPr id="219" name="Rectangle: Rounded Corners 218">
              <a:extLst>
                <a:ext uri="{FF2B5EF4-FFF2-40B4-BE49-F238E27FC236}">
                  <a16:creationId xmlns:a16="http://schemas.microsoft.com/office/drawing/2014/main" id="{C70EB60E-158C-7BF4-A4BE-42D8BC43E958}"/>
                </a:ext>
              </a:extLst>
            </p:cNvPr>
            <p:cNvSpPr/>
            <p:nvPr/>
          </p:nvSpPr>
          <p:spPr>
            <a:xfrm>
              <a:off x="7298610" y="1940411"/>
              <a:ext cx="278944" cy="333395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30E3C07E-B172-4936-70EB-9058164D9E8C}"/>
                </a:ext>
              </a:extLst>
            </p:cNvPr>
            <p:cNvSpPr txBox="1"/>
            <p:nvPr/>
          </p:nvSpPr>
          <p:spPr>
            <a:xfrm>
              <a:off x="7246160" y="3151250"/>
              <a:ext cx="400110" cy="72139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400" dirty="0" err="1"/>
                <a:t>Concat</a:t>
              </a:r>
              <a:r>
                <a:rPr lang="en-US" altLang="ko-KR" sz="1400" dirty="0"/>
                <a:t>.</a:t>
              </a:r>
              <a:endParaRPr lang="ko-KR" altLang="en-US" sz="1400" dirty="0"/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8887DAB2-F182-FBE4-C1E3-9C287BBE1096}"/>
              </a:ext>
            </a:extLst>
          </p:cNvPr>
          <p:cNvGrpSpPr/>
          <p:nvPr/>
        </p:nvGrpSpPr>
        <p:grpSpPr>
          <a:xfrm>
            <a:off x="7979248" y="3018765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22" name="Rectangle: Rounded Corners 221">
              <a:extLst>
                <a:ext uri="{FF2B5EF4-FFF2-40B4-BE49-F238E27FC236}">
                  <a16:creationId xmlns:a16="http://schemas.microsoft.com/office/drawing/2014/main" id="{85A6EC7C-2B22-A109-F3B5-09B8F1B1F1EE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273BC0F6-60F8-238F-5832-1A1DCCB5D0A0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841068F4-264D-7C11-E3EB-CFFB46ADCDA6}"/>
              </a:ext>
            </a:extLst>
          </p:cNvPr>
          <p:cNvGrpSpPr/>
          <p:nvPr/>
        </p:nvGrpSpPr>
        <p:grpSpPr>
          <a:xfrm>
            <a:off x="7637164" y="3018765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25" name="Rectangle: Rounded Corners 224">
              <a:extLst>
                <a:ext uri="{FF2B5EF4-FFF2-40B4-BE49-F238E27FC236}">
                  <a16:creationId xmlns:a16="http://schemas.microsoft.com/office/drawing/2014/main" id="{5ABEF4AA-D044-9AC2-43C0-860C1058D037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DF5E7236-58E0-F4BF-992A-EA947DDBA231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BFDFB41F-566E-01AB-E1C6-50C98EAD66AE}"/>
              </a:ext>
            </a:extLst>
          </p:cNvPr>
          <p:cNvGrpSpPr/>
          <p:nvPr/>
        </p:nvGrpSpPr>
        <p:grpSpPr>
          <a:xfrm>
            <a:off x="8304984" y="1940411"/>
            <a:ext cx="400110" cy="3333954"/>
            <a:chOff x="7253120" y="1940411"/>
            <a:chExt cx="400110" cy="3333954"/>
          </a:xfrm>
        </p:grpSpPr>
        <p:sp>
          <p:nvSpPr>
            <p:cNvPr id="229" name="Rectangle: Rounded Corners 228">
              <a:extLst>
                <a:ext uri="{FF2B5EF4-FFF2-40B4-BE49-F238E27FC236}">
                  <a16:creationId xmlns:a16="http://schemas.microsoft.com/office/drawing/2014/main" id="{098BCCA6-CFC6-7FD8-6EEB-570CB43109F6}"/>
                </a:ext>
              </a:extLst>
            </p:cNvPr>
            <p:cNvSpPr/>
            <p:nvPr/>
          </p:nvSpPr>
          <p:spPr>
            <a:xfrm>
              <a:off x="7298610" y="1940411"/>
              <a:ext cx="278944" cy="333395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5185D973-CFEB-CEEE-AC9C-D5824C1DD53B}"/>
                </a:ext>
              </a:extLst>
            </p:cNvPr>
            <p:cNvSpPr txBox="1"/>
            <p:nvPr/>
          </p:nvSpPr>
          <p:spPr>
            <a:xfrm>
              <a:off x="7253120" y="3190126"/>
              <a:ext cx="400110" cy="72139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400" dirty="0" err="1"/>
                <a:t>Concat</a:t>
              </a:r>
              <a:r>
                <a:rPr lang="en-US" altLang="ko-KR" sz="1400" dirty="0"/>
                <a:t>.</a:t>
              </a:r>
              <a:endParaRPr lang="ko-KR" altLang="en-US" sz="1400" dirty="0"/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51728EF4-33C1-8E2B-163F-BCEDAFCD277C}"/>
              </a:ext>
            </a:extLst>
          </p:cNvPr>
          <p:cNvGrpSpPr/>
          <p:nvPr/>
        </p:nvGrpSpPr>
        <p:grpSpPr>
          <a:xfrm>
            <a:off x="8659223" y="2863815"/>
            <a:ext cx="369332" cy="1585843"/>
            <a:chOff x="1507123" y="1925983"/>
            <a:chExt cx="369332" cy="1585843"/>
          </a:xfrm>
        </p:grpSpPr>
        <p:sp>
          <p:nvSpPr>
            <p:cNvPr id="232" name="Rectangle: Rounded Corners 231">
              <a:extLst>
                <a:ext uri="{FF2B5EF4-FFF2-40B4-BE49-F238E27FC236}">
                  <a16:creationId xmlns:a16="http://schemas.microsoft.com/office/drawing/2014/main" id="{3DAE3455-BDB6-A7EA-12E5-2E52C738FDDD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31CF7DAC-29E0-A896-C7B2-3CCB73D3EA77}"/>
                </a:ext>
              </a:extLst>
            </p:cNvPr>
            <p:cNvSpPr txBox="1"/>
            <p:nvPr/>
          </p:nvSpPr>
          <p:spPr>
            <a:xfrm>
              <a:off x="1507123" y="1985154"/>
              <a:ext cx="369332" cy="147893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Conv32_k3s1_ReLu</a:t>
              </a:r>
              <a:endParaRPr lang="ko-KR" altLang="en-US" sz="1200" dirty="0"/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F147A57A-8EB5-F033-2BC5-83787E5A341B}"/>
              </a:ext>
            </a:extLst>
          </p:cNvPr>
          <p:cNvGrpSpPr/>
          <p:nvPr/>
        </p:nvGrpSpPr>
        <p:grpSpPr>
          <a:xfrm>
            <a:off x="8957738" y="2863815"/>
            <a:ext cx="369332" cy="1585843"/>
            <a:chOff x="1492653" y="1925983"/>
            <a:chExt cx="369332" cy="1585843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0B20BD23-BE44-238E-0CFF-98549D30D943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F921C3C1-AC1D-5DBF-A804-6BB0D11D99D8}"/>
                </a:ext>
              </a:extLst>
            </p:cNvPr>
            <p:cNvSpPr txBox="1"/>
            <p:nvPr/>
          </p:nvSpPr>
          <p:spPr>
            <a:xfrm>
              <a:off x="1492653" y="2239792"/>
              <a:ext cx="369332" cy="94352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Conv3_k7s1</a:t>
              </a:r>
              <a:endParaRPr lang="ko-KR" altLang="en-US" sz="1200" dirty="0"/>
            </a:p>
          </p:txBody>
        </p:sp>
      </p:grp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1885CECD-6B56-C097-A684-3A92FB95826D}"/>
              </a:ext>
            </a:extLst>
          </p:cNvPr>
          <p:cNvCxnSpPr>
            <a:cxnSpLocks/>
            <a:stCxn id="235" idx="3"/>
          </p:cNvCxnSpPr>
          <p:nvPr/>
        </p:nvCxnSpPr>
        <p:spPr>
          <a:xfrm>
            <a:off x="9291106" y="3656737"/>
            <a:ext cx="56598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086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8E5F1-6AB4-FE77-2130-71FB527DD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8AF1857-9D99-B72E-5634-39B4AFDC5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Understanding the Data &amp; Model Architecture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5DE28C35-D3DC-8968-E260-55455B58A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Encoder : Texture vs Shape representation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AFD5F7-8988-59E5-4F36-6C47E5A5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5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42A446-1AD1-8452-7950-B4603D35867E}"/>
              </a:ext>
            </a:extLst>
          </p:cNvPr>
          <p:cNvSpPr/>
          <p:nvPr/>
        </p:nvSpPr>
        <p:spPr>
          <a:xfrm>
            <a:off x="498170" y="1360624"/>
            <a:ext cx="8270352" cy="3472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07BB10A-FAF5-C595-5F46-7293C1682541}"/>
              </a:ext>
            </a:extLst>
          </p:cNvPr>
          <p:cNvGrpSpPr/>
          <p:nvPr/>
        </p:nvGrpSpPr>
        <p:grpSpPr>
          <a:xfrm>
            <a:off x="1988694" y="2254119"/>
            <a:ext cx="369332" cy="1585843"/>
            <a:chOff x="1507123" y="1925983"/>
            <a:chExt cx="369332" cy="1585843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E2E0D1C-A2B8-4D0E-FEAD-C42D50769272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194A5D1-75F4-6AAF-332B-0FD0BA9B7098}"/>
                </a:ext>
              </a:extLst>
            </p:cNvPr>
            <p:cNvSpPr txBox="1"/>
            <p:nvPr/>
          </p:nvSpPr>
          <p:spPr>
            <a:xfrm>
              <a:off x="1507123" y="2018747"/>
              <a:ext cx="369332" cy="14276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Conv16_k7s1_Relu</a:t>
              </a:r>
              <a:endParaRPr lang="ko-KR" altLang="en-US" sz="1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37A9F57-C889-FCE0-2DC0-8F9C08F9DAB5}"/>
              </a:ext>
            </a:extLst>
          </p:cNvPr>
          <p:cNvGrpSpPr/>
          <p:nvPr/>
        </p:nvGrpSpPr>
        <p:grpSpPr>
          <a:xfrm>
            <a:off x="3056535" y="2254119"/>
            <a:ext cx="369332" cy="1585843"/>
            <a:chOff x="1507123" y="1925983"/>
            <a:chExt cx="369332" cy="1585843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039CD4C1-FDE2-B637-7F0D-A2993412A544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8275332-E72E-AF81-53AE-A5AF5B923D77}"/>
                </a:ext>
              </a:extLst>
            </p:cNvPr>
            <p:cNvSpPr txBox="1"/>
            <p:nvPr/>
          </p:nvSpPr>
          <p:spPr>
            <a:xfrm>
              <a:off x="1507123" y="2018747"/>
              <a:ext cx="369332" cy="14276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Conv32_k3s2_Relu</a:t>
              </a:r>
              <a:endParaRPr lang="ko-KR" altLang="en-US" sz="12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528F46E-2DD3-BE1B-A2B8-60F1308DEB2C}"/>
              </a:ext>
            </a:extLst>
          </p:cNvPr>
          <p:cNvGrpSpPr/>
          <p:nvPr/>
        </p:nvGrpSpPr>
        <p:grpSpPr>
          <a:xfrm>
            <a:off x="4881460" y="2551156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2566DE3-A605-B75F-08F8-80EE2289B77B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C6AF8F-3954-E20C-434D-F7691841CD9D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CB570C4-12E9-C1F5-F44A-09F020C6F382}"/>
              </a:ext>
            </a:extLst>
          </p:cNvPr>
          <p:cNvGrpSpPr/>
          <p:nvPr/>
        </p:nvGrpSpPr>
        <p:grpSpPr>
          <a:xfrm>
            <a:off x="4293385" y="2551156"/>
            <a:ext cx="369332" cy="1021017"/>
            <a:chOff x="1503687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1B1D6BF-DFAF-FEB4-3F4E-31DAABAB2092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C856D16-B01F-B1D5-CE00-84456EAD929D}"/>
                </a:ext>
              </a:extLst>
            </p:cNvPr>
            <p:cNvSpPr txBox="1"/>
            <p:nvPr/>
          </p:nvSpPr>
          <p:spPr>
            <a:xfrm>
              <a:off x="1503687" y="2225098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3368D94-0066-38DD-0BC2-413F8BBB41B1}"/>
              </a:ext>
            </a:extLst>
          </p:cNvPr>
          <p:cNvGrpSpPr/>
          <p:nvPr/>
        </p:nvGrpSpPr>
        <p:grpSpPr>
          <a:xfrm>
            <a:off x="5542086" y="2551156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4D2D285-4F58-94A2-02B7-D082E93A34C2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12248B8-802C-B4AC-E761-6B104760C6C6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8872EB3-0693-9C02-B567-4EFA586E4ACC}"/>
              </a:ext>
            </a:extLst>
          </p:cNvPr>
          <p:cNvGrpSpPr/>
          <p:nvPr/>
        </p:nvGrpSpPr>
        <p:grpSpPr>
          <a:xfrm>
            <a:off x="7439759" y="3267414"/>
            <a:ext cx="492443" cy="925748"/>
            <a:chOff x="1544453" y="1925983"/>
            <a:chExt cx="328439" cy="1585843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B55E9716-BA8B-81B0-97EE-983B8EE6D67C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6D0A0A7-7458-7704-3E20-2F5E930A687A}"/>
                </a:ext>
              </a:extLst>
            </p:cNvPr>
            <p:cNvSpPr txBox="1"/>
            <p:nvPr/>
          </p:nvSpPr>
          <p:spPr>
            <a:xfrm>
              <a:off x="1544453" y="1972366"/>
              <a:ext cx="328439" cy="149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dirty="0"/>
                <a:t>Relu</a:t>
              </a:r>
            </a:p>
            <a:p>
              <a:pPr algn="ctr"/>
              <a:r>
                <a:rPr lang="en-US" altLang="ko-KR" sz="1000" dirty="0"/>
                <a:t>Conv32_k3s2</a:t>
              </a:r>
              <a:endParaRPr lang="ko-KR" altLang="en-US" sz="10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D085AAE-1DF8-066C-9C1E-A95936EAD8DE}"/>
              </a:ext>
            </a:extLst>
          </p:cNvPr>
          <p:cNvGrpSpPr/>
          <p:nvPr/>
        </p:nvGrpSpPr>
        <p:grpSpPr>
          <a:xfrm>
            <a:off x="7420112" y="1776621"/>
            <a:ext cx="492443" cy="925748"/>
            <a:chOff x="1544455" y="1925983"/>
            <a:chExt cx="328439" cy="1585843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8BEC8AB3-2982-D165-9989-12C5007AC053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FEE2FE3-9477-E08D-4D9A-D0A9E4655A15}"/>
                </a:ext>
              </a:extLst>
            </p:cNvPr>
            <p:cNvSpPr txBox="1"/>
            <p:nvPr/>
          </p:nvSpPr>
          <p:spPr>
            <a:xfrm>
              <a:off x="1544455" y="1972365"/>
              <a:ext cx="328439" cy="149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dirty="0"/>
                <a:t>Relu</a:t>
              </a:r>
            </a:p>
            <a:p>
              <a:pPr algn="ctr"/>
              <a:r>
                <a:rPr lang="en-US" altLang="ko-KR" sz="1000" dirty="0"/>
                <a:t>Conv32_k3s1</a:t>
              </a:r>
              <a:endParaRPr lang="ko-KR" altLang="en-US" sz="1000" dirty="0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ACC55A-A567-6F7E-2903-734C976F88E0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5847280" y="2239495"/>
            <a:ext cx="1572832" cy="885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BB6A27A-9123-03E3-9138-92C5683C4B99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5853729" y="3132541"/>
            <a:ext cx="1586030" cy="597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630D137-15C1-815F-B751-34CCFB22EDE8}"/>
              </a:ext>
            </a:extLst>
          </p:cNvPr>
          <p:cNvGrpSpPr/>
          <p:nvPr/>
        </p:nvGrpSpPr>
        <p:grpSpPr>
          <a:xfrm>
            <a:off x="7998289" y="1957083"/>
            <a:ext cx="346249" cy="600958"/>
            <a:chOff x="1536533" y="1925983"/>
            <a:chExt cx="346249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C06A825C-AE7C-2E11-3E30-68C702F6DA31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E5732A1-0F20-4E64-FC5E-229DE0B0D9A6}"/>
                </a:ext>
              </a:extLst>
            </p:cNvPr>
            <p:cNvSpPr txBox="1"/>
            <p:nvPr/>
          </p:nvSpPr>
          <p:spPr>
            <a:xfrm>
              <a:off x="1536533" y="1925983"/>
              <a:ext cx="346249" cy="156767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8748B87-5B2B-9ADC-A518-85D6A6DAC77D}"/>
              </a:ext>
            </a:extLst>
          </p:cNvPr>
          <p:cNvGrpSpPr/>
          <p:nvPr/>
        </p:nvGrpSpPr>
        <p:grpSpPr>
          <a:xfrm>
            <a:off x="8287305" y="1957083"/>
            <a:ext cx="346249" cy="617639"/>
            <a:chOff x="1520680" y="1925983"/>
            <a:chExt cx="346249" cy="1629861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071B8ACE-1FD6-BC4E-6693-AD63F63D2DA6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EAF3A55-7001-DB13-70CF-E27C89439ECF}"/>
                </a:ext>
              </a:extLst>
            </p:cNvPr>
            <p:cNvSpPr txBox="1"/>
            <p:nvPr/>
          </p:nvSpPr>
          <p:spPr>
            <a:xfrm>
              <a:off x="1520680" y="1988170"/>
              <a:ext cx="346249" cy="15676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5BC09E9-4D1A-1A7A-BD9F-33EE907EE781}"/>
              </a:ext>
            </a:extLst>
          </p:cNvPr>
          <p:cNvGrpSpPr/>
          <p:nvPr/>
        </p:nvGrpSpPr>
        <p:grpSpPr>
          <a:xfrm>
            <a:off x="8017938" y="3409684"/>
            <a:ext cx="346249" cy="600958"/>
            <a:chOff x="1536533" y="1925983"/>
            <a:chExt cx="346249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8C2C3489-60B8-A3D2-6B75-C63341B0FC0A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C0A7768-581E-14AB-5B2F-D13221AD9D4A}"/>
                </a:ext>
              </a:extLst>
            </p:cNvPr>
            <p:cNvSpPr txBox="1"/>
            <p:nvPr/>
          </p:nvSpPr>
          <p:spPr>
            <a:xfrm>
              <a:off x="1536533" y="1925983"/>
              <a:ext cx="346249" cy="156767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5D2D57F-7517-1F02-1759-6DA950F19A56}"/>
              </a:ext>
            </a:extLst>
          </p:cNvPr>
          <p:cNvGrpSpPr/>
          <p:nvPr/>
        </p:nvGrpSpPr>
        <p:grpSpPr>
          <a:xfrm>
            <a:off x="8303518" y="3409684"/>
            <a:ext cx="346249" cy="619358"/>
            <a:chOff x="1517244" y="1925983"/>
            <a:chExt cx="346249" cy="163439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C7680D4D-9E7B-DF2F-86A8-2865737E784E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FBD40D3-C433-1F68-A1BB-0AB7461BE754}"/>
                </a:ext>
              </a:extLst>
            </p:cNvPr>
            <p:cNvSpPr txBox="1"/>
            <p:nvPr/>
          </p:nvSpPr>
          <p:spPr>
            <a:xfrm>
              <a:off x="1517244" y="1992707"/>
              <a:ext cx="346249" cy="15676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29BCA49-CE0D-4942-0920-55953693FD31}"/>
              </a:ext>
            </a:extLst>
          </p:cNvPr>
          <p:cNvSpPr txBox="1"/>
          <p:nvPr/>
        </p:nvSpPr>
        <p:spPr>
          <a:xfrm>
            <a:off x="2418237" y="5088803"/>
            <a:ext cx="5058896" cy="13272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c0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tf</a:t>
            </a:r>
            <a:r>
              <a:rPr lang="en-US" altLang="ko-K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.pad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[[</a:t>
            </a:r>
            <a:r>
              <a:rPr lang="en-US" altLang="ko-K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altLang="ko-K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]], </a:t>
            </a:r>
            <a:r>
              <a:rPr lang="en-US" altLang="ko-KR" sz="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"REFLECT"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dirty="0">
                <a:solidFill>
                  <a:srgbClr val="9CDCFE"/>
                </a:solidFill>
                <a:latin typeface="Consolas" panose="020B0609020204030204" pitchFamily="49" charset="0"/>
              </a:rPr>
              <a:t>c1</a:t>
            </a:r>
            <a:r>
              <a:rPr lang="ko-KR" alt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tf</a:t>
            </a:r>
            <a:r>
              <a:rPr lang="en-US" altLang="ko-KR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.nn.relu</a:t>
            </a:r>
            <a:r>
              <a:rPr lang="en-US" altLang="ko-KR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800" dirty="0">
                <a:solidFill>
                  <a:srgbClr val="DCDCAA"/>
                </a:solidFill>
                <a:latin typeface="Consolas" panose="020B0609020204030204" pitchFamily="49" charset="0"/>
              </a:rPr>
              <a:t>conv2d</a:t>
            </a:r>
            <a:r>
              <a:rPr lang="en-US" altLang="ko-KR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800" dirty="0">
                <a:solidFill>
                  <a:srgbClr val="9CDCFE"/>
                </a:solidFill>
                <a:latin typeface="Consolas" panose="020B0609020204030204" pitchFamily="49" charset="0"/>
              </a:rPr>
              <a:t>c0</a:t>
            </a:r>
            <a:r>
              <a:rPr lang="en-US" altLang="ko-KR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layer_dims</a:t>
            </a:r>
            <a:r>
              <a:rPr lang="ko-KR" alt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8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ko-KR" alt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8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800" dirty="0">
                <a:solidFill>
                  <a:srgbClr val="B5CEA8"/>
                </a:solidFill>
                <a:latin typeface="Consolas" panose="020B0609020204030204" pitchFamily="49" charset="0"/>
              </a:rPr>
              <a:t>7</a:t>
            </a:r>
            <a:r>
              <a:rPr lang="en-US" altLang="ko-KR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8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800" dirty="0">
                <a:solidFill>
                  <a:srgbClr val="9CDCFE"/>
                </a:solidFill>
                <a:latin typeface="Consolas" panose="020B0609020204030204" pitchFamily="49" charset="0"/>
              </a:rPr>
              <a:t>padding</a:t>
            </a:r>
            <a:r>
              <a:rPr lang="en-US" altLang="ko-KR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800" dirty="0">
                <a:solidFill>
                  <a:srgbClr val="CE9178"/>
                </a:solidFill>
                <a:latin typeface="Consolas" panose="020B0609020204030204" pitchFamily="49" charset="0"/>
              </a:rPr>
              <a:t>'VALID'</a:t>
            </a:r>
            <a:r>
              <a:rPr lang="en-US" altLang="ko-KR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8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800" dirty="0">
                <a:solidFill>
                  <a:srgbClr val="CE9178"/>
                </a:solidFill>
                <a:latin typeface="Consolas" panose="020B0609020204030204" pitchFamily="49" charset="0"/>
              </a:rPr>
              <a:t>'enc_conv1_c'</a:t>
            </a:r>
            <a:r>
              <a:rPr lang="en-US" altLang="ko-KR" sz="80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  <a:endParaRPr lang="ko-KR" altLang="en-US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c2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tf</a:t>
            </a:r>
            <a:r>
              <a:rPr lang="en-US" altLang="ko-K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.nn.relu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7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layer_dims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'enc_conv2_c’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  <a:endParaRPr lang="ko-KR" altLang="en-US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c2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ko-K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7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num_resblk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residual_block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layer_dims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7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encoder_resblk</a:t>
            </a:r>
            <a:r>
              <a:rPr lang="en-US" altLang="ko-K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altLang="ko-KR" sz="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7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</a:p>
          <a:p>
            <a:pPr>
              <a:lnSpc>
                <a:spcPts val="1425"/>
              </a:lnSpc>
            </a:pPr>
            <a:r>
              <a:rPr lang="en-US" altLang="ko-KR" sz="7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endParaRPr lang="ko-KR" altLang="en-US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F38A1B8D-0630-5947-7750-E8DC31E90A0E}"/>
              </a:ext>
            </a:extLst>
          </p:cNvPr>
          <p:cNvSpPr/>
          <p:nvPr/>
        </p:nvSpPr>
        <p:spPr>
          <a:xfrm rot="16200000">
            <a:off x="5005457" y="3261052"/>
            <a:ext cx="207697" cy="16023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4AC692-3DD3-E035-0C94-E19F48C94CEE}"/>
              </a:ext>
            </a:extLst>
          </p:cNvPr>
          <p:cNvSpPr txBox="1"/>
          <p:nvPr/>
        </p:nvSpPr>
        <p:spPr>
          <a:xfrm>
            <a:off x="4417329" y="4132574"/>
            <a:ext cx="1468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hyperparameter</a:t>
            </a:r>
          </a:p>
          <a:p>
            <a:pPr algn="ctr"/>
            <a:r>
              <a:rPr lang="en-US" altLang="ko-KR" sz="1400" dirty="0"/>
              <a:t>Default = 3</a:t>
            </a:r>
            <a:endParaRPr lang="ko-KR" altLang="en-US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D847B45-709F-DD91-10BA-CBDD10C26AC7}"/>
              </a:ext>
            </a:extLst>
          </p:cNvPr>
          <p:cNvSpPr txBox="1"/>
          <p:nvPr/>
        </p:nvSpPr>
        <p:spPr>
          <a:xfrm>
            <a:off x="4541699" y="2796061"/>
            <a:ext cx="38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61BEEF7-1BAD-9DF2-E616-6F05928E124E}"/>
              </a:ext>
            </a:extLst>
          </p:cNvPr>
          <p:cNvSpPr txBox="1"/>
          <p:nvPr/>
        </p:nvSpPr>
        <p:spPr>
          <a:xfrm>
            <a:off x="5196346" y="2796061"/>
            <a:ext cx="38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1812194-89E6-F03A-B4E1-22B247D9E222}"/>
              </a:ext>
            </a:extLst>
          </p:cNvPr>
          <p:cNvSpPr/>
          <p:nvPr/>
        </p:nvSpPr>
        <p:spPr>
          <a:xfrm>
            <a:off x="720035" y="1607930"/>
            <a:ext cx="6047408" cy="312309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699C28E3-3EAC-29DD-B438-BD2685B87E93}"/>
              </a:ext>
            </a:extLst>
          </p:cNvPr>
          <p:cNvCxnSpPr>
            <a:cxnSpLocks/>
          </p:cNvCxnSpPr>
          <p:nvPr/>
        </p:nvCxnSpPr>
        <p:spPr>
          <a:xfrm>
            <a:off x="184309" y="3052417"/>
            <a:ext cx="7575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EFE01F0-D789-BB5A-DF28-4BEF626C134C}"/>
              </a:ext>
            </a:extLst>
          </p:cNvPr>
          <p:cNvSpPr txBox="1"/>
          <p:nvPr/>
        </p:nvSpPr>
        <p:spPr>
          <a:xfrm>
            <a:off x="10720" y="2675292"/>
            <a:ext cx="691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Image</a:t>
            </a:r>
          </a:p>
          <a:p>
            <a:r>
              <a:rPr lang="en-US" altLang="ko-KR" sz="1000" dirty="0"/>
              <a:t>(N,h,w,3)</a:t>
            </a:r>
            <a:endParaRPr lang="ko-KR" altLang="en-US" sz="100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1831675-5CCE-55F7-8DF5-A1AB477C9AB9}"/>
              </a:ext>
            </a:extLst>
          </p:cNvPr>
          <p:cNvGrpSpPr/>
          <p:nvPr/>
        </p:nvGrpSpPr>
        <p:grpSpPr>
          <a:xfrm>
            <a:off x="903888" y="2591222"/>
            <a:ext cx="323165" cy="1047723"/>
            <a:chOff x="1528752" y="1925955"/>
            <a:chExt cx="323165" cy="162732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D2C0A4A2-0BEB-B612-F213-A4111EDC9AFD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5D4728BB-F8BA-5A23-852D-924A3EDCEA09}"/>
                </a:ext>
              </a:extLst>
            </p:cNvPr>
            <p:cNvSpPr txBox="1"/>
            <p:nvPr/>
          </p:nvSpPr>
          <p:spPr>
            <a:xfrm>
              <a:off x="1528752" y="1925955"/>
              <a:ext cx="323165" cy="162732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900" dirty="0"/>
                <a:t>Reflection padding</a:t>
              </a:r>
              <a:endParaRPr lang="ko-KR" altLang="en-US" sz="900" dirty="0"/>
            </a:p>
          </p:txBody>
        </p:sp>
      </p:grp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F7F51C1-6243-DA73-682A-3F53ACCD5675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200632" y="3052417"/>
            <a:ext cx="788062" cy="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ACCCCB3-AE7F-5C63-6F8B-1CEE2214BFB5}"/>
              </a:ext>
            </a:extLst>
          </p:cNvPr>
          <p:cNvSpPr txBox="1"/>
          <p:nvPr/>
        </p:nvSpPr>
        <p:spPr>
          <a:xfrm>
            <a:off x="1137223" y="2640088"/>
            <a:ext cx="86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c0</a:t>
            </a:r>
          </a:p>
          <a:p>
            <a:r>
              <a:rPr lang="en-US" altLang="ko-KR" sz="900" dirty="0"/>
              <a:t>(N,h+6,w+6,3)</a:t>
            </a:r>
            <a:endParaRPr lang="ko-KR" altLang="en-US" sz="900" dirty="0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A3D98054-C1F4-8A70-B79F-DEF24C595984}"/>
              </a:ext>
            </a:extLst>
          </p:cNvPr>
          <p:cNvCxnSpPr>
            <a:cxnSpLocks/>
          </p:cNvCxnSpPr>
          <p:nvPr/>
        </p:nvCxnSpPr>
        <p:spPr>
          <a:xfrm>
            <a:off x="2314093" y="3052417"/>
            <a:ext cx="788062" cy="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9B328110-215E-2972-6156-8B288839B0F9}"/>
              </a:ext>
            </a:extLst>
          </p:cNvPr>
          <p:cNvSpPr txBox="1"/>
          <p:nvPr/>
        </p:nvSpPr>
        <p:spPr>
          <a:xfrm>
            <a:off x="2250684" y="2640088"/>
            <a:ext cx="94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c1</a:t>
            </a:r>
          </a:p>
          <a:p>
            <a:r>
              <a:rPr lang="en-US" altLang="ko-KR" sz="900" dirty="0"/>
              <a:t>(N,h,w,16)</a:t>
            </a:r>
            <a:endParaRPr lang="ko-KR" altLang="en-US" sz="900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EA5ECBCE-1014-29B9-25B6-2717912F2695}"/>
              </a:ext>
            </a:extLst>
          </p:cNvPr>
          <p:cNvCxnSpPr>
            <a:cxnSpLocks/>
            <a:stCxn id="33" idx="3"/>
            <a:endCxn id="38" idx="1"/>
          </p:cNvCxnSpPr>
          <p:nvPr/>
        </p:nvCxnSpPr>
        <p:spPr>
          <a:xfrm>
            <a:off x="3425867" y="3060701"/>
            <a:ext cx="921389" cy="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C91DD56D-680F-B530-9539-D6FD3F7F3464}"/>
              </a:ext>
            </a:extLst>
          </p:cNvPr>
          <p:cNvSpPr txBox="1"/>
          <p:nvPr/>
        </p:nvSpPr>
        <p:spPr>
          <a:xfrm>
            <a:off x="3331914" y="2634792"/>
            <a:ext cx="94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c2</a:t>
            </a:r>
          </a:p>
          <a:p>
            <a:r>
              <a:rPr lang="en-US" altLang="ko-KR" sz="900" dirty="0"/>
              <a:t>(</a:t>
            </a:r>
            <a:r>
              <a:rPr lang="en-US" altLang="ko-KR" sz="900" dirty="0" err="1"/>
              <a:t>N,h</a:t>
            </a:r>
            <a:r>
              <a:rPr lang="en-US" altLang="ko-KR" sz="900" dirty="0"/>
              <a:t>/2,w/2,32)</a:t>
            </a:r>
            <a:endParaRPr lang="ko-KR" altLang="en-US" sz="9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7665511-86D9-740A-FE24-C492AD4764A1}"/>
              </a:ext>
            </a:extLst>
          </p:cNvPr>
          <p:cNvSpPr txBox="1"/>
          <p:nvPr/>
        </p:nvSpPr>
        <p:spPr>
          <a:xfrm>
            <a:off x="5802363" y="3297511"/>
            <a:ext cx="94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r</a:t>
            </a:r>
          </a:p>
          <a:p>
            <a:r>
              <a:rPr lang="en-US" altLang="ko-KR" sz="900" dirty="0"/>
              <a:t>(</a:t>
            </a:r>
            <a:r>
              <a:rPr lang="en-US" altLang="ko-KR" sz="900" dirty="0" err="1"/>
              <a:t>N,h</a:t>
            </a:r>
            <a:r>
              <a:rPr lang="en-US" altLang="ko-KR" sz="900" dirty="0"/>
              <a:t>/2,w/2,32)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235754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D178-8DE6-A018-805F-EB6B6CD2C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CE5E7B5-F195-9A78-46D8-1D8911699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Understanding the Data &amp; Model Architecture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AC817063-08C1-B1D6-7A6C-720C3BC61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Encoder : Texture vs Shape representation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7C35C5-4D56-1EDF-F047-95F37076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6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8C2C8A-8F59-2CFF-8267-7D95CCB14EAB}"/>
              </a:ext>
            </a:extLst>
          </p:cNvPr>
          <p:cNvSpPr/>
          <p:nvPr/>
        </p:nvSpPr>
        <p:spPr>
          <a:xfrm>
            <a:off x="498170" y="1360624"/>
            <a:ext cx="8270352" cy="3472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827730A-202D-AD91-DE7D-90CFC57B7D69}"/>
              </a:ext>
            </a:extLst>
          </p:cNvPr>
          <p:cNvGrpSpPr/>
          <p:nvPr/>
        </p:nvGrpSpPr>
        <p:grpSpPr>
          <a:xfrm>
            <a:off x="1988694" y="2254119"/>
            <a:ext cx="369332" cy="1585843"/>
            <a:chOff x="1507123" y="1925983"/>
            <a:chExt cx="369332" cy="1585843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67F895C-25BE-43DA-6484-AB252CA6F89E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84E99F-C901-781D-7AA1-E8B79263BEAB}"/>
                </a:ext>
              </a:extLst>
            </p:cNvPr>
            <p:cNvSpPr txBox="1"/>
            <p:nvPr/>
          </p:nvSpPr>
          <p:spPr>
            <a:xfrm>
              <a:off x="1507123" y="2018747"/>
              <a:ext cx="369332" cy="14276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Conv16_k7s1_Relu</a:t>
              </a:r>
              <a:endParaRPr lang="ko-KR" altLang="en-US" sz="1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7204BED-5BBC-66C8-C968-B8680F2BE9BD}"/>
              </a:ext>
            </a:extLst>
          </p:cNvPr>
          <p:cNvGrpSpPr/>
          <p:nvPr/>
        </p:nvGrpSpPr>
        <p:grpSpPr>
          <a:xfrm>
            <a:off x="3056535" y="2254119"/>
            <a:ext cx="369332" cy="1585843"/>
            <a:chOff x="1507123" y="1925983"/>
            <a:chExt cx="369332" cy="1585843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7F6C340-B99E-38F9-AC75-A32AF91DDBF4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12EE345-1160-EA05-6E8B-2502E1042DAD}"/>
                </a:ext>
              </a:extLst>
            </p:cNvPr>
            <p:cNvSpPr txBox="1"/>
            <p:nvPr/>
          </p:nvSpPr>
          <p:spPr>
            <a:xfrm>
              <a:off x="1507123" y="2018747"/>
              <a:ext cx="369332" cy="14276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Conv32_k3s2_Relu</a:t>
              </a:r>
              <a:endParaRPr lang="ko-KR" altLang="en-US" sz="12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BAECA5B-EADF-F462-4802-F4FA1897053A}"/>
              </a:ext>
            </a:extLst>
          </p:cNvPr>
          <p:cNvGrpSpPr/>
          <p:nvPr/>
        </p:nvGrpSpPr>
        <p:grpSpPr>
          <a:xfrm>
            <a:off x="4881460" y="2551156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3A10979-D0E6-66F0-6040-51BE8315620C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3899264-F707-1913-04FB-933606E01F3D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F40960B-85E7-0D78-CF15-067A270119E5}"/>
              </a:ext>
            </a:extLst>
          </p:cNvPr>
          <p:cNvGrpSpPr/>
          <p:nvPr/>
        </p:nvGrpSpPr>
        <p:grpSpPr>
          <a:xfrm>
            <a:off x="4293385" y="2551156"/>
            <a:ext cx="369332" cy="1021017"/>
            <a:chOff x="1503687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EB47BD8-F801-1D5E-9C35-33248ABCEA5A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DFCEE56-7653-9ED6-F805-3E610F712593}"/>
                </a:ext>
              </a:extLst>
            </p:cNvPr>
            <p:cNvSpPr txBox="1"/>
            <p:nvPr/>
          </p:nvSpPr>
          <p:spPr>
            <a:xfrm>
              <a:off x="1503687" y="2225098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5382248-387E-6110-EE3D-B2C06722DCC7}"/>
              </a:ext>
            </a:extLst>
          </p:cNvPr>
          <p:cNvGrpSpPr/>
          <p:nvPr/>
        </p:nvGrpSpPr>
        <p:grpSpPr>
          <a:xfrm>
            <a:off x="5542086" y="2551156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4BF5970-2366-D45B-A4F2-8045F192BF70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0B26459-0F62-C2D5-97D9-79C1C7D95FD5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C260941-DCDF-17C3-30A8-73D975A6BCF2}"/>
              </a:ext>
            </a:extLst>
          </p:cNvPr>
          <p:cNvGrpSpPr/>
          <p:nvPr/>
        </p:nvGrpSpPr>
        <p:grpSpPr>
          <a:xfrm>
            <a:off x="6980269" y="3267414"/>
            <a:ext cx="492443" cy="925748"/>
            <a:chOff x="1544453" y="1925983"/>
            <a:chExt cx="328439" cy="1585843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4CD53661-902D-523B-24E4-736DA8BAF2B6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1D684D3-8A54-1590-EAEE-E070B24EE147}"/>
                </a:ext>
              </a:extLst>
            </p:cNvPr>
            <p:cNvSpPr txBox="1"/>
            <p:nvPr/>
          </p:nvSpPr>
          <p:spPr>
            <a:xfrm>
              <a:off x="1544453" y="1972366"/>
              <a:ext cx="328439" cy="149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dirty="0"/>
                <a:t>Relu</a:t>
              </a:r>
            </a:p>
            <a:p>
              <a:pPr algn="ctr"/>
              <a:r>
                <a:rPr lang="en-US" altLang="ko-KR" sz="1000" dirty="0"/>
                <a:t>Conv32_k3s2</a:t>
              </a:r>
              <a:endParaRPr lang="ko-KR" altLang="en-US" sz="10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5AF0D82-A673-DE8C-B6BE-6F94737094BF}"/>
              </a:ext>
            </a:extLst>
          </p:cNvPr>
          <p:cNvGrpSpPr/>
          <p:nvPr/>
        </p:nvGrpSpPr>
        <p:grpSpPr>
          <a:xfrm>
            <a:off x="6960620" y="1776621"/>
            <a:ext cx="492443" cy="925748"/>
            <a:chOff x="1544453" y="1925983"/>
            <a:chExt cx="328439" cy="1585843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8F97BE7E-2657-CBE6-E01D-93735BAA099F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FACA4CA-3876-A105-3642-757729B6606D}"/>
                </a:ext>
              </a:extLst>
            </p:cNvPr>
            <p:cNvSpPr txBox="1"/>
            <p:nvPr/>
          </p:nvSpPr>
          <p:spPr>
            <a:xfrm>
              <a:off x="1544453" y="1972366"/>
              <a:ext cx="328439" cy="149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dirty="0"/>
                <a:t>Relu</a:t>
              </a:r>
            </a:p>
            <a:p>
              <a:pPr algn="ctr"/>
              <a:r>
                <a:rPr lang="en-US" altLang="ko-KR" sz="1000" dirty="0"/>
                <a:t>Conv32_k3s2</a:t>
              </a:r>
              <a:endParaRPr lang="ko-KR" altLang="en-US" sz="1000" dirty="0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603B1C4-EACF-656E-EDEE-A382DF78C9AC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5848206" y="2239495"/>
            <a:ext cx="1112414" cy="86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7E13881-87E4-7604-08AA-1BA63752559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5854657" y="3111090"/>
            <a:ext cx="1125612" cy="619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7722A1B-BA76-3056-924E-0FEA80E10BD6}"/>
              </a:ext>
            </a:extLst>
          </p:cNvPr>
          <p:cNvGrpSpPr/>
          <p:nvPr/>
        </p:nvGrpSpPr>
        <p:grpSpPr>
          <a:xfrm>
            <a:off x="7567598" y="1953640"/>
            <a:ext cx="346249" cy="600958"/>
            <a:chOff x="1536533" y="1925983"/>
            <a:chExt cx="346249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52E8398C-9503-22B9-DDA4-916E093EDA5E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7BBCFDE-144F-E644-5B1A-4C26657763C2}"/>
                </a:ext>
              </a:extLst>
            </p:cNvPr>
            <p:cNvSpPr txBox="1"/>
            <p:nvPr/>
          </p:nvSpPr>
          <p:spPr>
            <a:xfrm>
              <a:off x="1536533" y="1925983"/>
              <a:ext cx="346249" cy="156767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24F7E0A-5555-2EF2-FD6F-20DEA71AB5D4}"/>
              </a:ext>
            </a:extLst>
          </p:cNvPr>
          <p:cNvGrpSpPr/>
          <p:nvPr/>
        </p:nvGrpSpPr>
        <p:grpSpPr>
          <a:xfrm>
            <a:off x="8146007" y="1953640"/>
            <a:ext cx="346249" cy="617639"/>
            <a:chOff x="1520680" y="1925983"/>
            <a:chExt cx="346249" cy="1629861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1F2B2BDB-AD84-69F9-E94F-7E2B55F7C689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9716130-7FBE-5201-B9B7-0DE2AA2A0E20}"/>
                </a:ext>
              </a:extLst>
            </p:cNvPr>
            <p:cNvSpPr txBox="1"/>
            <p:nvPr/>
          </p:nvSpPr>
          <p:spPr>
            <a:xfrm>
              <a:off x="1520680" y="1988170"/>
              <a:ext cx="346249" cy="15676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35410EA-96D5-DA48-5A43-7925080D2B7C}"/>
              </a:ext>
            </a:extLst>
          </p:cNvPr>
          <p:cNvGrpSpPr/>
          <p:nvPr/>
        </p:nvGrpSpPr>
        <p:grpSpPr>
          <a:xfrm>
            <a:off x="7587247" y="3406241"/>
            <a:ext cx="346249" cy="600958"/>
            <a:chOff x="1536533" y="1925983"/>
            <a:chExt cx="346249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CDE34D76-A6E8-58B4-3917-E13561FD2049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B2B1E6F-68C7-318B-9AB2-0FB65B2D67EB}"/>
                </a:ext>
              </a:extLst>
            </p:cNvPr>
            <p:cNvSpPr txBox="1"/>
            <p:nvPr/>
          </p:nvSpPr>
          <p:spPr>
            <a:xfrm>
              <a:off x="1536533" y="1925983"/>
              <a:ext cx="346249" cy="156767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8F81A00-E5B0-FADA-3EF2-FF9B20244D49}"/>
              </a:ext>
            </a:extLst>
          </p:cNvPr>
          <p:cNvGrpSpPr/>
          <p:nvPr/>
        </p:nvGrpSpPr>
        <p:grpSpPr>
          <a:xfrm>
            <a:off x="8162220" y="3406241"/>
            <a:ext cx="346249" cy="619358"/>
            <a:chOff x="1517244" y="1925983"/>
            <a:chExt cx="346249" cy="163439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3A17ED06-25A4-9172-CFB5-69BD3AE8F5CD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834F0FF-D459-35D2-5CD0-B26001BBAD83}"/>
                </a:ext>
              </a:extLst>
            </p:cNvPr>
            <p:cNvSpPr txBox="1"/>
            <p:nvPr/>
          </p:nvSpPr>
          <p:spPr>
            <a:xfrm>
              <a:off x="1517244" y="1992707"/>
              <a:ext cx="346249" cy="15676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FFEA4C4-39CF-0F5D-0BBE-362D125F3BEF}"/>
              </a:ext>
            </a:extLst>
          </p:cNvPr>
          <p:cNvSpPr txBox="1"/>
          <p:nvPr/>
        </p:nvSpPr>
        <p:spPr>
          <a:xfrm>
            <a:off x="87303" y="5382207"/>
            <a:ext cx="4838265" cy="6074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texture_enc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 err="1">
                <a:solidFill>
                  <a:srgbClr val="4EC9B0"/>
                </a:solidFill>
                <a:latin typeface="Consolas" panose="020B0609020204030204" pitchFamily="49" charset="0"/>
              </a:rPr>
              <a:t>tf</a:t>
            </a:r>
            <a:r>
              <a:rPr lang="en-US" altLang="ko-KR" sz="650" dirty="0" err="1">
                <a:solidFill>
                  <a:srgbClr val="CCCCCC"/>
                </a:solidFill>
                <a:latin typeface="Consolas" panose="020B0609020204030204" pitchFamily="49" charset="0"/>
              </a:rPr>
              <a:t>.nn.relu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50" dirty="0">
                <a:solidFill>
                  <a:srgbClr val="DCDCAA"/>
                </a:solidFill>
                <a:latin typeface="Consolas" panose="020B0609020204030204" pitchFamily="49" charset="0"/>
              </a:rPr>
              <a:t>conv2d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texture_enc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6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texture_dims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>
                <a:solidFill>
                  <a:srgbClr val="9CDCFE"/>
                </a:solidFill>
                <a:latin typeface="Consolas" panose="020B0609020204030204" pitchFamily="49" charset="0"/>
              </a:rPr>
              <a:t>stride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  </a:t>
            </a:r>
            <a:r>
              <a:rPr lang="en-US" altLang="ko-KR" sz="65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sz="6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650" dirty="0" err="1">
                <a:solidFill>
                  <a:srgbClr val="CE9178"/>
                </a:solidFill>
                <a:latin typeface="Consolas" panose="020B0609020204030204" pitchFamily="49" charset="0"/>
              </a:rPr>
              <a:t>enc_texture_conv</a:t>
            </a:r>
            <a:r>
              <a:rPr lang="en-US" altLang="ko-KR" sz="650" dirty="0">
                <a:solidFill>
                  <a:srgbClr val="CE9178"/>
                </a:solidFill>
                <a:latin typeface="Consolas" panose="020B0609020204030204" pitchFamily="49" charset="0"/>
              </a:rPr>
              <a:t>’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65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6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num_texture_resblk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texture_enc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 err="1">
                <a:solidFill>
                  <a:srgbClr val="DCDCAA"/>
                </a:solidFill>
                <a:latin typeface="Consolas" panose="020B0609020204030204" pitchFamily="49" charset="0"/>
              </a:rPr>
              <a:t>residual_block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texture_enc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6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texture_dims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162CE1CC-C5AB-8F7E-E945-125BFE5FF3C8}"/>
              </a:ext>
            </a:extLst>
          </p:cNvPr>
          <p:cNvSpPr/>
          <p:nvPr/>
        </p:nvSpPr>
        <p:spPr>
          <a:xfrm rot="16200000">
            <a:off x="7946415" y="3735258"/>
            <a:ext cx="207697" cy="8839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AA7B62-E8DC-EAD3-DDE4-24CAE2837BED}"/>
              </a:ext>
            </a:extLst>
          </p:cNvPr>
          <p:cNvSpPr txBox="1"/>
          <p:nvPr/>
        </p:nvSpPr>
        <p:spPr>
          <a:xfrm>
            <a:off x="7261625" y="4239172"/>
            <a:ext cx="15772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Hyperparameter</a:t>
            </a:r>
          </a:p>
          <a:p>
            <a:pPr algn="ctr"/>
            <a:r>
              <a:rPr lang="en-US" altLang="ko-KR" sz="1050" dirty="0"/>
              <a:t>Default = 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FF722A6-5D1A-9D60-3D2D-4C6DCD2BD2E7}"/>
              </a:ext>
            </a:extLst>
          </p:cNvPr>
          <p:cNvSpPr txBox="1"/>
          <p:nvPr/>
        </p:nvSpPr>
        <p:spPr>
          <a:xfrm>
            <a:off x="4541699" y="2796061"/>
            <a:ext cx="38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DC98CC2-3981-806A-13CC-022153043E7A}"/>
              </a:ext>
            </a:extLst>
          </p:cNvPr>
          <p:cNvSpPr txBox="1"/>
          <p:nvPr/>
        </p:nvSpPr>
        <p:spPr>
          <a:xfrm>
            <a:off x="7834020" y="1988840"/>
            <a:ext cx="38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3A82CAF-B7B0-943B-83E5-7AACC6582A17}"/>
              </a:ext>
            </a:extLst>
          </p:cNvPr>
          <p:cNvSpPr/>
          <p:nvPr/>
        </p:nvSpPr>
        <p:spPr>
          <a:xfrm>
            <a:off x="6700974" y="1607930"/>
            <a:ext cx="1992306" cy="312309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32E475A7-BA66-AE42-2BE0-9F726022F3D6}"/>
              </a:ext>
            </a:extLst>
          </p:cNvPr>
          <p:cNvCxnSpPr>
            <a:cxnSpLocks/>
          </p:cNvCxnSpPr>
          <p:nvPr/>
        </p:nvCxnSpPr>
        <p:spPr>
          <a:xfrm>
            <a:off x="184309" y="3052417"/>
            <a:ext cx="7575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4DC9F29-7A14-8B80-7658-A9F86C5EBF6D}"/>
              </a:ext>
            </a:extLst>
          </p:cNvPr>
          <p:cNvSpPr txBox="1"/>
          <p:nvPr/>
        </p:nvSpPr>
        <p:spPr>
          <a:xfrm>
            <a:off x="10720" y="2675292"/>
            <a:ext cx="691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Image</a:t>
            </a:r>
          </a:p>
          <a:p>
            <a:r>
              <a:rPr lang="en-US" altLang="ko-KR" sz="1000" dirty="0"/>
              <a:t>(N,h,w,3)</a:t>
            </a:r>
            <a:endParaRPr lang="ko-KR" altLang="en-US" sz="100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E4E4D55-A945-5A30-B4F9-107346F11D70}"/>
              </a:ext>
            </a:extLst>
          </p:cNvPr>
          <p:cNvGrpSpPr/>
          <p:nvPr/>
        </p:nvGrpSpPr>
        <p:grpSpPr>
          <a:xfrm>
            <a:off x="903888" y="2591222"/>
            <a:ext cx="323165" cy="1047723"/>
            <a:chOff x="1528752" y="1925955"/>
            <a:chExt cx="323165" cy="162732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3B98CC51-0AF9-58F6-A30E-C5CC0EA5BC7D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5BF09B7C-A7F8-B72B-42F0-31BC045F3E9C}"/>
                </a:ext>
              </a:extLst>
            </p:cNvPr>
            <p:cNvSpPr txBox="1"/>
            <p:nvPr/>
          </p:nvSpPr>
          <p:spPr>
            <a:xfrm>
              <a:off x="1528752" y="1925955"/>
              <a:ext cx="323165" cy="162732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900" dirty="0"/>
                <a:t>Reflection padding</a:t>
              </a:r>
              <a:endParaRPr lang="ko-KR" altLang="en-US" sz="900" dirty="0"/>
            </a:p>
          </p:txBody>
        </p:sp>
      </p:grp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98D7D79-1D0F-F238-AABF-2D924398B19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200632" y="3052417"/>
            <a:ext cx="788062" cy="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685790BC-59AA-C11C-336F-F2633ADD8BD5}"/>
              </a:ext>
            </a:extLst>
          </p:cNvPr>
          <p:cNvSpPr txBox="1"/>
          <p:nvPr/>
        </p:nvSpPr>
        <p:spPr>
          <a:xfrm>
            <a:off x="1137223" y="2640088"/>
            <a:ext cx="86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c0</a:t>
            </a:r>
          </a:p>
          <a:p>
            <a:r>
              <a:rPr lang="en-US" altLang="ko-KR" sz="900" dirty="0"/>
              <a:t>(N,h+6,w+6,3)</a:t>
            </a:r>
            <a:endParaRPr lang="ko-KR" altLang="en-US" sz="900" dirty="0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703782DA-4ADD-2BE7-C448-77F3CBE96411}"/>
              </a:ext>
            </a:extLst>
          </p:cNvPr>
          <p:cNvCxnSpPr>
            <a:cxnSpLocks/>
          </p:cNvCxnSpPr>
          <p:nvPr/>
        </p:nvCxnSpPr>
        <p:spPr>
          <a:xfrm>
            <a:off x="2314093" y="3052417"/>
            <a:ext cx="788062" cy="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6C5B78C8-FBB5-7D6C-1BD7-40E10316BC8D}"/>
              </a:ext>
            </a:extLst>
          </p:cNvPr>
          <p:cNvSpPr txBox="1"/>
          <p:nvPr/>
        </p:nvSpPr>
        <p:spPr>
          <a:xfrm>
            <a:off x="2250684" y="2640088"/>
            <a:ext cx="94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c1</a:t>
            </a:r>
          </a:p>
          <a:p>
            <a:r>
              <a:rPr lang="en-US" altLang="ko-KR" sz="900" dirty="0"/>
              <a:t>(N,h,w,16)</a:t>
            </a:r>
            <a:endParaRPr lang="ko-KR" altLang="en-US" sz="900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7336A48-AFB7-9EF1-285F-D36FA32A2F75}"/>
              </a:ext>
            </a:extLst>
          </p:cNvPr>
          <p:cNvCxnSpPr>
            <a:cxnSpLocks/>
            <a:stCxn id="33" idx="3"/>
            <a:endCxn id="38" idx="1"/>
          </p:cNvCxnSpPr>
          <p:nvPr/>
        </p:nvCxnSpPr>
        <p:spPr>
          <a:xfrm>
            <a:off x="3425867" y="3060701"/>
            <a:ext cx="921389" cy="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872ED0BE-52D6-7E8C-D57E-31C99EDD675E}"/>
              </a:ext>
            </a:extLst>
          </p:cNvPr>
          <p:cNvSpPr txBox="1"/>
          <p:nvPr/>
        </p:nvSpPr>
        <p:spPr>
          <a:xfrm>
            <a:off x="3331914" y="2634792"/>
            <a:ext cx="94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c2</a:t>
            </a:r>
          </a:p>
          <a:p>
            <a:r>
              <a:rPr lang="en-US" altLang="ko-KR" sz="900" dirty="0"/>
              <a:t>(</a:t>
            </a:r>
            <a:r>
              <a:rPr lang="en-US" altLang="ko-KR" sz="900" dirty="0" err="1"/>
              <a:t>N,h</a:t>
            </a:r>
            <a:r>
              <a:rPr lang="en-US" altLang="ko-KR" sz="900" dirty="0"/>
              <a:t>/2,w/2,32)</a:t>
            </a:r>
            <a:endParaRPr lang="ko-KR" altLang="en-US" sz="9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8914033-E98A-B78E-D503-81A431666F8C}"/>
              </a:ext>
            </a:extLst>
          </p:cNvPr>
          <p:cNvSpPr txBox="1"/>
          <p:nvPr/>
        </p:nvSpPr>
        <p:spPr>
          <a:xfrm>
            <a:off x="5802363" y="3297511"/>
            <a:ext cx="94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r</a:t>
            </a:r>
          </a:p>
          <a:p>
            <a:r>
              <a:rPr lang="en-US" altLang="ko-KR" sz="900" dirty="0"/>
              <a:t>(</a:t>
            </a:r>
            <a:r>
              <a:rPr lang="en-US" altLang="ko-KR" sz="900" dirty="0" err="1"/>
              <a:t>N,h</a:t>
            </a:r>
            <a:r>
              <a:rPr lang="en-US" altLang="ko-KR" sz="900" dirty="0"/>
              <a:t>/2,w/2,32)</a:t>
            </a:r>
            <a:endParaRPr lang="ko-KR" alt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DE2A1-0D35-9B3E-7EF4-DA548F8F24B8}"/>
              </a:ext>
            </a:extLst>
          </p:cNvPr>
          <p:cNvSpPr txBox="1"/>
          <p:nvPr/>
        </p:nvSpPr>
        <p:spPr>
          <a:xfrm>
            <a:off x="7834020" y="3463415"/>
            <a:ext cx="38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E7B5DD-2647-A802-9112-5BCA862E54CA}"/>
              </a:ext>
            </a:extLst>
          </p:cNvPr>
          <p:cNvSpPr txBox="1"/>
          <p:nvPr/>
        </p:nvSpPr>
        <p:spPr>
          <a:xfrm>
            <a:off x="5110025" y="5383874"/>
            <a:ext cx="4143005" cy="6058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shape_enc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 err="1">
                <a:solidFill>
                  <a:srgbClr val="4EC9B0"/>
                </a:solidFill>
                <a:latin typeface="Consolas" panose="020B0609020204030204" pitchFamily="49" charset="0"/>
              </a:rPr>
              <a:t>tf</a:t>
            </a:r>
            <a:r>
              <a:rPr lang="en-US" altLang="ko-KR" sz="650" dirty="0" err="1">
                <a:solidFill>
                  <a:srgbClr val="CCCCCC"/>
                </a:solidFill>
                <a:latin typeface="Consolas" panose="020B0609020204030204" pitchFamily="49" charset="0"/>
              </a:rPr>
              <a:t>.nn.relu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50" dirty="0">
                <a:solidFill>
                  <a:srgbClr val="DCDCAA"/>
                </a:solidFill>
                <a:latin typeface="Consolas" panose="020B0609020204030204" pitchFamily="49" charset="0"/>
              </a:rPr>
              <a:t>conv2d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shape_enc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50" dirty="0">
                <a:solidFill>
                  <a:srgbClr val="9CDCFE"/>
                </a:solidFill>
                <a:latin typeface="Consolas" panose="020B0609020204030204" pitchFamily="49" charset="0"/>
              </a:rPr>
              <a:t>shape_dims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65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sz="6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650" dirty="0" err="1">
                <a:solidFill>
                  <a:srgbClr val="CE9178"/>
                </a:solidFill>
                <a:latin typeface="Consolas" panose="020B0609020204030204" pitchFamily="49" charset="0"/>
              </a:rPr>
              <a:t>enc_shape_conv</a:t>
            </a:r>
            <a:r>
              <a:rPr lang="en-US" altLang="ko-KR" sz="650" dirty="0">
                <a:solidFill>
                  <a:srgbClr val="CE9178"/>
                </a:solidFill>
                <a:latin typeface="Consolas" panose="020B0609020204030204" pitchFamily="49" charset="0"/>
              </a:rPr>
              <a:t>’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65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6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num_shape_resblk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shape_enc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650" dirty="0" err="1">
                <a:solidFill>
                  <a:srgbClr val="DCDCAA"/>
                </a:solidFill>
                <a:latin typeface="Consolas" panose="020B0609020204030204" pitchFamily="49" charset="0"/>
              </a:rPr>
              <a:t>residual_block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shape_enc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6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650" dirty="0" err="1">
                <a:solidFill>
                  <a:srgbClr val="9CDCFE"/>
                </a:solidFill>
                <a:latin typeface="Consolas" panose="020B0609020204030204" pitchFamily="49" charset="0"/>
              </a:rPr>
              <a:t>shape_dims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65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sz="6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7167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662E2-B69B-88F6-A13C-DD15FA65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583B72C-0953-8043-4F04-1ABD5BE9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Understanding the Data &amp; Model Architecture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D448A4F2-F6E3-FAC8-7110-6F525BF0E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Encoder – </a:t>
            </a:r>
            <a:r>
              <a:rPr lang="ko-KR" altLang="en-US" dirty="0"/>
              <a:t>영상에서 </a:t>
            </a:r>
            <a:r>
              <a:rPr lang="en-US" altLang="ko-KR" dirty="0"/>
              <a:t>Feature </a:t>
            </a:r>
            <a:r>
              <a:rPr lang="ko-KR" altLang="en-US" dirty="0"/>
              <a:t>분리 추출</a:t>
            </a:r>
            <a:r>
              <a:rPr lang="en-US" altLang="ko-KR" dirty="0"/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1600" b="0" dirty="0"/>
              <a:t>입력 영상으로부터 움직임과 무관한 정적인 정보</a:t>
            </a:r>
            <a:r>
              <a:rPr lang="en-US" altLang="ko-KR" sz="1600" b="0" dirty="0"/>
              <a:t>(Texture)</a:t>
            </a:r>
            <a:r>
              <a:rPr lang="ko-KR" altLang="en-US" sz="1600" b="0" dirty="0"/>
              <a:t>와 움직임에 민감한 구조적 정보</a:t>
            </a:r>
            <a:r>
              <a:rPr lang="en-US" altLang="ko-KR" sz="1600" b="0" dirty="0"/>
              <a:t>(Shape)</a:t>
            </a:r>
            <a:r>
              <a:rPr lang="ko-KR" altLang="en-US" sz="1600" b="0" dirty="0"/>
              <a:t>를 분리 추출</a:t>
            </a:r>
            <a:r>
              <a:rPr lang="en-US" altLang="ko-KR" sz="1600" b="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b="0" dirty="0"/>
              <a:t>Design with References</a:t>
            </a:r>
          </a:p>
          <a:p>
            <a:pPr>
              <a:lnSpc>
                <a:spcPct val="150000"/>
              </a:lnSpc>
            </a:pPr>
            <a:endParaRPr lang="en-US" altLang="ko-KR" sz="1600" b="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C4AC7F-2EC9-E549-6358-F3A58900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7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E4A276A-E06A-6820-EF4A-2580860D2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047083"/>
              </p:ext>
            </p:extLst>
          </p:nvPr>
        </p:nvGraphicFramePr>
        <p:xfrm>
          <a:off x="499927" y="2650208"/>
          <a:ext cx="8543925" cy="3108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47975">
                  <a:extLst>
                    <a:ext uri="{9D8B030D-6E8A-4147-A177-3AD203B41FA5}">
                      <a16:colId xmlns:a16="http://schemas.microsoft.com/office/drawing/2014/main" val="4194834796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3573050605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10599867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400"/>
                        <a:t>구성 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설계 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관련 논문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452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Reflection Padding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경계 정보 손실 방지</a:t>
                      </a:r>
                      <a:endParaRPr lang="en-US" altLang="ko-KR" sz="1400" dirty="0"/>
                    </a:p>
                    <a:p>
                      <a:r>
                        <a:rPr lang="ko-KR" altLang="en-US" sz="1400" dirty="0"/>
                        <a:t>◾ 큰 커널 적용 시 정보 유지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Johnson et al., ECCV 2016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2793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Conv 7×7, stride=1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◾ 넓은 수용 영역으로 </a:t>
                      </a:r>
                      <a:r>
                        <a:rPr lang="en-US" altLang="ko-KR" sz="1400" dirty="0"/>
                        <a:t>global context </a:t>
                      </a:r>
                      <a:r>
                        <a:rPr lang="ko-KR" altLang="en-US" sz="1400" dirty="0"/>
                        <a:t>추출</a:t>
                      </a:r>
                      <a:endParaRPr lang="en-US" altLang="ko-KR" sz="1400" dirty="0"/>
                    </a:p>
                    <a:p>
                      <a:r>
                        <a:rPr lang="ko-KR" altLang="en-US" sz="1400" dirty="0"/>
                        <a:t>◾ 윤곽 및 </a:t>
                      </a:r>
                      <a:r>
                        <a:rPr lang="en-US" altLang="ko-KR" sz="1400" dirty="0"/>
                        <a:t>edge </a:t>
                      </a:r>
                      <a:r>
                        <a:rPr lang="ko-KR" altLang="en-US" sz="1400" dirty="0"/>
                        <a:t>감지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Wadhwa</a:t>
                      </a:r>
                      <a:r>
                        <a:rPr lang="fr-FR" sz="1400" dirty="0"/>
                        <a:t> et al., SIGGRAPH 2013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084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Conv 3×3, stride=2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◾ 해상도 축소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연산 효율화</a:t>
                      </a:r>
                      <a:endParaRPr lang="en-US" altLang="ko-KR" sz="1400" dirty="0"/>
                    </a:p>
                    <a:p>
                      <a:r>
                        <a:rPr lang="ko-KR" altLang="en-US" sz="1400" dirty="0"/>
                        <a:t>◾ 로컬 특징 추출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VGG: Simonyan &amp; Zisserman, ICLR 2015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9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Residual Blocks × 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◾ 깊은 특징 학습</a:t>
                      </a:r>
                      <a:endParaRPr lang="en-US" altLang="ko-KR" sz="1400" dirty="0"/>
                    </a:p>
                    <a:p>
                      <a:r>
                        <a:rPr lang="ko-KR" altLang="en-US" sz="1400" dirty="0"/>
                        <a:t>◾ 학습 안정화 </a:t>
                      </a:r>
                      <a:r>
                        <a:rPr lang="en-US" altLang="ko-KR" sz="1400" dirty="0"/>
                        <a:t>(gradient flow </a:t>
                      </a:r>
                      <a:r>
                        <a:rPr lang="ko-KR" altLang="en-US" sz="1400" dirty="0"/>
                        <a:t>유지</a:t>
                      </a:r>
                      <a:r>
                        <a:rPr lang="en-US" altLang="ko-KR" sz="1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ResNet: He et al., CVPR 2016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3435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400" b="1" dirty="0"/>
                        <a:t>Texture/Shape </a:t>
                      </a:r>
                      <a:r>
                        <a:rPr lang="ko-KR" altLang="en-US" sz="1400" b="1" dirty="0"/>
                        <a:t>분기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◾ 공통 인코딩된 </a:t>
                      </a:r>
                      <a:r>
                        <a:rPr lang="en-US" altLang="ko-KR" sz="1400" dirty="0"/>
                        <a:t>feature</a:t>
                      </a:r>
                      <a:r>
                        <a:rPr lang="ko-KR" altLang="en-US" sz="1400" dirty="0"/>
                        <a:t>를 </a:t>
                      </a:r>
                      <a:r>
                        <a:rPr lang="en-US" altLang="ko-KR" sz="1400" dirty="0"/>
                        <a:t>Texture</a:t>
                      </a:r>
                      <a:r>
                        <a:rPr lang="ko-KR" altLang="en-US" sz="1400" dirty="0"/>
                        <a:t>와 </a:t>
                      </a:r>
                      <a:r>
                        <a:rPr lang="en-US" altLang="ko-KR" sz="1400" dirty="0"/>
                        <a:t>motion</a:t>
                      </a:r>
                      <a:r>
                        <a:rPr lang="ko-KR" altLang="en-US" sz="1400" dirty="0"/>
                        <a:t>으로 분리처리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11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526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6013-A54C-4456-E446-05FD5BCA1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CFEC3F7-2DB8-1229-ACBD-707151C11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Understanding the Data &amp; Model Architecture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11FA4D29-FFDA-EFDA-B91A-D48E092C4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2. Manipulator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9EED184-8EE0-9F1D-4612-7F24B4E1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8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41142D-3735-4443-19E9-D588690A9472}"/>
              </a:ext>
            </a:extLst>
          </p:cNvPr>
          <p:cNvCxnSpPr>
            <a:stCxn id="106" idx="0"/>
            <a:endCxn id="22" idx="4"/>
          </p:cNvCxnSpPr>
          <p:nvPr/>
        </p:nvCxnSpPr>
        <p:spPr>
          <a:xfrm flipV="1">
            <a:off x="5611468" y="2040875"/>
            <a:ext cx="0" cy="6239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ACC60D1-B7E9-715B-86C1-D46284B65CBF}"/>
              </a:ext>
            </a:extLst>
          </p:cNvPr>
          <p:cNvSpPr/>
          <p:nvPr/>
        </p:nvSpPr>
        <p:spPr>
          <a:xfrm>
            <a:off x="4128736" y="1372946"/>
            <a:ext cx="1808848" cy="1978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5AF52F-1A20-312D-AD20-AED963ECB881}"/>
              </a:ext>
            </a:extLst>
          </p:cNvPr>
          <p:cNvSpPr txBox="1"/>
          <p:nvPr/>
        </p:nvSpPr>
        <p:spPr>
          <a:xfrm>
            <a:off x="4033398" y="1024836"/>
            <a:ext cx="146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Manipulator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4EFD97-EAB8-D884-344F-1EFBA4069497}"/>
                  </a:ext>
                </a:extLst>
              </p:cNvPr>
              <p:cNvSpPr txBox="1"/>
              <p:nvPr/>
            </p:nvSpPr>
            <p:spPr>
              <a:xfrm>
                <a:off x="3359466" y="1613338"/>
                <a:ext cx="6384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4EFD97-EAB8-D884-344F-1EFBA4069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466" y="1613338"/>
                <a:ext cx="63847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56F415-C8E9-12C0-01E2-5B4E06436F4B}"/>
                  </a:ext>
                </a:extLst>
              </p:cNvPr>
              <p:cNvSpPr txBox="1"/>
              <p:nvPr/>
            </p:nvSpPr>
            <p:spPr>
              <a:xfrm>
                <a:off x="3467147" y="3351672"/>
                <a:ext cx="3295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56F415-C8E9-12C0-01E2-5B4E06436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147" y="3351672"/>
                <a:ext cx="329563" cy="307777"/>
              </a:xfrm>
              <a:prstGeom prst="rect">
                <a:avLst/>
              </a:prstGeom>
              <a:blipFill>
                <a:blip r:embed="rId4"/>
                <a:stretch>
                  <a:fillRect r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4BCB3331-FC40-A7E1-89FC-26B7891E7B78}"/>
              </a:ext>
            </a:extLst>
          </p:cNvPr>
          <p:cNvSpPr/>
          <p:nvPr/>
        </p:nvSpPr>
        <p:spPr>
          <a:xfrm>
            <a:off x="5448409" y="1722822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565093D-98AC-DB2C-D30F-01A760D12246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3528979" y="1881849"/>
            <a:ext cx="1919430" cy="66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Plus Sign 43">
            <a:extLst>
              <a:ext uri="{FF2B5EF4-FFF2-40B4-BE49-F238E27FC236}">
                <a16:creationId xmlns:a16="http://schemas.microsoft.com/office/drawing/2014/main" id="{3371D73C-357C-5874-44A5-1B92CA5D35B4}"/>
              </a:ext>
            </a:extLst>
          </p:cNvPr>
          <p:cNvSpPr/>
          <p:nvPr/>
        </p:nvSpPr>
        <p:spPr>
          <a:xfrm>
            <a:off x="5485619" y="1742417"/>
            <a:ext cx="251696" cy="273892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55D9328-EAC8-760D-7CA6-EBB3EAEF15D2}"/>
              </a:ext>
            </a:extLst>
          </p:cNvPr>
          <p:cNvSpPr/>
          <p:nvPr/>
        </p:nvSpPr>
        <p:spPr>
          <a:xfrm>
            <a:off x="4474818" y="2658011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Minus Sign 52">
            <a:extLst>
              <a:ext uri="{FF2B5EF4-FFF2-40B4-BE49-F238E27FC236}">
                <a16:creationId xmlns:a16="http://schemas.microsoft.com/office/drawing/2014/main" id="{4E3224C4-9B45-DCDD-B405-961D0296E253}"/>
              </a:ext>
            </a:extLst>
          </p:cNvPr>
          <p:cNvSpPr/>
          <p:nvPr/>
        </p:nvSpPr>
        <p:spPr>
          <a:xfrm>
            <a:off x="4474817" y="2713578"/>
            <a:ext cx="326117" cy="219410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67A0BC6-FCB1-BF3D-F354-D68EE3887D40}"/>
              </a:ext>
            </a:extLst>
          </p:cNvPr>
          <p:cNvGrpSpPr/>
          <p:nvPr/>
        </p:nvGrpSpPr>
        <p:grpSpPr>
          <a:xfrm>
            <a:off x="4910004" y="2435760"/>
            <a:ext cx="366972" cy="766212"/>
            <a:chOff x="1557558" y="1925983"/>
            <a:chExt cx="353184" cy="1585843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6D041719-7E07-76F9-6936-1ACBB5CAAF22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C5DD569-E3DF-6E51-4827-0B4AFFB8115E}"/>
                </a:ext>
              </a:extLst>
            </p:cNvPr>
            <p:cNvSpPr txBox="1"/>
            <p:nvPr/>
          </p:nvSpPr>
          <p:spPr>
            <a:xfrm>
              <a:off x="1581295" y="1981507"/>
              <a:ext cx="329447" cy="149307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800" dirty="0"/>
                <a:t>Relu</a:t>
              </a:r>
            </a:p>
            <a:p>
              <a:pPr algn="ctr"/>
              <a:r>
                <a:rPr lang="en-US" altLang="ko-KR" sz="800" dirty="0"/>
                <a:t>Conv32_k3s1</a:t>
              </a:r>
              <a:endParaRPr lang="ko-KR" altLang="en-US" sz="800" dirty="0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97E376B-2150-80D9-F3B3-5889FBCA5439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5774526" y="1881849"/>
            <a:ext cx="3333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C3CA226D-DE62-6B2B-1D1D-B822D860BEA5}"/>
              </a:ext>
            </a:extLst>
          </p:cNvPr>
          <p:cNvSpPr/>
          <p:nvPr/>
        </p:nvSpPr>
        <p:spPr>
          <a:xfrm>
            <a:off x="5448409" y="2664814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Multiplication Sign 106">
            <a:extLst>
              <a:ext uri="{FF2B5EF4-FFF2-40B4-BE49-F238E27FC236}">
                <a16:creationId xmlns:a16="http://schemas.microsoft.com/office/drawing/2014/main" id="{1B3E760A-88C6-9B50-6FB4-4A66F654E90E}"/>
              </a:ext>
            </a:extLst>
          </p:cNvPr>
          <p:cNvSpPr/>
          <p:nvPr/>
        </p:nvSpPr>
        <p:spPr>
          <a:xfrm>
            <a:off x="5478551" y="2669694"/>
            <a:ext cx="269074" cy="311009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25AB816-9238-2D2F-D535-DF7040A2EB24}"/>
              </a:ext>
            </a:extLst>
          </p:cNvPr>
          <p:cNvCxnSpPr>
            <a:cxnSpLocks/>
            <a:stCxn id="109" idx="0"/>
            <a:endCxn id="106" idx="4"/>
          </p:cNvCxnSpPr>
          <p:nvPr/>
        </p:nvCxnSpPr>
        <p:spPr>
          <a:xfrm flipV="1">
            <a:off x="5611468" y="2982867"/>
            <a:ext cx="0" cy="4325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113CCB0-5FC4-5703-ACB4-A0F18E29FD53}"/>
                  </a:ext>
                </a:extLst>
              </p:cNvPr>
              <p:cNvSpPr txBox="1"/>
              <p:nvPr/>
            </p:nvSpPr>
            <p:spPr>
              <a:xfrm>
                <a:off x="5232990" y="3415398"/>
                <a:ext cx="756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113CCB0-5FC4-5703-ACB4-A0F18E29F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990" y="3415398"/>
                <a:ext cx="756955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990557E-01FD-6646-E87C-A23DD720D781}"/>
              </a:ext>
            </a:extLst>
          </p:cNvPr>
          <p:cNvCxnSpPr>
            <a:cxnSpLocks/>
          </p:cNvCxnSpPr>
          <p:nvPr/>
        </p:nvCxnSpPr>
        <p:spPr>
          <a:xfrm>
            <a:off x="4262783" y="1888532"/>
            <a:ext cx="0" cy="9269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1A57B04-14A4-E0E9-122A-8DC83E59F18C}"/>
              </a:ext>
            </a:extLst>
          </p:cNvPr>
          <p:cNvCxnSpPr/>
          <p:nvPr/>
        </p:nvCxnSpPr>
        <p:spPr>
          <a:xfrm>
            <a:off x="4262783" y="2815468"/>
            <a:ext cx="21203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B09D2F39-9592-799C-CD22-54E205163437}"/>
              </a:ext>
            </a:extLst>
          </p:cNvPr>
          <p:cNvCxnSpPr>
            <a:cxnSpLocks/>
            <a:stCxn id="20" idx="3"/>
            <a:endCxn id="51" idx="4"/>
          </p:cNvCxnSpPr>
          <p:nvPr/>
        </p:nvCxnSpPr>
        <p:spPr>
          <a:xfrm flipV="1">
            <a:off x="3796710" y="2976064"/>
            <a:ext cx="841167" cy="529497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D9200A6-6171-EBC5-A335-094BFF832E83}"/>
              </a:ext>
            </a:extLst>
          </p:cNvPr>
          <p:cNvCxnSpPr>
            <a:cxnSpLocks/>
            <a:stCxn id="51" idx="6"/>
            <a:endCxn id="55" idx="1"/>
          </p:cNvCxnSpPr>
          <p:nvPr/>
        </p:nvCxnSpPr>
        <p:spPr>
          <a:xfrm>
            <a:off x="4800935" y="2817038"/>
            <a:ext cx="109068" cy="182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2B83B38-8D5F-CD95-D519-B7135179ABCA}"/>
              </a:ext>
            </a:extLst>
          </p:cNvPr>
          <p:cNvCxnSpPr>
            <a:cxnSpLocks/>
            <a:stCxn id="106" idx="2"/>
            <a:endCxn id="55" idx="3"/>
          </p:cNvCxnSpPr>
          <p:nvPr/>
        </p:nvCxnSpPr>
        <p:spPr>
          <a:xfrm flipH="1" flipV="1">
            <a:off x="5188948" y="2818866"/>
            <a:ext cx="259461" cy="49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4E8A4C8-D6F6-BC8A-29D8-4088ABD1BDAE}"/>
              </a:ext>
            </a:extLst>
          </p:cNvPr>
          <p:cNvGrpSpPr/>
          <p:nvPr/>
        </p:nvGrpSpPr>
        <p:grpSpPr>
          <a:xfrm>
            <a:off x="5232988" y="2403962"/>
            <a:ext cx="735374" cy="205498"/>
            <a:chOff x="5992779" y="2708762"/>
            <a:chExt cx="735374" cy="205498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4FD4167E-C934-FF20-2F0C-CCBFA42C5215}"/>
                </a:ext>
              </a:extLst>
            </p:cNvPr>
            <p:cNvSpPr/>
            <p:nvPr/>
          </p:nvSpPr>
          <p:spPr>
            <a:xfrm>
              <a:off x="6078469" y="2708804"/>
              <a:ext cx="568548" cy="205456"/>
            </a:xfrm>
            <a:prstGeom prst="roundRect">
              <a:avLst/>
            </a:prstGeom>
            <a:solidFill>
              <a:srgbClr val="B8C2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FCB8175-6370-7651-FB44-32FB88C28FB2}"/>
                </a:ext>
              </a:extLst>
            </p:cNvPr>
            <p:cNvSpPr txBox="1"/>
            <p:nvPr/>
          </p:nvSpPr>
          <p:spPr>
            <a:xfrm>
              <a:off x="5992779" y="2708762"/>
              <a:ext cx="7353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Conv32_k3s1</a:t>
              </a:r>
              <a:endParaRPr lang="ko-KR" altLang="en-US" sz="700" dirty="0"/>
            </a:p>
          </p:txBody>
        </p:sp>
      </p:grp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4BBCC05A-5172-E1AB-4F9E-E75C2B91D21F}"/>
              </a:ext>
            </a:extLst>
          </p:cNvPr>
          <p:cNvSpPr/>
          <p:nvPr/>
        </p:nvSpPr>
        <p:spPr>
          <a:xfrm>
            <a:off x="5387153" y="2138813"/>
            <a:ext cx="455844" cy="205456"/>
          </a:xfrm>
          <a:prstGeom prst="roundRect">
            <a:avLst/>
          </a:prstGeom>
          <a:solidFill>
            <a:srgbClr val="BEE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BE20E48-4B74-8931-52DB-203A61D26FFF}"/>
              </a:ext>
            </a:extLst>
          </p:cNvPr>
          <p:cNvSpPr txBox="1"/>
          <p:nvPr/>
        </p:nvSpPr>
        <p:spPr>
          <a:xfrm>
            <a:off x="5344306" y="2134600"/>
            <a:ext cx="5415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Res. Blk</a:t>
            </a:r>
            <a:endParaRPr lang="ko-KR" altLang="en-US" sz="7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A4B80F4-4AE6-1D8E-A143-6A9472287B85}"/>
              </a:ext>
            </a:extLst>
          </p:cNvPr>
          <p:cNvSpPr txBox="1"/>
          <p:nvPr/>
        </p:nvSpPr>
        <p:spPr>
          <a:xfrm>
            <a:off x="2237075" y="3800888"/>
            <a:ext cx="5737494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res_manipulator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enc_a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enc_b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amplification_factor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layer_dims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enc_b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enc_a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           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motion difference</a:t>
            </a:r>
            <a:endParaRPr lang="en-US" altLang="ko-K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num_conv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              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g(·)</a:t>
            </a:r>
            <a:endParaRPr lang="en-US" altLang="ko-K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.pad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[[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],[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],[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],[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"REFLECT"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.nn.relu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layer_dims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'VALID'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expand_dims_1_to_4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amplification_factor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scaling</a:t>
            </a:r>
            <a:endParaRPr lang="en-US" altLang="ko-K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num_aft_conv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          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optional post-conv</a:t>
            </a:r>
            <a:endParaRPr lang="en-US" altLang="ko-K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.pad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[[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],[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],[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],[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"REFLECT"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layer_dims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'VALID'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num_resblk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            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h(·)</a:t>
            </a:r>
            <a:endParaRPr lang="en-US" altLang="ko-K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residual_block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layer_dims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enc_b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             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output</a:t>
            </a:r>
            <a:endParaRPr lang="en-US" altLang="ko-K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9" name="Left Brace 138">
            <a:extLst>
              <a:ext uri="{FF2B5EF4-FFF2-40B4-BE49-F238E27FC236}">
                <a16:creationId xmlns:a16="http://schemas.microsoft.com/office/drawing/2014/main" id="{E826B628-80C5-9E26-6031-F0ACC124E6AE}"/>
              </a:ext>
            </a:extLst>
          </p:cNvPr>
          <p:cNvSpPr/>
          <p:nvPr/>
        </p:nvSpPr>
        <p:spPr>
          <a:xfrm rot="16200000">
            <a:off x="4933889" y="3132287"/>
            <a:ext cx="207697" cy="34230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3FDE896-AFD5-48F7-37C2-392471B44F64}"/>
              </a:ext>
            </a:extLst>
          </p:cNvPr>
          <p:cNvSpPr txBox="1"/>
          <p:nvPr/>
        </p:nvSpPr>
        <p:spPr>
          <a:xfrm>
            <a:off x="4757340" y="3350173"/>
            <a:ext cx="610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Consolas" panose="020B0609020204030204" pitchFamily="49" charset="0"/>
              </a:rPr>
              <a:t>g(·)</a:t>
            </a:r>
          </a:p>
        </p:txBody>
      </p:sp>
      <p:sp>
        <p:nvSpPr>
          <p:cNvPr id="141" name="Left Brace 140">
            <a:extLst>
              <a:ext uri="{FF2B5EF4-FFF2-40B4-BE49-F238E27FC236}">
                <a16:creationId xmlns:a16="http://schemas.microsoft.com/office/drawing/2014/main" id="{74ECB2A5-85F6-C1BB-7AF1-E240D3EBEF82}"/>
              </a:ext>
            </a:extLst>
          </p:cNvPr>
          <p:cNvSpPr/>
          <p:nvPr/>
        </p:nvSpPr>
        <p:spPr>
          <a:xfrm rot="10800000">
            <a:off x="5814664" y="2097351"/>
            <a:ext cx="207697" cy="27455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696E9D6-EFE5-7193-BFC2-7870E2541DE6}"/>
              </a:ext>
            </a:extLst>
          </p:cNvPr>
          <p:cNvSpPr txBox="1"/>
          <p:nvPr/>
        </p:nvSpPr>
        <p:spPr>
          <a:xfrm>
            <a:off x="5914949" y="2091396"/>
            <a:ext cx="610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Consolas" panose="020B0609020204030204" pitchFamily="49" charset="0"/>
              </a:rPr>
              <a:t>h(·)</a:t>
            </a:r>
          </a:p>
        </p:txBody>
      </p:sp>
    </p:spTree>
    <p:extLst>
      <p:ext uri="{BB962C8B-B14F-4D97-AF65-F5344CB8AC3E}">
        <p14:creationId xmlns:p14="http://schemas.microsoft.com/office/powerpoint/2010/main" val="1389854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2AC8D-6884-81F0-0C23-5F9D4E32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9B05566-13B6-8347-2C67-295D12AB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Understanding the Data &amp; Model Architecture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331A3187-A8D2-A5F7-FD75-F21D9FD82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2. Manipulator – </a:t>
            </a:r>
            <a:r>
              <a:rPr lang="ko-KR" altLang="en-US" dirty="0"/>
              <a:t>영상 내 </a:t>
            </a:r>
            <a:r>
              <a:rPr lang="en-US" altLang="ko-KR" dirty="0"/>
              <a:t>Motion Feature </a:t>
            </a:r>
            <a:r>
              <a:rPr lang="ko-KR" altLang="en-US" dirty="0"/>
              <a:t>조작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sz="1200" b="0" dirty="0"/>
              <a:t>두 프레임 간 </a:t>
            </a:r>
            <a:r>
              <a:rPr lang="en-US" altLang="ko-KR" sz="1200" b="0" dirty="0"/>
              <a:t>shape feature</a:t>
            </a:r>
            <a:r>
              <a:rPr lang="ko-KR" altLang="en-US" sz="1200" b="0" dirty="0"/>
              <a:t>의 차이를 학습 가능한 방식으로 증폭하거나 감쇠하여</a:t>
            </a:r>
            <a:r>
              <a:rPr lang="en-US" altLang="ko-KR" sz="1200" b="0" dirty="0"/>
              <a:t>, motion representation</a:t>
            </a:r>
            <a:r>
              <a:rPr lang="ko-KR" altLang="en-US" sz="1200" b="0" dirty="0"/>
              <a:t>을 생성한다</a:t>
            </a:r>
            <a:r>
              <a:rPr lang="en-US" altLang="ko-KR" sz="1200" b="0" dirty="0"/>
              <a:t>. </a:t>
            </a:r>
            <a:r>
              <a:rPr lang="ko-KR" altLang="en-US" sz="1200" b="0" dirty="0"/>
              <a:t>이 구조는 </a:t>
            </a:r>
            <a:r>
              <a:rPr lang="en-US" altLang="ko-KR" sz="1200" b="0" dirty="0"/>
              <a:t>g(·), α scaling, h(·) </a:t>
            </a:r>
            <a:r>
              <a:rPr lang="ko-KR" altLang="en-US" sz="1200" b="0" dirty="0"/>
              <a:t>구조로 구성되며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학습을 통해 의미 있는 </a:t>
            </a:r>
            <a:r>
              <a:rPr lang="en-US" altLang="ko-KR" sz="1200" b="0" dirty="0"/>
              <a:t>motion</a:t>
            </a:r>
            <a:r>
              <a:rPr lang="ko-KR" altLang="en-US" sz="1200" b="0" dirty="0"/>
              <a:t>을 모델링한다</a:t>
            </a:r>
            <a:r>
              <a:rPr lang="en-US" altLang="ko-KR" sz="1200" b="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b="0" dirty="0"/>
              <a:t>Design with References</a:t>
            </a:r>
          </a:p>
          <a:p>
            <a:pPr>
              <a:lnSpc>
                <a:spcPct val="150000"/>
              </a:lnSpc>
            </a:pPr>
            <a:endParaRPr lang="en-US" altLang="ko-KR" sz="1600" b="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BA5E4A0-1918-EB14-DC3D-BAD2B3BC7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9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6ED1A3-4056-5972-F8C2-F13B02457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979594"/>
              </p:ext>
            </p:extLst>
          </p:nvPr>
        </p:nvGraphicFramePr>
        <p:xfrm>
          <a:off x="681693" y="2676586"/>
          <a:ext cx="8468604" cy="258731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22868">
                  <a:extLst>
                    <a:ext uri="{9D8B030D-6E8A-4147-A177-3AD203B41FA5}">
                      <a16:colId xmlns:a16="http://schemas.microsoft.com/office/drawing/2014/main" val="75603167"/>
                    </a:ext>
                  </a:extLst>
                </a:gridCol>
                <a:gridCol w="2822868">
                  <a:extLst>
                    <a:ext uri="{9D8B030D-6E8A-4147-A177-3AD203B41FA5}">
                      <a16:colId xmlns:a16="http://schemas.microsoft.com/office/drawing/2014/main" val="3083037144"/>
                    </a:ext>
                  </a:extLst>
                </a:gridCol>
                <a:gridCol w="2822868">
                  <a:extLst>
                    <a:ext uri="{9D8B030D-6E8A-4147-A177-3AD203B41FA5}">
                      <a16:colId xmlns:a16="http://schemas.microsoft.com/office/drawing/2014/main" val="715811269"/>
                    </a:ext>
                  </a:extLst>
                </a:gridCol>
              </a:tblGrid>
              <a:tr h="236879">
                <a:tc>
                  <a:txBody>
                    <a:bodyPr/>
                    <a:lstStyle/>
                    <a:p>
                      <a:r>
                        <a:rPr lang="ko-KR" altLang="en-US" sz="1400"/>
                        <a:t>구성 요소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설계 목적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관련 논문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43103300"/>
                  </a:ext>
                </a:extLst>
              </a:tr>
              <a:tr h="592197">
                <a:tc>
                  <a:txBody>
                    <a:bodyPr/>
                    <a:lstStyle/>
                    <a:p>
                      <a:r>
                        <a:rPr lang="en-US" sz="1400" b="1"/>
                        <a:t>Motion Difference (Mb - Ma)</a:t>
                      </a:r>
                      <a:endParaRPr lang="en-US" sz="14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▪ 두 프레임의 구조 차이 추출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Liu et al., ACM TOG 2005 </a:t>
                      </a:r>
                    </a:p>
                    <a:p>
                      <a:r>
                        <a:rPr lang="da-DK" sz="1400" dirty="0"/>
                        <a:t>Wu et al., SIGGRAPH 2012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191522296"/>
                  </a:ext>
                </a:extLst>
              </a:tr>
              <a:tr h="592197">
                <a:tc>
                  <a:txBody>
                    <a:bodyPr/>
                    <a:lstStyle/>
                    <a:p>
                      <a:r>
                        <a:rPr lang="en-US" sz="1400" b="1" dirty="0"/>
                        <a:t>Attenuation Scaling</a:t>
                      </a:r>
                      <a:r>
                        <a:rPr lang="en-US" sz="1400" dirty="0"/>
                        <a:t>(</a:t>
                      </a:r>
                      <a:r>
                        <a:rPr lang="el-GR" sz="1400" dirty="0"/>
                        <a:t>α − 1</a:t>
                      </a:r>
                      <a:r>
                        <a:rPr lang="en-US" sz="1400" dirty="0"/>
                        <a:t>)</a:t>
                      </a:r>
                      <a:endParaRPr lang="el-GR" sz="140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▪ 증폭 비율을 학습적으로 제어 ▪ 작은 </a:t>
                      </a:r>
                      <a:r>
                        <a:rPr lang="en-US" altLang="ko-KR" sz="1400"/>
                        <a:t>motion</a:t>
                      </a:r>
                      <a:r>
                        <a:rPr lang="ko-KR" altLang="en-US" sz="1400"/>
                        <a:t>에 민감하게 대응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Elgharib</a:t>
                      </a:r>
                      <a:r>
                        <a:rPr lang="en-US" sz="1400" dirty="0"/>
                        <a:t> et al., CVPR 2015 </a:t>
                      </a:r>
                    </a:p>
                    <a:p>
                      <a:r>
                        <a:rPr lang="en-US" sz="1400" dirty="0"/>
                        <a:t>Zhang et al., CVPR 2017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150966931"/>
                  </a:ext>
                </a:extLst>
              </a:tr>
              <a:tr h="592197">
                <a:tc>
                  <a:txBody>
                    <a:bodyPr/>
                    <a:lstStyle/>
                    <a:p>
                      <a:r>
                        <a:rPr lang="en-US" sz="1400" b="1"/>
                        <a:t>Residual Blocks × N (h(·))</a:t>
                      </a:r>
                      <a:endParaRPr lang="en-US" sz="14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▪ </a:t>
                      </a:r>
                      <a:r>
                        <a:rPr lang="en-US" altLang="ko-KR" sz="1400" dirty="0"/>
                        <a:t>motion feature </a:t>
                      </a:r>
                      <a:r>
                        <a:rPr lang="ko-KR" altLang="en-US" sz="1400" dirty="0"/>
                        <a:t>후처리 및 정제 </a:t>
                      </a:r>
                      <a:endParaRPr lang="en-US" altLang="ko-KR" sz="1400" dirty="0"/>
                    </a:p>
                    <a:p>
                      <a:r>
                        <a:rPr lang="ko-KR" altLang="en-US" sz="1400" dirty="0"/>
                        <a:t>▪ 표현력 향상 및 안정성 확보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He et al., CVPR 2016 (ResNet)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303733238"/>
                  </a:ext>
                </a:extLst>
              </a:tr>
              <a:tr h="414538">
                <a:tc>
                  <a:txBody>
                    <a:bodyPr/>
                    <a:lstStyle/>
                    <a:p>
                      <a:r>
                        <a:rPr lang="ko-KR" altLang="en-US" sz="1400" b="1"/>
                        <a:t>최종 덧셈 </a:t>
                      </a:r>
                      <a:r>
                        <a:rPr lang="en-US" altLang="ko-KR" sz="1400" b="1"/>
                        <a:t>(</a:t>
                      </a:r>
                      <a:r>
                        <a:rPr lang="en-US" sz="1400" b="1"/>
                        <a:t>Mb + diff)</a:t>
                      </a:r>
                      <a:endParaRPr lang="en-US" sz="14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▪ 증폭된 </a:t>
                      </a:r>
                      <a:r>
                        <a:rPr lang="en-US" altLang="ko-KR" sz="1400"/>
                        <a:t>motion feature</a:t>
                      </a:r>
                      <a:r>
                        <a:rPr lang="ko-KR" altLang="en-US" sz="1400"/>
                        <a:t>를 합성하여 최종 출력 생성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Wu et al., SIGGRAPH 2012 </a:t>
                      </a:r>
                    </a:p>
                    <a:p>
                      <a:r>
                        <a:rPr lang="fr-FR" sz="1400" dirty="0"/>
                        <a:t>(</a:t>
                      </a:r>
                      <a:r>
                        <a:rPr lang="fr-FR" sz="1400" dirty="0" err="1"/>
                        <a:t>Eulerian</a:t>
                      </a:r>
                      <a:r>
                        <a:rPr lang="fr-FR" sz="1400" dirty="0"/>
                        <a:t> Motion)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930372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3250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E1505-8BE5-264B-032A-74CBEE19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DB20237-FDB4-3374-A3FF-547F51763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Understanding the Data &amp; Model Architecture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9104CF5C-2EF8-25BB-F50C-98BE48899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3. Decoder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ED92DF2-F822-5B32-B7C7-BF458685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10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BC6512-5D90-0627-9F54-A7D5276188EA}"/>
              </a:ext>
            </a:extLst>
          </p:cNvPr>
          <p:cNvSpPr/>
          <p:nvPr/>
        </p:nvSpPr>
        <p:spPr>
          <a:xfrm>
            <a:off x="829111" y="1683027"/>
            <a:ext cx="2680217" cy="439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7F1707-88F3-C84F-C18B-CFE8CE5910DD}"/>
              </a:ext>
            </a:extLst>
          </p:cNvPr>
          <p:cNvSpPr txBox="1"/>
          <p:nvPr/>
        </p:nvSpPr>
        <p:spPr>
          <a:xfrm>
            <a:off x="829111" y="1340199"/>
            <a:ext cx="126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Decoder</a:t>
            </a:r>
            <a:endParaRPr lang="ko-KR" alt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8CA6DD-6C9F-C3E5-0401-7D270952C8BA}"/>
              </a:ext>
            </a:extLst>
          </p:cNvPr>
          <p:cNvCxnSpPr>
            <a:cxnSpLocks/>
          </p:cNvCxnSpPr>
          <p:nvPr/>
        </p:nvCxnSpPr>
        <p:spPr>
          <a:xfrm>
            <a:off x="495743" y="2186649"/>
            <a:ext cx="3333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EF6BD94-E0FA-2336-3209-A5FFFE2D9E11}"/>
              </a:ext>
            </a:extLst>
          </p:cNvPr>
          <p:cNvSpPr/>
          <p:nvPr/>
        </p:nvSpPr>
        <p:spPr>
          <a:xfrm>
            <a:off x="902093" y="1940411"/>
            <a:ext cx="278944" cy="76621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736918-BD8C-FB32-310D-AF50B56199B1}"/>
              </a:ext>
            </a:extLst>
          </p:cNvPr>
          <p:cNvSpPr txBox="1"/>
          <p:nvPr/>
        </p:nvSpPr>
        <p:spPr>
          <a:xfrm>
            <a:off x="872288" y="1974516"/>
            <a:ext cx="338554" cy="7213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sz="1000" dirty="0" err="1"/>
              <a:t>Upsample</a:t>
            </a:r>
            <a:endParaRPr lang="ko-KR" altLang="en-US" sz="10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927079D-F6A7-0360-952E-00B9EA906F1D}"/>
              </a:ext>
            </a:extLst>
          </p:cNvPr>
          <p:cNvGrpSpPr/>
          <p:nvPr/>
        </p:nvGrpSpPr>
        <p:grpSpPr>
          <a:xfrm>
            <a:off x="1207586" y="1940411"/>
            <a:ext cx="400110" cy="3333954"/>
            <a:chOff x="7246160" y="1940411"/>
            <a:chExt cx="400110" cy="3333954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7FBC6AD5-6CBE-C27E-AD27-0E424CE7BC05}"/>
                </a:ext>
              </a:extLst>
            </p:cNvPr>
            <p:cNvSpPr/>
            <p:nvPr/>
          </p:nvSpPr>
          <p:spPr>
            <a:xfrm>
              <a:off x="7298610" y="1940411"/>
              <a:ext cx="278944" cy="333395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C5D4555-6D66-E94F-5965-870B4A982FC1}"/>
                </a:ext>
              </a:extLst>
            </p:cNvPr>
            <p:cNvSpPr txBox="1"/>
            <p:nvPr/>
          </p:nvSpPr>
          <p:spPr>
            <a:xfrm>
              <a:off x="7246160" y="3151250"/>
              <a:ext cx="400110" cy="72139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400" dirty="0" err="1"/>
                <a:t>Concat</a:t>
              </a:r>
              <a:r>
                <a:rPr lang="en-US" altLang="ko-KR" sz="1400" dirty="0"/>
                <a:t>.</a:t>
              </a:r>
              <a:endParaRPr lang="ko-KR" altLang="en-US" sz="14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7BE7C0F-0AB2-B8FA-36F8-3370BD91DD32}"/>
              </a:ext>
            </a:extLst>
          </p:cNvPr>
          <p:cNvGrpSpPr/>
          <p:nvPr/>
        </p:nvGrpSpPr>
        <p:grpSpPr>
          <a:xfrm>
            <a:off x="1940674" y="3018765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36A998E4-09A9-9F25-98B3-6084A88286C1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7311988-5EFA-1F29-2202-12938E1A0E2D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FA587AA-AB26-BF83-7EF5-3962FD7F77A5}"/>
              </a:ext>
            </a:extLst>
          </p:cNvPr>
          <p:cNvGrpSpPr/>
          <p:nvPr/>
        </p:nvGrpSpPr>
        <p:grpSpPr>
          <a:xfrm>
            <a:off x="1598590" y="3018765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4574B0D-9E92-F603-7A60-85BCECE06AAA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6969671-8F48-9012-AE55-D5265B8FB99F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340FD3C-D8B8-BB7E-3782-5C89B88FDED6}"/>
              </a:ext>
            </a:extLst>
          </p:cNvPr>
          <p:cNvGrpSpPr/>
          <p:nvPr/>
        </p:nvGrpSpPr>
        <p:grpSpPr>
          <a:xfrm>
            <a:off x="2266410" y="1940411"/>
            <a:ext cx="400110" cy="3333954"/>
            <a:chOff x="7253120" y="1940411"/>
            <a:chExt cx="400110" cy="3333954"/>
          </a:xfrm>
        </p:grpSpPr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B5ED77BD-C359-9339-4205-DFB26B3DB30E}"/>
                </a:ext>
              </a:extLst>
            </p:cNvPr>
            <p:cNvSpPr/>
            <p:nvPr/>
          </p:nvSpPr>
          <p:spPr>
            <a:xfrm>
              <a:off x="7298610" y="1940411"/>
              <a:ext cx="278944" cy="333395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151E637-01F4-63B3-08CD-04E374F568AC}"/>
                </a:ext>
              </a:extLst>
            </p:cNvPr>
            <p:cNvSpPr txBox="1"/>
            <p:nvPr/>
          </p:nvSpPr>
          <p:spPr>
            <a:xfrm>
              <a:off x="7253120" y="3190126"/>
              <a:ext cx="400110" cy="72139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400" dirty="0" err="1"/>
                <a:t>Concat</a:t>
              </a:r>
              <a:r>
                <a:rPr lang="en-US" altLang="ko-KR" sz="1400" dirty="0"/>
                <a:t>.</a:t>
              </a:r>
              <a:endParaRPr lang="ko-KR" altLang="en-US" sz="1400" dirty="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5E477FA-7B07-FA9B-0E6A-2B3094C47855}"/>
              </a:ext>
            </a:extLst>
          </p:cNvPr>
          <p:cNvGrpSpPr/>
          <p:nvPr/>
        </p:nvGrpSpPr>
        <p:grpSpPr>
          <a:xfrm>
            <a:off x="2620649" y="2863815"/>
            <a:ext cx="369332" cy="1585843"/>
            <a:chOff x="1507123" y="1925983"/>
            <a:chExt cx="369332" cy="158584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FB771160-BAD0-0EE9-847D-B417758377DA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69B15D7-2BEA-AC12-5B32-C3BED554F4A4}"/>
                </a:ext>
              </a:extLst>
            </p:cNvPr>
            <p:cNvSpPr txBox="1"/>
            <p:nvPr/>
          </p:nvSpPr>
          <p:spPr>
            <a:xfrm>
              <a:off x="1507123" y="1985154"/>
              <a:ext cx="369332" cy="147893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Conv32_k3s1_ReLu</a:t>
              </a:r>
              <a:endParaRPr lang="ko-KR" altLang="en-US" sz="1200" dirty="0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B879551-1445-8157-0F91-207DD6BBD68B}"/>
              </a:ext>
            </a:extLst>
          </p:cNvPr>
          <p:cNvGrpSpPr/>
          <p:nvPr/>
        </p:nvGrpSpPr>
        <p:grpSpPr>
          <a:xfrm>
            <a:off x="2919164" y="2863815"/>
            <a:ext cx="369332" cy="1585843"/>
            <a:chOff x="1492653" y="1925983"/>
            <a:chExt cx="369332" cy="1585843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BE68A8F5-C64A-285B-F952-AA3B713F47A2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58FC0F7-C703-8A32-4095-95F923554852}"/>
                </a:ext>
              </a:extLst>
            </p:cNvPr>
            <p:cNvSpPr txBox="1"/>
            <p:nvPr/>
          </p:nvSpPr>
          <p:spPr>
            <a:xfrm>
              <a:off x="1492653" y="2239792"/>
              <a:ext cx="369332" cy="94352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Conv3_k7s1</a:t>
              </a:r>
              <a:endParaRPr lang="ko-KR" altLang="en-US" sz="1200" dirty="0"/>
            </a:p>
          </p:txBody>
        </p:sp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2D7AF84-4158-8BAA-7039-D300A7D030C0}"/>
              </a:ext>
            </a:extLst>
          </p:cNvPr>
          <p:cNvCxnSpPr>
            <a:cxnSpLocks/>
            <a:stCxn id="113" idx="3"/>
          </p:cNvCxnSpPr>
          <p:nvPr/>
        </p:nvCxnSpPr>
        <p:spPr>
          <a:xfrm>
            <a:off x="3252532" y="3656737"/>
            <a:ext cx="56598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503870DE-07A2-B4C8-4950-5C27EF77FCDE}"/>
              </a:ext>
            </a:extLst>
          </p:cNvPr>
          <p:cNvSpPr txBox="1"/>
          <p:nvPr/>
        </p:nvSpPr>
        <p:spPr>
          <a:xfrm>
            <a:off x="4070569" y="2775420"/>
            <a:ext cx="5720425" cy="205864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res_decoder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activation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layer_dims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out_channels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num_resblk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activation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num_resblk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                  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Residual refinement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residual_block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layer_dims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tf</a:t>
            </a:r>
            <a:r>
              <a:rPr lang="en-US" altLang="ko-KR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.image.resize_nearest_neighbor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size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ko-K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Upsample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2×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tf</a:t>
            </a:r>
            <a:r>
              <a:rPr lang="en-US" altLang="ko-KR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.nn.relu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layer_dims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Conv + ReLU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out_channels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  </a:t>
            </a: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Final 7×7 prediction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6EF2B4A-6EA2-49DC-54B8-6F1F239D57B2}"/>
              </a:ext>
            </a:extLst>
          </p:cNvPr>
          <p:cNvCxnSpPr>
            <a:cxnSpLocks/>
          </p:cNvCxnSpPr>
          <p:nvPr/>
        </p:nvCxnSpPr>
        <p:spPr>
          <a:xfrm>
            <a:off x="495743" y="4613590"/>
            <a:ext cx="76429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Left Brace 120">
            <a:extLst>
              <a:ext uri="{FF2B5EF4-FFF2-40B4-BE49-F238E27FC236}">
                <a16:creationId xmlns:a16="http://schemas.microsoft.com/office/drawing/2014/main" id="{8CB1CF35-A584-0FFF-0C92-E38486FFD730}"/>
              </a:ext>
            </a:extLst>
          </p:cNvPr>
          <p:cNvSpPr/>
          <p:nvPr/>
        </p:nvSpPr>
        <p:spPr>
          <a:xfrm rot="16200000">
            <a:off x="1835174" y="3980833"/>
            <a:ext cx="256000" cy="49539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3921929-8DCF-2A57-C7B4-571B557618E3}"/>
              </a:ext>
            </a:extLst>
          </p:cNvPr>
          <p:cNvSpPr txBox="1"/>
          <p:nvPr/>
        </p:nvSpPr>
        <p:spPr>
          <a:xfrm>
            <a:off x="1805379" y="4330027"/>
            <a:ext cx="20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7424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48F2F-DC23-208E-7B4C-F4205160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E3834CF-14F4-6664-6CEF-7E9F10C09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Understanding the Data &amp; Model Architecture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2EC03EB2-A950-AE7D-2516-C659C4041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3. Decoder – </a:t>
            </a:r>
            <a:r>
              <a:rPr lang="ko-KR" altLang="en-US" dirty="0"/>
              <a:t>영상 복원 과정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200" b="0" dirty="0"/>
              <a:t>Manipulator</a:t>
            </a:r>
            <a:r>
              <a:rPr lang="ko-KR" altLang="en-US" sz="1200" b="0" dirty="0"/>
              <a:t>를 거친 </a:t>
            </a:r>
            <a:r>
              <a:rPr lang="en-US" altLang="ko-KR" sz="1200" b="0" dirty="0"/>
              <a:t>feature map</a:t>
            </a:r>
            <a:r>
              <a:rPr lang="ko-KR" altLang="en-US" sz="1200" b="0" dirty="0"/>
              <a:t>을 </a:t>
            </a:r>
            <a:r>
              <a:rPr lang="en-US" altLang="ko-KR" sz="1200" b="0" dirty="0" err="1"/>
              <a:t>upsampling</a:t>
            </a:r>
            <a:r>
              <a:rPr lang="ko-KR" altLang="en-US" sz="1200" b="0" dirty="0"/>
              <a:t>과 </a:t>
            </a:r>
            <a:r>
              <a:rPr lang="en-US" altLang="ko-KR" sz="1200" b="0" dirty="0"/>
              <a:t>convolution</a:t>
            </a:r>
            <a:r>
              <a:rPr lang="ko-KR" altLang="en-US" sz="1200" b="0" dirty="0"/>
              <a:t>을 통해 원래의 해상도로 복원하고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최종 이미지를 예측하는 모듈</a:t>
            </a:r>
            <a:r>
              <a:rPr lang="en-US" altLang="ko-KR" sz="1200" b="0" dirty="0"/>
              <a:t>. Residual block</a:t>
            </a:r>
            <a:r>
              <a:rPr lang="ko-KR" altLang="en-US" sz="1200" b="0" dirty="0"/>
              <a:t>으로 정제하고</a:t>
            </a:r>
            <a:r>
              <a:rPr lang="en-US" altLang="ko-KR" sz="1200" b="0" dirty="0"/>
              <a:t>, </a:t>
            </a:r>
            <a:r>
              <a:rPr lang="en-US" altLang="ko-KR" sz="1200" b="0" dirty="0" err="1"/>
              <a:t>upsampling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후 </a:t>
            </a:r>
            <a:r>
              <a:rPr lang="en-US" altLang="ko-KR" sz="1200" b="0" dirty="0"/>
              <a:t>Conv layer</a:t>
            </a:r>
            <a:r>
              <a:rPr lang="ko-KR" altLang="en-US" sz="1200" b="0" dirty="0"/>
              <a:t>를 사용해 고해상도 이미지를 생성한다</a:t>
            </a:r>
            <a:r>
              <a:rPr lang="en-US" altLang="ko-KR" sz="1200" b="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b="0" dirty="0"/>
              <a:t>Design with References</a:t>
            </a:r>
          </a:p>
          <a:p>
            <a:pPr>
              <a:lnSpc>
                <a:spcPct val="150000"/>
              </a:lnSpc>
            </a:pPr>
            <a:endParaRPr lang="en-US" altLang="ko-KR" sz="1600" b="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A0E13F9-2FB4-BB3D-FF67-9BE9AC18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11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6A9432-353A-F37D-2FF8-C08DA5C88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193466"/>
              </p:ext>
            </p:extLst>
          </p:nvPr>
        </p:nvGraphicFramePr>
        <p:xfrm>
          <a:off x="523479" y="2584174"/>
          <a:ext cx="8701734" cy="26738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54225">
                  <a:extLst>
                    <a:ext uri="{9D8B030D-6E8A-4147-A177-3AD203B41FA5}">
                      <a16:colId xmlns:a16="http://schemas.microsoft.com/office/drawing/2014/main" val="333307851"/>
                    </a:ext>
                  </a:extLst>
                </a:gridCol>
                <a:gridCol w="3118679">
                  <a:extLst>
                    <a:ext uri="{9D8B030D-6E8A-4147-A177-3AD203B41FA5}">
                      <a16:colId xmlns:a16="http://schemas.microsoft.com/office/drawing/2014/main" val="3525700196"/>
                    </a:ext>
                  </a:extLst>
                </a:gridCol>
                <a:gridCol w="2828830">
                  <a:extLst>
                    <a:ext uri="{9D8B030D-6E8A-4147-A177-3AD203B41FA5}">
                      <a16:colId xmlns:a16="http://schemas.microsoft.com/office/drawing/2014/main" val="828589873"/>
                    </a:ext>
                  </a:extLst>
                </a:gridCol>
              </a:tblGrid>
              <a:tr h="281456">
                <a:tc>
                  <a:txBody>
                    <a:bodyPr/>
                    <a:lstStyle/>
                    <a:p>
                      <a:r>
                        <a:rPr lang="ko-KR" altLang="en-US" sz="1200"/>
                        <a:t>구성 요소</a:t>
                      </a:r>
                      <a:endParaRPr lang="ko-KR" altLang="en-US" sz="1200" dirty="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설계 목적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관련 논문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362760016"/>
                  </a:ext>
                </a:extLst>
              </a:tr>
              <a:tr h="703642">
                <a:tc>
                  <a:txBody>
                    <a:bodyPr/>
                    <a:lstStyle/>
                    <a:p>
                      <a:r>
                        <a:rPr lang="en-US" sz="1200" b="1"/>
                        <a:t>Residual Blocks × N</a:t>
                      </a:r>
                      <a:endParaRPr lang="en-US" sz="1200" dirty="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▪ 복원 전 </a:t>
                      </a:r>
                      <a:r>
                        <a:rPr lang="en-US" altLang="ko-KR" sz="1200"/>
                        <a:t>feature refinement</a:t>
                      </a:r>
                    </a:p>
                    <a:p>
                      <a:r>
                        <a:rPr lang="en-US" altLang="ko-KR" sz="1200"/>
                        <a:t>▪ </a:t>
                      </a:r>
                      <a:r>
                        <a:rPr lang="ko-KR" altLang="en-US" sz="1200"/>
                        <a:t>네트워크의 표현력 증가</a:t>
                      </a:r>
                      <a:endParaRPr lang="ko-KR" altLang="en-US" sz="1200" dirty="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da-DK" sz="1200"/>
                        <a:t>He et al., ResNet, CVPR 2016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572968539"/>
                  </a:ext>
                </a:extLst>
              </a:tr>
              <a:tr h="492549">
                <a:tc>
                  <a:txBody>
                    <a:bodyPr/>
                    <a:lstStyle/>
                    <a:p>
                      <a:r>
                        <a:rPr lang="en-US" sz="1200" b="1"/>
                        <a:t>Nearest Neighbor Upsample ×2</a:t>
                      </a:r>
                      <a:endParaRPr lang="en-US" sz="1200" dirty="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▪ 해상도 증가</a:t>
                      </a:r>
                      <a:endParaRPr lang="en-US" altLang="ko-KR" sz="1200" dirty="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Odena et al., Distill, 2016</a:t>
                      </a:r>
                      <a:endParaRPr lang="en-US" sz="1200" dirty="0"/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239463207"/>
                  </a:ext>
                </a:extLst>
              </a:tr>
              <a:tr h="703642">
                <a:tc>
                  <a:txBody>
                    <a:bodyPr/>
                    <a:lstStyle/>
                    <a:p>
                      <a:r>
                        <a:rPr lang="en-US" sz="1200" b="1"/>
                        <a:t>Conv 3×3 → ReLU</a:t>
                      </a:r>
                      <a:endParaRPr lang="en-US" sz="12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▪ 저해상도 </a:t>
                      </a:r>
                      <a:r>
                        <a:rPr lang="en-US" altLang="ko-KR" sz="1200" dirty="0"/>
                        <a:t>feature</a:t>
                      </a:r>
                      <a:r>
                        <a:rPr lang="ko-KR" altLang="en-US" sz="1200" dirty="0"/>
                        <a:t>를 고해상도로 보간</a:t>
                      </a:r>
                      <a:endParaRPr lang="en-US" altLang="ko-KR" sz="1200" dirty="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Radford et al., DCGAN, ICLR 2016</a:t>
                      </a:r>
                      <a:endParaRPr lang="en-US" sz="1200" dirty="0"/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948487958"/>
                  </a:ext>
                </a:extLst>
              </a:tr>
              <a:tr h="492549">
                <a:tc>
                  <a:txBody>
                    <a:bodyPr/>
                    <a:lstStyle/>
                    <a:p>
                      <a:r>
                        <a:rPr lang="en-US" sz="1200" b="1" dirty="0"/>
                        <a:t>Conv 7×7</a:t>
                      </a:r>
                      <a:endParaRPr lang="en-US" sz="1200" dirty="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▪ </a:t>
                      </a:r>
                      <a:r>
                        <a:rPr lang="en-US" altLang="ko-KR" sz="1200" b="0" dirty="0"/>
                        <a:t>Content (shape </a:t>
                      </a:r>
                      <a:r>
                        <a:rPr lang="ko-KR" altLang="en-US" sz="1200" b="0" dirty="0"/>
                        <a:t>역할</a:t>
                      </a:r>
                      <a:r>
                        <a:rPr lang="en-US" altLang="ko-KR" sz="1200" b="0" dirty="0"/>
                        <a:t>) + Style (texture </a:t>
                      </a:r>
                      <a:r>
                        <a:rPr lang="ko-KR" altLang="en-US" sz="1200" b="0" dirty="0"/>
                        <a:t>역할</a:t>
                      </a:r>
                      <a:r>
                        <a:rPr lang="en-US" altLang="ko-KR" sz="1200" b="0" dirty="0"/>
                        <a:t>)</a:t>
                      </a:r>
                      <a:r>
                        <a:rPr lang="ko-KR" altLang="en-US" sz="1200" b="0" dirty="0"/>
                        <a:t>를 분리해서 합성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Fast Neural Style Transfer </a:t>
                      </a:r>
                    </a:p>
                    <a:p>
                      <a:r>
                        <a:rPr lang="fr-FR" sz="1200" dirty="0"/>
                        <a:t>Johnson et al., ECCV 2016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040074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6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FFEDA-7DD3-705D-1FDC-575D8A30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9167278-95D5-A77B-C080-F7852744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Understanding the Data &amp; Model Architecture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7B336AF3-6B66-6630-E690-AEF364428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2. Data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4AFC4D6-64C5-7CE2-8BE5-4AAC08F3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12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pic>
        <p:nvPicPr>
          <p:cNvPr id="5" name="Picture 4" descr="A dog and a dog in a park&#10;&#10;AI-generated content may be incorrect.">
            <a:extLst>
              <a:ext uri="{FF2B5EF4-FFF2-40B4-BE49-F238E27FC236}">
                <a16:creationId xmlns:a16="http://schemas.microsoft.com/office/drawing/2014/main" id="{B21E71E0-65D4-7CCD-1D6E-A13DD8597C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24" y="2171263"/>
            <a:ext cx="1257737" cy="1257737"/>
          </a:xfrm>
          <a:prstGeom prst="rect">
            <a:avLst/>
          </a:prstGeom>
        </p:spPr>
      </p:pic>
      <p:pic>
        <p:nvPicPr>
          <p:cNvPr id="7" name="Picture 6" descr="A dog in the grass&#10;&#10;AI-generated content may be incorrect.">
            <a:extLst>
              <a:ext uri="{FF2B5EF4-FFF2-40B4-BE49-F238E27FC236}">
                <a16:creationId xmlns:a16="http://schemas.microsoft.com/office/drawing/2014/main" id="{34B36E09-E8A8-103D-07A1-20C37D36F4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23" y="3820969"/>
            <a:ext cx="1257737" cy="1257737"/>
          </a:xfrm>
          <a:prstGeom prst="rect">
            <a:avLst/>
          </a:prstGeom>
        </p:spPr>
      </p:pic>
      <p:pic>
        <p:nvPicPr>
          <p:cNvPr id="9" name="Picture 8" descr="A dog looking at the camera&#10;&#10;AI-generated content may be incorrect.">
            <a:extLst>
              <a:ext uri="{FF2B5EF4-FFF2-40B4-BE49-F238E27FC236}">
                <a16:creationId xmlns:a16="http://schemas.microsoft.com/office/drawing/2014/main" id="{0247A622-8C3F-CE29-299F-5F504680EF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006" y="3820969"/>
            <a:ext cx="1257737" cy="12577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AFDC88-0A67-8CDF-3CC2-038BEF263AF5}"/>
              </a:ext>
            </a:extLst>
          </p:cNvPr>
          <p:cNvSpPr txBox="1"/>
          <p:nvPr/>
        </p:nvSpPr>
        <p:spPr>
          <a:xfrm>
            <a:off x="785127" y="3361634"/>
            <a:ext cx="926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frameA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698C22-ADDC-ACCC-8D34-07581B628ECD}"/>
              </a:ext>
            </a:extLst>
          </p:cNvPr>
          <p:cNvSpPr txBox="1"/>
          <p:nvPr/>
        </p:nvSpPr>
        <p:spPr>
          <a:xfrm>
            <a:off x="785126" y="5078706"/>
            <a:ext cx="1037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frameB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D028CA-2C07-1C75-9EB3-C5C5074931DC}"/>
              </a:ext>
            </a:extLst>
          </p:cNvPr>
          <p:cNvSpPr txBox="1"/>
          <p:nvPr/>
        </p:nvSpPr>
        <p:spPr>
          <a:xfrm>
            <a:off x="2776378" y="5078706"/>
            <a:ext cx="1141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amplified</a:t>
            </a:r>
            <a:endParaRPr lang="ko-KR" altLang="en-US" dirty="0"/>
          </a:p>
        </p:txBody>
      </p:sp>
      <p:pic>
        <p:nvPicPr>
          <p:cNvPr id="14" name="Picture 13" descr="A dog and a dog in a park&#10;&#10;AI-generated content may be incorrect.">
            <a:extLst>
              <a:ext uri="{FF2B5EF4-FFF2-40B4-BE49-F238E27FC236}">
                <a16:creationId xmlns:a16="http://schemas.microsoft.com/office/drawing/2014/main" id="{D5A65990-6081-2721-37EC-602EBCEAE2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007" y="2171263"/>
            <a:ext cx="1257737" cy="12577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6139472-038D-F70F-C65D-17B5CB90C008}"/>
              </a:ext>
            </a:extLst>
          </p:cNvPr>
          <p:cNvSpPr txBox="1"/>
          <p:nvPr/>
        </p:nvSpPr>
        <p:spPr>
          <a:xfrm>
            <a:off x="2825403" y="3361634"/>
            <a:ext cx="109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frameC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CA9A3B-2591-BFFE-292A-49C75F6D60F1}"/>
              </a:ext>
            </a:extLst>
          </p:cNvPr>
          <p:cNvSpPr txBox="1"/>
          <p:nvPr/>
        </p:nvSpPr>
        <p:spPr>
          <a:xfrm>
            <a:off x="7334157" y="1986597"/>
            <a:ext cx="1325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Meta data</a:t>
            </a:r>
            <a:endParaRPr lang="ko-KR" alt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812FE09-B8E4-8F5B-AE32-7B72B6F84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481696"/>
              </p:ext>
            </p:extLst>
          </p:nvPr>
        </p:nvGraphicFramePr>
        <p:xfrm>
          <a:off x="6373027" y="2800131"/>
          <a:ext cx="3247325" cy="1989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7721">
                  <a:extLst>
                    <a:ext uri="{9D8B030D-6E8A-4147-A177-3AD203B41FA5}">
                      <a16:colId xmlns:a16="http://schemas.microsoft.com/office/drawing/2014/main" val="3953089406"/>
                    </a:ext>
                  </a:extLst>
                </a:gridCol>
                <a:gridCol w="1459604">
                  <a:extLst>
                    <a:ext uri="{9D8B030D-6E8A-4147-A177-3AD203B41FA5}">
                      <a16:colId xmlns:a16="http://schemas.microsoft.com/office/drawing/2014/main" val="597509701"/>
                    </a:ext>
                  </a:extLst>
                </a:gridCol>
              </a:tblGrid>
              <a:tr h="6633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Amplification factor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17867"/>
                  </a:ext>
                </a:extLst>
              </a:tr>
              <a:tr h="6633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Motion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28.35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64983"/>
                  </a:ext>
                </a:extLst>
              </a:tr>
              <a:tr h="6633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Bg_blur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4.73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379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707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5BBF-5408-0F35-617C-B7166A3B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5EC64A-0FB6-8E0F-1692-D0E6B947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optimization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71CE551A-5E9D-57A4-4512-0A128EC48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7"/>
            <a:ext cx="9729578" cy="57356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week1 </a:t>
            </a:r>
            <a:r>
              <a:rPr lang="ko-KR" altLang="en-US" dirty="0"/>
              <a:t>피드백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l-GR" altLang="ko-KR" sz="2000" dirty="0"/>
              <a:t>α</a:t>
            </a:r>
            <a:r>
              <a:rPr lang="en-US" altLang="ko-KR" sz="2000" dirty="0"/>
              <a:t>=0.5</a:t>
            </a:r>
            <a:r>
              <a:rPr lang="ko-KR" altLang="en-US" sz="2000" dirty="0"/>
              <a:t>로 놓고 </a:t>
            </a:r>
            <a:r>
              <a:rPr lang="en-US" altLang="ko-KR" sz="2000" dirty="0"/>
              <a:t>cascade</a:t>
            </a:r>
            <a:r>
              <a:rPr lang="ko-KR" altLang="en-US" sz="2000" dirty="0"/>
              <a:t>로 돌리는 방식을 사용하였음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Motion</a:t>
            </a:r>
            <a:r>
              <a:rPr lang="ko-KR" altLang="en-US" sz="2000" dirty="0"/>
              <a:t>감소가 성공했지만 왜곡이 생겼음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Cascade</a:t>
            </a:r>
            <a:r>
              <a:rPr lang="ko-KR" altLang="en-US" sz="2000" dirty="0"/>
              <a:t>하면서 작은 에러들이 누적되고 </a:t>
            </a:r>
            <a:r>
              <a:rPr lang="en-US" altLang="ko-KR" sz="2000" dirty="0">
                <a:sym typeface="Wingdings" panose="05000000000000000000" pitchFamily="2" charset="2"/>
              </a:rPr>
              <a:t>ghosting, blur, edge shift</a:t>
            </a:r>
            <a:r>
              <a:rPr lang="ko-KR" altLang="en-US" sz="2000" dirty="0">
                <a:sym typeface="Wingdings" panose="05000000000000000000" pitchFamily="2" charset="2"/>
              </a:rPr>
              <a:t>등이 발생함</a:t>
            </a:r>
            <a:r>
              <a:rPr lang="en-US" altLang="ko-KR" sz="2000" dirty="0"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C95A522-810D-EFEB-AF26-885EA0B2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13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pic>
        <p:nvPicPr>
          <p:cNvPr id="4" name="output">
            <a:hlinkClick r:id="" action="ppaction://media"/>
            <a:extLst>
              <a:ext uri="{FF2B5EF4-FFF2-40B4-BE49-F238E27FC236}">
                <a16:creationId xmlns:a16="http://schemas.microsoft.com/office/drawing/2014/main" id="{ED49EE0D-7DAA-F391-B1D8-849E0D50F3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6679" y="3904469"/>
            <a:ext cx="2792550" cy="1582445"/>
          </a:xfrm>
          <a:prstGeom prst="rect">
            <a:avLst/>
          </a:prstGeom>
        </p:spPr>
      </p:pic>
      <p:pic>
        <p:nvPicPr>
          <p:cNvPr id="5" name="maged51">
            <a:hlinkClick r:id="" action="ppaction://media"/>
            <a:extLst>
              <a:ext uri="{FF2B5EF4-FFF2-40B4-BE49-F238E27FC236}">
                <a16:creationId xmlns:a16="http://schemas.microsoft.com/office/drawing/2014/main" id="{91CEACA8-5FE2-AF7D-CC11-26DB9F8CB55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437647" y="3904470"/>
            <a:ext cx="2792549" cy="15824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D503D8-24B9-2EE9-3083-9F7F19486673}"/>
              </a:ext>
            </a:extLst>
          </p:cNvPr>
          <p:cNvSpPr txBox="1"/>
          <p:nvPr/>
        </p:nvSpPr>
        <p:spPr>
          <a:xfrm>
            <a:off x="1862193" y="5486914"/>
            <a:ext cx="79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05C4E-E094-2CC5-236F-014151317597}"/>
              </a:ext>
            </a:extLst>
          </p:cNvPr>
          <p:cNvSpPr txBox="1"/>
          <p:nvPr/>
        </p:nvSpPr>
        <p:spPr>
          <a:xfrm>
            <a:off x="6435903" y="5486914"/>
            <a:ext cx="1072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output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859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E59F2-E53F-9CC8-3F17-8D81FDB9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9202AB2-1A3F-54EA-902C-C4A6F874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optimization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6797BA35-9F03-4D99-E5EF-B9B049630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7"/>
            <a:ext cx="9729578" cy="57356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해결 아이디어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1. </a:t>
            </a:r>
            <a:r>
              <a:rPr lang="ko-KR" altLang="en-US" sz="2000" dirty="0"/>
              <a:t>보조 </a:t>
            </a:r>
            <a:r>
              <a:rPr lang="en-US" altLang="ko-KR" sz="2000" dirty="0"/>
              <a:t>Loss </a:t>
            </a:r>
            <a:r>
              <a:rPr lang="ko-KR" altLang="en-US" sz="2000" dirty="0"/>
              <a:t>추가 </a:t>
            </a:r>
            <a:r>
              <a:rPr lang="en-US" altLang="ko-KR" sz="2000" b="0" dirty="0"/>
              <a:t>(static mode)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2. </a:t>
            </a:r>
            <a:r>
              <a:rPr lang="ko-KR" altLang="en-US" sz="2000" dirty="0"/>
              <a:t>반대방향으로 모션을 증폭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b="0" dirty="0"/>
              <a:t>Dynamic mode</a:t>
            </a:r>
            <a:r>
              <a:rPr lang="ko-KR" altLang="en-US" sz="2000" b="0" dirty="0"/>
              <a:t>에서는 첫 프레임에 가깝게 결과를 낸다고 하여도</a:t>
            </a:r>
            <a:r>
              <a:rPr lang="en-US" altLang="ko-KR" sz="2000" b="0" dirty="0"/>
              <a:t>, A</a:t>
            </a:r>
            <a:r>
              <a:rPr lang="ko-KR" altLang="en-US" sz="2000" b="0" dirty="0"/>
              <a:t>와 </a:t>
            </a:r>
            <a:r>
              <a:rPr lang="en-US" altLang="ko-KR" sz="2000" b="0" dirty="0"/>
              <a:t>B</a:t>
            </a:r>
            <a:r>
              <a:rPr lang="ko-KR" altLang="en-US" sz="2000" b="0" dirty="0"/>
              <a:t>사이에 </a:t>
            </a:r>
            <a:r>
              <a:rPr lang="en-US" altLang="ko-KR" sz="2000" b="0" dirty="0"/>
              <a:t>interpolation</a:t>
            </a:r>
            <a:r>
              <a:rPr lang="ko-KR" altLang="en-US" sz="2000" b="0" dirty="0"/>
              <a:t>이 될 뿐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전체적인 움직임이 감소되지 않는다</a:t>
            </a:r>
            <a:r>
              <a:rPr lang="en-US" altLang="ko-KR" sz="2000" b="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2000" b="0" dirty="0"/>
          </a:p>
          <a:p>
            <a:pPr>
              <a:lnSpc>
                <a:spcPct val="150000"/>
              </a:lnSpc>
            </a:pPr>
            <a:r>
              <a:rPr lang="ko-KR" altLang="en-US" sz="2000" b="0" dirty="0"/>
              <a:t>따라서 반대방향으로 모션을 증폭하여 해결한다</a:t>
            </a:r>
            <a:r>
              <a:rPr lang="en-US" altLang="ko-KR" sz="2000" b="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F98FE0-5FA5-1C7B-7FA2-A76C74635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14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BDD9DE-BB93-C88F-8AD3-061459F2BBA5}"/>
                  </a:ext>
                </a:extLst>
              </p:cNvPr>
              <p:cNvSpPr txBox="1"/>
              <p:nvPr/>
            </p:nvSpPr>
            <p:spPr>
              <a:xfrm>
                <a:off x="1049020" y="1859280"/>
                <a:ext cx="3461524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altLang="ko-KR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400" b="1" i="1" dirty="0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  <m: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altLang="ko-KR" sz="2400" b="1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sz="2400" b="1" i="1" dirty="0" smtClean="0">
                          <a:latin typeface="Cambria Math" panose="02040503050406030204" pitchFamily="18" charset="0"/>
                        </a:rPr>
                        <m:t>𝝀</m:t>
                      </m:r>
                      <m:sSub>
                        <m:sSubPr>
                          <m:ctrlP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4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altLang="ko-KR" sz="24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400" b="1" i="1" dirty="0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ko-KR" sz="24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BDD9DE-BB93-C88F-8AD3-061459F2B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20" y="1859280"/>
                <a:ext cx="3461524" cy="4168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6214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E0B0B-C6FA-978C-9973-48423B483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149FE49-DE9E-4415-5755-29B7AFF9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optimization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C020AC05-D4E6-7068-B4BD-2348FB79C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7"/>
            <a:ext cx="9729578" cy="57356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</a:t>
            </a:r>
            <a:r>
              <a:rPr lang="ko-KR" altLang="en-US" dirty="0"/>
              <a:t>보조 </a:t>
            </a:r>
            <a:r>
              <a:rPr lang="en-US" altLang="ko-KR" dirty="0"/>
              <a:t>Loss </a:t>
            </a:r>
            <a:r>
              <a:rPr lang="ko-KR" altLang="en-US" dirty="0"/>
              <a:t>추가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before</a:t>
            </a:r>
          </a:p>
          <a:p>
            <a:pPr>
              <a:lnSpc>
                <a:spcPct val="150000"/>
              </a:lnSpc>
            </a:pPr>
            <a:r>
              <a:rPr lang="en-US" altLang="ko-KR" dirty="0" err="1"/>
              <a:t>self.loss</a:t>
            </a:r>
            <a:r>
              <a:rPr lang="en-US" altLang="ko-KR" dirty="0"/>
              <a:t> = L1(output, </a:t>
            </a:r>
            <a:r>
              <a:rPr lang="en-US" altLang="ko-KR" dirty="0" err="1"/>
              <a:t>frameAmp</a:t>
            </a:r>
            <a:r>
              <a:rPr lang="en-US" altLang="ko-KR" dirty="0"/>
              <a:t>) + texture loss + shape loss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after</a:t>
            </a:r>
          </a:p>
          <a:p>
            <a:pPr>
              <a:lnSpc>
                <a:spcPct val="150000"/>
              </a:lnSpc>
            </a:pPr>
            <a:r>
              <a:rPr lang="en-US" altLang="ko-KR" dirty="0" err="1"/>
              <a:t>self.loss</a:t>
            </a:r>
            <a:r>
              <a:rPr lang="en-US" altLang="ko-KR" dirty="0"/>
              <a:t> = L1(output, </a:t>
            </a:r>
            <a:r>
              <a:rPr lang="en-US" altLang="ko-KR" dirty="0" err="1"/>
              <a:t>frameAmp</a:t>
            </a:r>
            <a:r>
              <a:rPr lang="en-US" altLang="ko-KR" dirty="0"/>
              <a:t>) + texture loss + shape loss</a:t>
            </a:r>
          </a:p>
          <a:p>
            <a:pPr>
              <a:lnSpc>
                <a:spcPct val="150000"/>
              </a:lnSpc>
            </a:pPr>
            <a:r>
              <a:rPr lang="en-US" altLang="ko-KR" dirty="0" err="1"/>
              <a:t>self.loss</a:t>
            </a:r>
            <a:r>
              <a:rPr lang="en-US" altLang="ko-KR" dirty="0"/>
              <a:t> += </a:t>
            </a:r>
            <a:r>
              <a:rPr lang="el-GR" altLang="ko-KR" dirty="0"/>
              <a:t>λ</a:t>
            </a:r>
            <a:r>
              <a:rPr lang="en-US" altLang="ko-KR" dirty="0"/>
              <a:t> * L1_loss(</a:t>
            </a:r>
            <a:r>
              <a:rPr lang="en-US" altLang="ko-KR" dirty="0" err="1"/>
              <a:t>self.output</a:t>
            </a:r>
            <a:r>
              <a:rPr lang="en-US" altLang="ko-KR" dirty="0"/>
              <a:t>, </a:t>
            </a:r>
            <a:r>
              <a:rPr lang="en-US" altLang="ko-KR" dirty="0" err="1"/>
              <a:t>frameA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2415DFD-68E3-2AB7-4C0D-75AFA33E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15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F9EB2C-FC69-4E41-4D55-CF7BD7AD5E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49"/>
          <a:stretch>
            <a:fillRect/>
          </a:stretch>
        </p:blipFill>
        <p:spPr>
          <a:xfrm>
            <a:off x="257783" y="2432712"/>
            <a:ext cx="7330133" cy="39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55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5BBF-5408-0F35-617C-B7166A3B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5EC64A-0FB6-8E0F-1692-D0E6B947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71CE551A-5E9D-57A4-4512-0A128EC48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9488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3. Training</a:t>
            </a:r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C95A522-810D-EFEB-AF26-885EA0B2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16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1DF95B-F266-8A47-B6C2-105CD6C11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32777"/>
              </p:ext>
            </p:extLst>
          </p:nvPr>
        </p:nvGraphicFramePr>
        <p:xfrm>
          <a:off x="852679" y="1295121"/>
          <a:ext cx="8043333" cy="49078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5121">
                  <a:extLst>
                    <a:ext uri="{9D8B030D-6E8A-4147-A177-3AD203B41FA5}">
                      <a16:colId xmlns:a16="http://schemas.microsoft.com/office/drawing/2014/main" val="170318556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4040557870"/>
                    </a:ext>
                  </a:extLst>
                </a:gridCol>
                <a:gridCol w="3358812">
                  <a:extLst>
                    <a:ext uri="{9D8B030D-6E8A-4147-A177-3AD203B41FA5}">
                      <a16:colId xmlns:a16="http://schemas.microsoft.com/office/drawing/2014/main" val="4000653405"/>
                    </a:ext>
                  </a:extLst>
                </a:gridCol>
              </a:tblGrid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Dataset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MS COCO 200,000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PASCAL VOC 7,000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배경 위에 </a:t>
                      </a:r>
                      <a:r>
                        <a:rPr lang="en-US" altLang="ko-KR" sz="1200" dirty="0"/>
                        <a:t>7~15</a:t>
                      </a:r>
                      <a:r>
                        <a:rPr lang="ko-KR" altLang="en-US" sz="1200" dirty="0"/>
                        <a:t>개 객체 합성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872388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Image_size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384x384px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학습에 사용될 입력 이미지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176537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Batch_size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한 번의 학습 스텝에서 처리할 샘플 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3040380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Learning rate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학습률</a:t>
                      </a:r>
                      <a:r>
                        <a:rPr lang="en-US" altLang="ko-KR" sz="1200" dirty="0"/>
                        <a:t>, weight</a:t>
                      </a:r>
                      <a:r>
                        <a:rPr lang="ko-KR" altLang="en-US" sz="1200" dirty="0"/>
                        <a:t>를 얼마나 빠르게 업데이트할 지 결정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619690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Poisson_noise_n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데이터 증강을 위한 포아송 노이즈의 세기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980560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Save_freq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1000step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몇 포인트마다 체크포인트를 저장할지 결정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209341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Step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204,470(12H 30M)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한개의 </a:t>
                      </a:r>
                      <a:r>
                        <a:rPr lang="en-US" altLang="ko-KR" sz="1200" dirty="0"/>
                        <a:t>batch</a:t>
                      </a:r>
                      <a:r>
                        <a:rPr lang="ko-KR" altLang="en-US" sz="1200" dirty="0"/>
                        <a:t>를 처리하고 파리미터를 업데이트한 횟수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275584"/>
                  </a:ext>
                </a:extLst>
              </a:tr>
              <a:tr h="61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epoch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204,470x4/200,000 = 4.08 epoch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전체 학습 데이터를 반복 학습한 횟수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074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096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0F31-F1A0-3BAE-E2F0-7AAB79509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8347FA8-377E-CFCF-FA44-5E2B602B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 and Analysis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0E5F7EC5-931C-B254-E8EF-2D08F1332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84835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Result – static</a:t>
            </a:r>
            <a:r>
              <a:rPr lang="ko-KR" altLang="en-US" dirty="0"/>
              <a:t> </a:t>
            </a:r>
            <a:r>
              <a:rPr lang="en-US" altLang="ko-KR" dirty="0"/>
              <a:t>mode</a:t>
            </a:r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D3DE02A-27FE-FAAA-23B3-B0AD6595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17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DB1758-5F01-D185-022F-6280A12D06BA}"/>
              </a:ext>
            </a:extLst>
          </p:cNvPr>
          <p:cNvSpPr txBox="1"/>
          <p:nvPr/>
        </p:nvSpPr>
        <p:spPr>
          <a:xfrm>
            <a:off x="4322827" y="4647108"/>
            <a:ext cx="257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Output </a:t>
            </a:r>
            <a:r>
              <a:rPr lang="el-GR" altLang="ko-KR" dirty="0"/>
              <a:t>λ</a:t>
            </a:r>
            <a:r>
              <a:rPr lang="en-US" altLang="ko-KR" dirty="0"/>
              <a:t>=0.5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D2EF7-0B2C-AB4D-1156-9A29FB99D761}"/>
              </a:ext>
            </a:extLst>
          </p:cNvPr>
          <p:cNvSpPr txBox="1"/>
          <p:nvPr/>
        </p:nvSpPr>
        <p:spPr>
          <a:xfrm>
            <a:off x="1105238" y="4653464"/>
            <a:ext cx="79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pic>
        <p:nvPicPr>
          <p:cNvPr id="6" name="원본">
            <a:hlinkClick r:id="" action="ppaction://media"/>
            <a:extLst>
              <a:ext uri="{FF2B5EF4-FFF2-40B4-BE49-F238E27FC236}">
                <a16:creationId xmlns:a16="http://schemas.microsoft.com/office/drawing/2014/main" id="{4D131B83-2459-60D8-0533-9DC8B2F3782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59459" y="2948255"/>
            <a:ext cx="2997976" cy="1698853"/>
          </a:xfrm>
          <a:prstGeom prst="rect">
            <a:avLst/>
          </a:prstGeom>
        </p:spPr>
      </p:pic>
      <p:pic>
        <p:nvPicPr>
          <p:cNvPr id="8" name="output_0.1">
            <a:hlinkClick r:id="" action="ppaction://media"/>
            <a:extLst>
              <a:ext uri="{FF2B5EF4-FFF2-40B4-BE49-F238E27FC236}">
                <a16:creationId xmlns:a16="http://schemas.microsoft.com/office/drawing/2014/main" id="{0520BD6C-3FCE-C0F7-2FC8-1F882F0D5CC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454012" y="2948255"/>
            <a:ext cx="2997976" cy="1698853"/>
          </a:xfrm>
          <a:prstGeom prst="rect">
            <a:avLst/>
          </a:prstGeom>
        </p:spPr>
      </p:pic>
      <p:pic>
        <p:nvPicPr>
          <p:cNvPr id="4" name="maged_baby_0.5">
            <a:hlinkClick r:id="" action="ppaction://media"/>
            <a:extLst>
              <a:ext uri="{FF2B5EF4-FFF2-40B4-BE49-F238E27FC236}">
                <a16:creationId xmlns:a16="http://schemas.microsoft.com/office/drawing/2014/main" id="{499BDF9E-9F6F-E36F-6E88-A4410D1506B5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748565" y="2948255"/>
            <a:ext cx="2997976" cy="16988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F3B91D-A08F-01A5-568A-32A2DD4455F8}"/>
                  </a:ext>
                </a:extLst>
              </p:cNvPr>
              <p:cNvSpPr txBox="1"/>
              <p:nvPr/>
            </p:nvSpPr>
            <p:spPr>
              <a:xfrm>
                <a:off x="7320803" y="4647108"/>
                <a:ext cx="25797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Output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=1,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F3B91D-A08F-01A5-568A-32A2DD445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803" y="4647108"/>
                <a:ext cx="2579755" cy="369332"/>
              </a:xfrm>
              <a:prstGeom prst="rect">
                <a:avLst/>
              </a:prstGeom>
              <a:blipFill>
                <a:blip r:embed="rId12"/>
                <a:stretch>
                  <a:fillRect l="-2128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38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3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FC590-AE99-1C5C-A826-276838A3E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FB2E6D4-8349-4F5F-A490-C98AE5D0F5DD}"/>
              </a:ext>
            </a:extLst>
          </p:cNvPr>
          <p:cNvCxnSpPr>
            <a:cxnSpLocks/>
            <a:stCxn id="92" idx="6"/>
            <a:endCxn id="114" idx="2"/>
          </p:cNvCxnSpPr>
          <p:nvPr/>
        </p:nvCxnSpPr>
        <p:spPr>
          <a:xfrm>
            <a:off x="6939652" y="2474973"/>
            <a:ext cx="564334" cy="11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제목 2">
            <a:extLst>
              <a:ext uri="{FF2B5EF4-FFF2-40B4-BE49-F238E27FC236}">
                <a16:creationId xmlns:a16="http://schemas.microsoft.com/office/drawing/2014/main" id="{DF744982-4915-1F8D-61DB-AC610DC6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optimization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70BD243E-1D34-AC7F-1BAA-E75670906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7"/>
            <a:ext cx="9729578" cy="84506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2. </a:t>
            </a:r>
            <a:r>
              <a:rPr lang="ko-KR" altLang="en-US" sz="2400" dirty="0"/>
              <a:t>반대방향으로 모션을 증폭</a:t>
            </a:r>
            <a:r>
              <a:rPr lang="en-US" altLang="ko-KR" sz="2400" dirty="0"/>
              <a:t>(dynamic mode)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13A945-0ABE-E75D-B3ED-066B21264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18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EA664C-C9A9-8123-BF9C-457E067A9DD4}"/>
                  </a:ext>
                </a:extLst>
              </p:cNvPr>
              <p:cNvSpPr txBox="1"/>
              <p:nvPr/>
            </p:nvSpPr>
            <p:spPr>
              <a:xfrm>
                <a:off x="899934" y="4438144"/>
                <a:ext cx="3212657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수정 전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𝒅𝒊𝒇𝒇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𝒆𝒏𝒄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𝒆𝒏𝒄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</m:oMath>
                  </m:oMathPara>
                </a14:m>
                <a:endParaRPr lang="en-US" altLang="ko-KR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𝒅𝒊𝒇𝒇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1" i="1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𝒅𝒊𝒇𝒇</m:t>
                      </m:r>
                    </m:oMath>
                  </m:oMathPara>
                </a14:m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𝒓𝒆𝒕𝒖𝒓𝒏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𝒆𝒏𝒄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𝒅𝒊𝒇𝒇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b="1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EA664C-C9A9-8123-BF9C-457E067A9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934" y="4438144"/>
                <a:ext cx="3212657" cy="2031325"/>
              </a:xfrm>
              <a:prstGeom prst="rect">
                <a:avLst/>
              </a:prstGeom>
              <a:blipFill>
                <a:blip r:embed="rId3"/>
                <a:stretch>
                  <a:fillRect l="-17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D1FF6C-7709-00D5-39C6-7122B1EFFD5B}"/>
                  </a:ext>
                </a:extLst>
              </p:cNvPr>
              <p:cNvSpPr txBox="1"/>
              <p:nvPr/>
            </p:nvSpPr>
            <p:spPr>
              <a:xfrm>
                <a:off x="5557077" y="4438143"/>
                <a:ext cx="325120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수정 후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𝒅𝒊𝒇𝒇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𝒆𝒏𝒄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𝒆𝒏𝒄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</m:oMath>
                  </m:oMathPara>
                </a14:m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𝒅𝒊𝒇𝒇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𝒅𝒊𝒇𝒇</m:t>
                      </m:r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𝒓𝒆𝒕𝒖𝒓𝒏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𝒆𝒏𝒄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𝒅𝒊𝒇𝒇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D1FF6C-7709-00D5-39C6-7122B1EFF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077" y="4438143"/>
                <a:ext cx="3251201" cy="2031325"/>
              </a:xfrm>
              <a:prstGeom prst="rect">
                <a:avLst/>
              </a:prstGeom>
              <a:blipFill>
                <a:blip r:embed="rId4"/>
                <a:stretch>
                  <a:fillRect l="-16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4E98C5-ECA5-B5A7-9F7D-3FA5FD37618C}"/>
              </a:ext>
            </a:extLst>
          </p:cNvPr>
          <p:cNvCxnSpPr>
            <a:stCxn id="20" idx="0"/>
            <a:endCxn id="11" idx="4"/>
          </p:cNvCxnSpPr>
          <p:nvPr/>
        </p:nvCxnSpPr>
        <p:spPr>
          <a:xfrm flipV="1">
            <a:off x="3198337" y="2495867"/>
            <a:ext cx="0" cy="6239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B3527A7-7CA7-75FB-E6FC-0DCA961C2869}"/>
              </a:ext>
            </a:extLst>
          </p:cNvPr>
          <p:cNvSpPr/>
          <p:nvPr/>
        </p:nvSpPr>
        <p:spPr>
          <a:xfrm>
            <a:off x="1715605" y="1827938"/>
            <a:ext cx="1808848" cy="1978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370990-5770-0900-E167-7075A5119108}"/>
              </a:ext>
            </a:extLst>
          </p:cNvPr>
          <p:cNvSpPr txBox="1"/>
          <p:nvPr/>
        </p:nvSpPr>
        <p:spPr>
          <a:xfrm>
            <a:off x="1620267" y="1479828"/>
            <a:ext cx="146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Manipulator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72550-945A-B3D9-F004-B501B803A72D}"/>
                  </a:ext>
                </a:extLst>
              </p:cNvPr>
              <p:cNvSpPr txBox="1"/>
              <p:nvPr/>
            </p:nvSpPr>
            <p:spPr>
              <a:xfrm>
                <a:off x="946335" y="2068330"/>
                <a:ext cx="6384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72550-945A-B3D9-F004-B501B803A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335" y="2068330"/>
                <a:ext cx="63847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4A964B-6E5C-7FA9-3309-33636EEF494B}"/>
                  </a:ext>
                </a:extLst>
              </p:cNvPr>
              <p:cNvSpPr txBox="1"/>
              <p:nvPr/>
            </p:nvSpPr>
            <p:spPr>
              <a:xfrm>
                <a:off x="1054016" y="3806664"/>
                <a:ext cx="3295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4A964B-6E5C-7FA9-3309-33636EEF4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16" y="3806664"/>
                <a:ext cx="329563" cy="307777"/>
              </a:xfrm>
              <a:prstGeom prst="rect">
                <a:avLst/>
              </a:prstGeom>
              <a:blipFill>
                <a:blip r:embed="rId6"/>
                <a:stretch>
                  <a:fillRect r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A697FA58-872D-7441-3E39-6E3F2DE0F5D6}"/>
              </a:ext>
            </a:extLst>
          </p:cNvPr>
          <p:cNvSpPr/>
          <p:nvPr/>
        </p:nvSpPr>
        <p:spPr>
          <a:xfrm>
            <a:off x="3035278" y="2177814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A1921B-8E7A-573F-E33E-798E0B5A73D2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115848" y="2336841"/>
            <a:ext cx="1919430" cy="66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Plus Sign 12">
            <a:extLst>
              <a:ext uri="{FF2B5EF4-FFF2-40B4-BE49-F238E27FC236}">
                <a16:creationId xmlns:a16="http://schemas.microsoft.com/office/drawing/2014/main" id="{EFA87D0A-CC32-453F-B8CF-55DF23C6C008}"/>
              </a:ext>
            </a:extLst>
          </p:cNvPr>
          <p:cNvSpPr/>
          <p:nvPr/>
        </p:nvSpPr>
        <p:spPr>
          <a:xfrm>
            <a:off x="3072488" y="2197409"/>
            <a:ext cx="251696" cy="273892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EE9A2F7-A848-970E-5AE7-341095F78947}"/>
              </a:ext>
            </a:extLst>
          </p:cNvPr>
          <p:cNvSpPr/>
          <p:nvPr/>
        </p:nvSpPr>
        <p:spPr>
          <a:xfrm>
            <a:off x="2061687" y="3113003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Minus Sign 14">
            <a:extLst>
              <a:ext uri="{FF2B5EF4-FFF2-40B4-BE49-F238E27FC236}">
                <a16:creationId xmlns:a16="http://schemas.microsoft.com/office/drawing/2014/main" id="{7A7A64E6-984D-4035-D3BB-343F2C8E4C84}"/>
              </a:ext>
            </a:extLst>
          </p:cNvPr>
          <p:cNvSpPr/>
          <p:nvPr/>
        </p:nvSpPr>
        <p:spPr>
          <a:xfrm>
            <a:off x="2061686" y="3168570"/>
            <a:ext cx="326117" cy="219410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200395-33C3-F577-7645-53FE1598B836}"/>
              </a:ext>
            </a:extLst>
          </p:cNvPr>
          <p:cNvGrpSpPr/>
          <p:nvPr/>
        </p:nvGrpSpPr>
        <p:grpSpPr>
          <a:xfrm>
            <a:off x="2496873" y="2890752"/>
            <a:ext cx="366972" cy="766212"/>
            <a:chOff x="1557558" y="1925983"/>
            <a:chExt cx="353184" cy="158584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AB3893E-C609-EB04-18E3-F5AA7462C456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649691-7F27-842A-1A9F-4965FF70FDFD}"/>
                </a:ext>
              </a:extLst>
            </p:cNvPr>
            <p:cNvSpPr txBox="1"/>
            <p:nvPr/>
          </p:nvSpPr>
          <p:spPr>
            <a:xfrm>
              <a:off x="1581295" y="1981507"/>
              <a:ext cx="329447" cy="149307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800" dirty="0"/>
                <a:t>Relu</a:t>
              </a:r>
            </a:p>
            <a:p>
              <a:pPr algn="ctr"/>
              <a:r>
                <a:rPr lang="en-US" altLang="ko-KR" sz="800" dirty="0"/>
                <a:t>Conv32_k3s1</a:t>
              </a:r>
              <a:endParaRPr lang="ko-KR" altLang="en-US" sz="8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CA9000-4945-2DC3-52C3-6AACB35F190F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3361395" y="2336841"/>
            <a:ext cx="3333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9FAA8A0E-2E0B-2AD8-8ED2-2B9931222084}"/>
              </a:ext>
            </a:extLst>
          </p:cNvPr>
          <p:cNvSpPr/>
          <p:nvPr/>
        </p:nvSpPr>
        <p:spPr>
          <a:xfrm>
            <a:off x="3035278" y="3119806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D2310324-6A3B-7E85-9D14-FC6276EBA9E9}"/>
              </a:ext>
            </a:extLst>
          </p:cNvPr>
          <p:cNvSpPr/>
          <p:nvPr/>
        </p:nvSpPr>
        <p:spPr>
          <a:xfrm>
            <a:off x="3065420" y="3124686"/>
            <a:ext cx="269074" cy="311009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EAA207-4096-7BB9-A950-DF822AEB20BA}"/>
              </a:ext>
            </a:extLst>
          </p:cNvPr>
          <p:cNvCxnSpPr>
            <a:cxnSpLocks/>
            <a:stCxn id="23" idx="0"/>
            <a:endCxn id="20" idx="4"/>
          </p:cNvCxnSpPr>
          <p:nvPr/>
        </p:nvCxnSpPr>
        <p:spPr>
          <a:xfrm flipV="1">
            <a:off x="3198337" y="3437859"/>
            <a:ext cx="0" cy="4325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DBA76FE-E845-36C2-809C-DF8AEF7337DA}"/>
                  </a:ext>
                </a:extLst>
              </p:cNvPr>
              <p:cNvSpPr txBox="1"/>
              <p:nvPr/>
            </p:nvSpPr>
            <p:spPr>
              <a:xfrm>
                <a:off x="2819859" y="3870390"/>
                <a:ext cx="756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DBA76FE-E845-36C2-809C-DF8AEF73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859" y="3870390"/>
                <a:ext cx="756955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D92B4D-68E2-77EE-AF52-9469D89175B2}"/>
              </a:ext>
            </a:extLst>
          </p:cNvPr>
          <p:cNvCxnSpPr>
            <a:cxnSpLocks/>
          </p:cNvCxnSpPr>
          <p:nvPr/>
        </p:nvCxnSpPr>
        <p:spPr>
          <a:xfrm>
            <a:off x="1849652" y="2343524"/>
            <a:ext cx="0" cy="9269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F5C2B01-B3FF-CB0C-26FA-576901F5CC7D}"/>
              </a:ext>
            </a:extLst>
          </p:cNvPr>
          <p:cNvCxnSpPr/>
          <p:nvPr/>
        </p:nvCxnSpPr>
        <p:spPr>
          <a:xfrm>
            <a:off x="1849652" y="3270460"/>
            <a:ext cx="21203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7C60E95B-4B67-8065-FE64-3C4E76562518}"/>
              </a:ext>
            </a:extLst>
          </p:cNvPr>
          <p:cNvCxnSpPr>
            <a:cxnSpLocks/>
            <a:stCxn id="10" idx="3"/>
            <a:endCxn id="14" idx="4"/>
          </p:cNvCxnSpPr>
          <p:nvPr/>
        </p:nvCxnSpPr>
        <p:spPr>
          <a:xfrm flipV="1">
            <a:off x="1383579" y="3431056"/>
            <a:ext cx="841167" cy="529497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361F13C-1E80-D5A5-1C15-132D902E86D9}"/>
              </a:ext>
            </a:extLst>
          </p:cNvPr>
          <p:cNvCxnSpPr>
            <a:cxnSpLocks/>
            <a:stCxn id="14" idx="6"/>
            <a:endCxn id="17" idx="1"/>
          </p:cNvCxnSpPr>
          <p:nvPr/>
        </p:nvCxnSpPr>
        <p:spPr>
          <a:xfrm>
            <a:off x="2387804" y="3272030"/>
            <a:ext cx="109068" cy="182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656CA17-22C3-D049-39B6-4785656D1131}"/>
              </a:ext>
            </a:extLst>
          </p:cNvPr>
          <p:cNvCxnSpPr>
            <a:cxnSpLocks/>
            <a:stCxn id="20" idx="2"/>
            <a:endCxn id="17" idx="3"/>
          </p:cNvCxnSpPr>
          <p:nvPr/>
        </p:nvCxnSpPr>
        <p:spPr>
          <a:xfrm flipH="1" flipV="1">
            <a:off x="2775817" y="3273858"/>
            <a:ext cx="259461" cy="49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9823490-7C74-27BE-C9F9-070841439319}"/>
              </a:ext>
            </a:extLst>
          </p:cNvPr>
          <p:cNvGrpSpPr/>
          <p:nvPr/>
        </p:nvGrpSpPr>
        <p:grpSpPr>
          <a:xfrm>
            <a:off x="2819857" y="2858954"/>
            <a:ext cx="735374" cy="205498"/>
            <a:chOff x="5992779" y="2708762"/>
            <a:chExt cx="735374" cy="205498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3C4E868-100E-F6C4-BD64-321F998C16CB}"/>
                </a:ext>
              </a:extLst>
            </p:cNvPr>
            <p:cNvSpPr/>
            <p:nvPr/>
          </p:nvSpPr>
          <p:spPr>
            <a:xfrm>
              <a:off x="6078469" y="2708804"/>
              <a:ext cx="568548" cy="205456"/>
            </a:xfrm>
            <a:prstGeom prst="roundRect">
              <a:avLst/>
            </a:prstGeom>
            <a:solidFill>
              <a:srgbClr val="B8C2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F3EA8C1-759B-F2B2-57A7-56C0D5578958}"/>
                </a:ext>
              </a:extLst>
            </p:cNvPr>
            <p:cNvSpPr txBox="1"/>
            <p:nvPr/>
          </p:nvSpPr>
          <p:spPr>
            <a:xfrm>
              <a:off x="5992779" y="2708762"/>
              <a:ext cx="7353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Conv32_k3s1</a:t>
              </a:r>
              <a:endParaRPr lang="ko-KR" altLang="en-US" sz="700" dirty="0"/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467DF75-AB11-EF0D-97F4-65C7FD1ED3BF}"/>
              </a:ext>
            </a:extLst>
          </p:cNvPr>
          <p:cNvSpPr/>
          <p:nvPr/>
        </p:nvSpPr>
        <p:spPr>
          <a:xfrm>
            <a:off x="2974022" y="2593805"/>
            <a:ext cx="455844" cy="205456"/>
          </a:xfrm>
          <a:prstGeom prst="roundRect">
            <a:avLst/>
          </a:prstGeom>
          <a:solidFill>
            <a:srgbClr val="BEE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F90E14-2B08-4331-1671-FBE42474E68B}"/>
              </a:ext>
            </a:extLst>
          </p:cNvPr>
          <p:cNvSpPr txBox="1"/>
          <p:nvPr/>
        </p:nvSpPr>
        <p:spPr>
          <a:xfrm>
            <a:off x="2931175" y="2589592"/>
            <a:ext cx="5415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Res. Blk</a:t>
            </a:r>
            <a:endParaRPr lang="ko-KR" altLang="en-US" sz="700" dirty="0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68F3A9D8-C1AE-2877-1F98-62EC8930BDBF}"/>
              </a:ext>
            </a:extLst>
          </p:cNvPr>
          <p:cNvSpPr/>
          <p:nvPr/>
        </p:nvSpPr>
        <p:spPr>
          <a:xfrm rot="16200000">
            <a:off x="2520758" y="3587279"/>
            <a:ext cx="207697" cy="34230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BCF47B-75CC-B04C-FF6D-585DD596A392}"/>
              </a:ext>
            </a:extLst>
          </p:cNvPr>
          <p:cNvSpPr txBox="1"/>
          <p:nvPr/>
        </p:nvSpPr>
        <p:spPr>
          <a:xfrm>
            <a:off x="2344209" y="3805165"/>
            <a:ext cx="610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Consolas" panose="020B0609020204030204" pitchFamily="49" charset="0"/>
              </a:rPr>
              <a:t>g(·)</a:t>
            </a: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15EEDDEA-5915-3608-156D-2B3DC874E831}"/>
              </a:ext>
            </a:extLst>
          </p:cNvPr>
          <p:cNvSpPr/>
          <p:nvPr/>
        </p:nvSpPr>
        <p:spPr>
          <a:xfrm rot="10800000">
            <a:off x="3401533" y="2552343"/>
            <a:ext cx="207697" cy="27455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9A1789-9E90-0602-AC00-CCA707F5D60D}"/>
              </a:ext>
            </a:extLst>
          </p:cNvPr>
          <p:cNvSpPr txBox="1"/>
          <p:nvPr/>
        </p:nvSpPr>
        <p:spPr>
          <a:xfrm>
            <a:off x="3501818" y="2546388"/>
            <a:ext cx="610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Consolas" panose="020B0609020204030204" pitchFamily="49" charset="0"/>
              </a:rPr>
              <a:t>h(·)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D2243D8-EDC2-7F07-54C0-646D515D2839}"/>
              </a:ext>
            </a:extLst>
          </p:cNvPr>
          <p:cNvSpPr/>
          <p:nvPr/>
        </p:nvSpPr>
        <p:spPr>
          <a:xfrm>
            <a:off x="6239336" y="1827938"/>
            <a:ext cx="1808848" cy="1978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B411C0-61C9-1839-A40D-6F70716137C4}"/>
              </a:ext>
            </a:extLst>
          </p:cNvPr>
          <p:cNvSpPr txBox="1"/>
          <p:nvPr/>
        </p:nvSpPr>
        <p:spPr>
          <a:xfrm>
            <a:off x="6143998" y="1479828"/>
            <a:ext cx="146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Manipulator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1D4DA3B-068D-EA22-5F00-6951F90FF41D}"/>
                  </a:ext>
                </a:extLst>
              </p:cNvPr>
              <p:cNvSpPr txBox="1"/>
              <p:nvPr/>
            </p:nvSpPr>
            <p:spPr>
              <a:xfrm>
                <a:off x="5600861" y="1923149"/>
                <a:ext cx="6384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1D4DA3B-068D-EA22-5F00-6951F90FF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861" y="1923149"/>
                <a:ext cx="63847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5BC2740-F4FA-6364-B137-C5B3410C3F57}"/>
                  </a:ext>
                </a:extLst>
              </p:cNvPr>
              <p:cNvSpPr txBox="1"/>
              <p:nvPr/>
            </p:nvSpPr>
            <p:spPr>
              <a:xfrm>
                <a:off x="5577747" y="3806664"/>
                <a:ext cx="3295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5BC2740-F4FA-6364-B137-C5B3410C3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747" y="3806664"/>
                <a:ext cx="329563" cy="307777"/>
              </a:xfrm>
              <a:prstGeom prst="rect">
                <a:avLst/>
              </a:prstGeom>
              <a:blipFill>
                <a:blip r:embed="rId6"/>
                <a:stretch>
                  <a:fillRect r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06B8F25D-9976-7EEB-3495-E93B43EFFCBC}"/>
              </a:ext>
            </a:extLst>
          </p:cNvPr>
          <p:cNvCxnSpPr>
            <a:cxnSpLocks/>
          </p:cNvCxnSpPr>
          <p:nvPr/>
        </p:nvCxnSpPr>
        <p:spPr>
          <a:xfrm flipV="1">
            <a:off x="5747026" y="3216750"/>
            <a:ext cx="1761377" cy="588415"/>
          </a:xfrm>
          <a:prstGeom prst="bentConnector3">
            <a:avLst>
              <a:gd name="adj1" fmla="val 92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F4EC8820-1023-7199-3C5E-DC798295CE88}"/>
              </a:ext>
            </a:extLst>
          </p:cNvPr>
          <p:cNvSpPr/>
          <p:nvPr/>
        </p:nvSpPr>
        <p:spPr>
          <a:xfrm>
            <a:off x="7508403" y="3069927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Plus Sign 80">
            <a:extLst>
              <a:ext uri="{FF2B5EF4-FFF2-40B4-BE49-F238E27FC236}">
                <a16:creationId xmlns:a16="http://schemas.microsoft.com/office/drawing/2014/main" id="{35370EAD-1EDF-B7F8-1BE8-9F86D1642216}"/>
              </a:ext>
            </a:extLst>
          </p:cNvPr>
          <p:cNvSpPr/>
          <p:nvPr/>
        </p:nvSpPr>
        <p:spPr>
          <a:xfrm>
            <a:off x="7545613" y="3089522"/>
            <a:ext cx="251696" cy="273892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4CBFC58-2467-7C9A-A8A3-1BFEF142F9E6}"/>
              </a:ext>
            </a:extLst>
          </p:cNvPr>
          <p:cNvCxnSpPr>
            <a:cxnSpLocks/>
            <a:stCxn id="80" idx="6"/>
          </p:cNvCxnSpPr>
          <p:nvPr/>
        </p:nvCxnSpPr>
        <p:spPr>
          <a:xfrm>
            <a:off x="7834520" y="3228954"/>
            <a:ext cx="48784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8A73FAB-6884-AB69-972D-EA7F0DD98D2E}"/>
              </a:ext>
            </a:extLst>
          </p:cNvPr>
          <p:cNvCxnSpPr/>
          <p:nvPr/>
        </p:nvCxnSpPr>
        <p:spPr>
          <a:xfrm flipV="1">
            <a:off x="6409635" y="2471301"/>
            <a:ext cx="0" cy="7454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E964BDD-7F4B-B3F1-53B8-B4FDE19A2A22}"/>
              </a:ext>
            </a:extLst>
          </p:cNvPr>
          <p:cNvCxnSpPr/>
          <p:nvPr/>
        </p:nvCxnSpPr>
        <p:spPr>
          <a:xfrm>
            <a:off x="6414054" y="2471301"/>
            <a:ext cx="19436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DD1E8451-0ABF-AF79-B093-41B9B79C100D}"/>
              </a:ext>
            </a:extLst>
          </p:cNvPr>
          <p:cNvSpPr/>
          <p:nvPr/>
        </p:nvSpPr>
        <p:spPr>
          <a:xfrm>
            <a:off x="6613535" y="2315946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Minus Sign 92">
            <a:extLst>
              <a:ext uri="{FF2B5EF4-FFF2-40B4-BE49-F238E27FC236}">
                <a16:creationId xmlns:a16="http://schemas.microsoft.com/office/drawing/2014/main" id="{75699E5F-BC85-7CB0-372D-3202614CA9A2}"/>
              </a:ext>
            </a:extLst>
          </p:cNvPr>
          <p:cNvSpPr/>
          <p:nvPr/>
        </p:nvSpPr>
        <p:spPr>
          <a:xfrm>
            <a:off x="6613534" y="2371513"/>
            <a:ext cx="326117" cy="219410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A71F295-C34A-0449-A91C-E777BABB6D65}"/>
              </a:ext>
            </a:extLst>
          </p:cNvPr>
          <p:cNvCxnSpPr>
            <a:cxnSpLocks/>
          </p:cNvCxnSpPr>
          <p:nvPr/>
        </p:nvCxnSpPr>
        <p:spPr>
          <a:xfrm>
            <a:off x="6095604" y="2100914"/>
            <a:ext cx="67657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027BE9F-432C-505B-7243-0CCCF66A09A9}"/>
              </a:ext>
            </a:extLst>
          </p:cNvPr>
          <p:cNvCxnSpPr>
            <a:cxnSpLocks/>
          </p:cNvCxnSpPr>
          <p:nvPr/>
        </p:nvCxnSpPr>
        <p:spPr>
          <a:xfrm>
            <a:off x="6772177" y="2100914"/>
            <a:ext cx="0" cy="21503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86A5260-D024-88E3-A4DB-805746DBCE5E}"/>
              </a:ext>
            </a:extLst>
          </p:cNvPr>
          <p:cNvGrpSpPr/>
          <p:nvPr/>
        </p:nvGrpSpPr>
        <p:grpSpPr>
          <a:xfrm>
            <a:off x="6982618" y="2112761"/>
            <a:ext cx="366972" cy="766212"/>
            <a:chOff x="1557558" y="1925983"/>
            <a:chExt cx="353184" cy="1585843"/>
          </a:xfrm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F5E3FECB-E8C3-D611-B3B4-C9C9177C1048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704573D-C94B-A016-7D17-A834C5728859}"/>
                </a:ext>
              </a:extLst>
            </p:cNvPr>
            <p:cNvSpPr txBox="1"/>
            <p:nvPr/>
          </p:nvSpPr>
          <p:spPr>
            <a:xfrm>
              <a:off x="1581295" y="1981507"/>
              <a:ext cx="329447" cy="149307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800" dirty="0"/>
                <a:t>Relu</a:t>
              </a:r>
            </a:p>
            <a:p>
              <a:pPr algn="ctr"/>
              <a:r>
                <a:rPr lang="en-US" altLang="ko-KR" sz="800" dirty="0"/>
                <a:t>Conv32_k3s1</a:t>
              </a:r>
              <a:endParaRPr lang="ko-KR" altLang="en-US" sz="800" dirty="0"/>
            </a:p>
          </p:txBody>
        </p:sp>
      </p:grpSp>
      <p:sp>
        <p:nvSpPr>
          <p:cNvPr id="114" name="Oval 113">
            <a:extLst>
              <a:ext uri="{FF2B5EF4-FFF2-40B4-BE49-F238E27FC236}">
                <a16:creationId xmlns:a16="http://schemas.microsoft.com/office/drawing/2014/main" id="{8AE30159-A9AE-9CBC-15DA-B933ECF3013A}"/>
              </a:ext>
            </a:extLst>
          </p:cNvPr>
          <p:cNvSpPr/>
          <p:nvPr/>
        </p:nvSpPr>
        <p:spPr>
          <a:xfrm>
            <a:off x="7503986" y="2316062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Multiplication Sign 114">
            <a:extLst>
              <a:ext uri="{FF2B5EF4-FFF2-40B4-BE49-F238E27FC236}">
                <a16:creationId xmlns:a16="http://schemas.microsoft.com/office/drawing/2014/main" id="{6F8E0346-E9C2-8DA3-2771-C84A7F2B7E1E}"/>
              </a:ext>
            </a:extLst>
          </p:cNvPr>
          <p:cNvSpPr/>
          <p:nvPr/>
        </p:nvSpPr>
        <p:spPr>
          <a:xfrm>
            <a:off x="7534128" y="2320942"/>
            <a:ext cx="269074" cy="311009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42E411B7-7194-BB8E-8137-44E5B19B4A06}"/>
              </a:ext>
            </a:extLst>
          </p:cNvPr>
          <p:cNvCxnSpPr>
            <a:cxnSpLocks/>
            <a:endCxn id="114" idx="6"/>
          </p:cNvCxnSpPr>
          <p:nvPr/>
        </p:nvCxnSpPr>
        <p:spPr>
          <a:xfrm flipH="1" flipV="1">
            <a:off x="7830103" y="2475089"/>
            <a:ext cx="492262" cy="62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E0608DB3-02C2-9400-8D01-7D03767F0639}"/>
                  </a:ext>
                </a:extLst>
              </p:cNvPr>
              <p:cNvSpPr txBox="1"/>
              <p:nvPr/>
            </p:nvSpPr>
            <p:spPr>
              <a:xfrm>
                <a:off x="8218483" y="2283580"/>
                <a:ext cx="756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E0608DB3-02C2-9400-8D01-7D03767F0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483" y="2283580"/>
                <a:ext cx="756955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BDD24DFF-7E51-916C-2B34-2798BBCC71F2}"/>
              </a:ext>
            </a:extLst>
          </p:cNvPr>
          <p:cNvCxnSpPr>
            <a:stCxn id="114" idx="4"/>
            <a:endCxn id="81" idx="3"/>
          </p:cNvCxnSpPr>
          <p:nvPr/>
        </p:nvCxnSpPr>
        <p:spPr>
          <a:xfrm>
            <a:off x="7667045" y="2634115"/>
            <a:ext cx="4417" cy="43581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FE0F5E1-106A-B4F2-500C-A3D4CFA31F90}"/>
              </a:ext>
            </a:extLst>
          </p:cNvPr>
          <p:cNvGrpSpPr/>
          <p:nvPr/>
        </p:nvGrpSpPr>
        <p:grpSpPr>
          <a:xfrm>
            <a:off x="7304528" y="2818569"/>
            <a:ext cx="735374" cy="184666"/>
            <a:chOff x="5992779" y="2708762"/>
            <a:chExt cx="735374" cy="184666"/>
          </a:xfrm>
        </p:grpSpPr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F71E411D-23EC-89D6-85B5-24AE7323659D}"/>
                </a:ext>
              </a:extLst>
            </p:cNvPr>
            <p:cNvSpPr/>
            <p:nvPr/>
          </p:nvSpPr>
          <p:spPr>
            <a:xfrm>
              <a:off x="6085707" y="2731988"/>
              <a:ext cx="534300" cy="146823"/>
            </a:xfrm>
            <a:prstGeom prst="roundRect">
              <a:avLst/>
            </a:prstGeom>
            <a:solidFill>
              <a:srgbClr val="B8C2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1CF6654-1A38-8214-4831-D1FBA8DFE01D}"/>
                </a:ext>
              </a:extLst>
            </p:cNvPr>
            <p:cNvSpPr txBox="1"/>
            <p:nvPr/>
          </p:nvSpPr>
          <p:spPr>
            <a:xfrm>
              <a:off x="5992779" y="2708762"/>
              <a:ext cx="7353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/>
                <a:t>Conv32_k3s1</a:t>
              </a:r>
              <a:endParaRPr lang="ko-KR" altLang="en-US" sz="600" dirty="0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F18C9B3-76D7-5B69-450D-BB89F3383246}"/>
              </a:ext>
            </a:extLst>
          </p:cNvPr>
          <p:cNvGrpSpPr/>
          <p:nvPr/>
        </p:nvGrpSpPr>
        <p:grpSpPr>
          <a:xfrm>
            <a:off x="7410847" y="2638776"/>
            <a:ext cx="541538" cy="200055"/>
            <a:chOff x="8224861" y="2641554"/>
            <a:chExt cx="541538" cy="200055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E25285C1-40BB-9E44-82AB-DCC780D7F7A5}"/>
                </a:ext>
              </a:extLst>
            </p:cNvPr>
            <p:cNvSpPr/>
            <p:nvPr/>
          </p:nvSpPr>
          <p:spPr>
            <a:xfrm>
              <a:off x="8258624" y="2667227"/>
              <a:ext cx="455844" cy="166861"/>
            </a:xfrm>
            <a:prstGeom prst="roundRect">
              <a:avLst/>
            </a:prstGeom>
            <a:solidFill>
              <a:srgbClr val="BEE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5E1FA25-BE37-9914-FDE2-6ECF5FF05164}"/>
                </a:ext>
              </a:extLst>
            </p:cNvPr>
            <p:cNvSpPr txBox="1"/>
            <p:nvPr/>
          </p:nvSpPr>
          <p:spPr>
            <a:xfrm>
              <a:off x="8224861" y="2641554"/>
              <a:ext cx="5415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Res. Blk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60697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2CD60-BA7B-CE16-215A-8DCFAE18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42025FD-E2C8-8F98-3368-1CE3103D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 and Analysis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CCB7C438-A26B-489D-8BF6-D871BC4C7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84835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Result – dynamic</a:t>
            </a:r>
            <a:r>
              <a:rPr lang="ko-KR" altLang="en-US" dirty="0"/>
              <a:t> </a:t>
            </a:r>
            <a:r>
              <a:rPr lang="en-US" altLang="ko-KR" dirty="0"/>
              <a:t>mode</a:t>
            </a:r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FCC573-1C77-BF73-0CCB-A7CA59D5B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19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B8FE20-715B-1E43-F3FD-DF5215A2FD21}"/>
              </a:ext>
            </a:extLst>
          </p:cNvPr>
          <p:cNvSpPr txBox="1"/>
          <p:nvPr/>
        </p:nvSpPr>
        <p:spPr>
          <a:xfrm>
            <a:off x="2553038" y="3952926"/>
            <a:ext cx="79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5B793-843E-06F8-C585-0E2B5876BC29}"/>
              </a:ext>
            </a:extLst>
          </p:cNvPr>
          <p:cNvSpPr txBox="1"/>
          <p:nvPr/>
        </p:nvSpPr>
        <p:spPr>
          <a:xfrm>
            <a:off x="5939043" y="3925700"/>
            <a:ext cx="257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Output</a:t>
            </a:r>
            <a:endParaRPr lang="ko-KR" altLang="en-US" dirty="0"/>
          </a:p>
        </p:txBody>
      </p:sp>
      <p:pic>
        <p:nvPicPr>
          <p:cNvPr id="10" name="face">
            <a:hlinkClick r:id="" action="ppaction://media"/>
            <a:extLst>
              <a:ext uri="{FF2B5EF4-FFF2-40B4-BE49-F238E27FC236}">
                <a16:creationId xmlns:a16="http://schemas.microsoft.com/office/drawing/2014/main" id="{98A21CAD-7880-EBE3-F89B-30A2FD5320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244069" y="1194937"/>
            <a:ext cx="1454110" cy="2585085"/>
          </a:xfrm>
          <a:prstGeom prst="rect">
            <a:avLst/>
          </a:prstGeom>
        </p:spPr>
      </p:pic>
      <p:pic>
        <p:nvPicPr>
          <p:cNvPr id="12" name="face_20">
            <a:hlinkClick r:id="" action="ppaction://media"/>
            <a:extLst>
              <a:ext uri="{FF2B5EF4-FFF2-40B4-BE49-F238E27FC236}">
                <a16:creationId xmlns:a16="http://schemas.microsoft.com/office/drawing/2014/main" id="{7A998A1A-928B-5105-2B1C-2C1A3000731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620962" y="1194937"/>
            <a:ext cx="1542514" cy="2742247"/>
          </a:xfrm>
          <a:prstGeom prst="rect">
            <a:avLst/>
          </a:prstGeom>
        </p:spPr>
      </p:pic>
      <p:pic>
        <p:nvPicPr>
          <p:cNvPr id="13" name="machine">
            <a:hlinkClick r:id="" action="ppaction://media"/>
            <a:extLst>
              <a:ext uri="{FF2B5EF4-FFF2-40B4-BE49-F238E27FC236}">
                <a16:creationId xmlns:a16="http://schemas.microsoft.com/office/drawing/2014/main" id="{C50632C1-7142-B940-82AF-2FAEFDC2EC56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388110" y="4495162"/>
            <a:ext cx="2888788" cy="1624943"/>
          </a:xfrm>
          <a:prstGeom prst="rect">
            <a:avLst/>
          </a:prstGeom>
        </p:spPr>
      </p:pic>
      <p:pic>
        <p:nvPicPr>
          <p:cNvPr id="14" name="machine20">
            <a:hlinkClick r:id="" action="ppaction://media"/>
            <a:extLst>
              <a:ext uri="{FF2B5EF4-FFF2-40B4-BE49-F238E27FC236}">
                <a16:creationId xmlns:a16="http://schemas.microsoft.com/office/drawing/2014/main" id="{7378219D-F15F-AFBF-7448-3D354024A87E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091740" y="4495162"/>
            <a:ext cx="2888788" cy="162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0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94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73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908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905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31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3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06A8-FD9F-C3EE-B9A3-5F64167E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474EAA8-6EAC-00C7-7795-82F4BFC2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1DB111D-203D-AFD2-6C0A-DFC0B32D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20</a:t>
            </a:fld>
            <a:r>
              <a:rPr lang="ko-KR" altLang="en-US" dirty="0"/>
              <a:t> </a:t>
            </a:r>
            <a:r>
              <a:rPr lang="en-US" altLang="ko-KR" dirty="0"/>
              <a:t>/ 20</a:t>
            </a:r>
            <a:endParaRPr lang="ko-KR" altLang="en-US" dirty="0"/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31519F89-F13F-CE0F-1292-BAFA3BE8AB88}"/>
              </a:ext>
            </a:extLst>
          </p:cNvPr>
          <p:cNvSpPr txBox="1">
            <a:spLocks/>
          </p:cNvSpPr>
          <p:nvPr/>
        </p:nvSpPr>
        <p:spPr>
          <a:xfrm>
            <a:off x="9557" y="587298"/>
            <a:ext cx="9729578" cy="6186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563" indent="-182563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38163" indent="-355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19138" indent="-2730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84250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dirty="0"/>
              <a:t>1. Research Summary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n-lt"/>
              </a:rPr>
              <a:t>Loss function </a:t>
            </a:r>
            <a:r>
              <a:rPr lang="ko-KR" altLang="en-US" sz="2000" dirty="0">
                <a:latin typeface="+mn-lt"/>
              </a:rPr>
              <a:t>수정으로 모션감소 가능성확인</a:t>
            </a:r>
            <a:endParaRPr lang="en-US" altLang="ko-KR" sz="2000" dirty="0">
              <a:latin typeface="+mn-lt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lt"/>
              </a:rPr>
              <a:t>반대방향으로 증폭함으로써 모션 억제 가능성 확인중</a:t>
            </a:r>
            <a:endParaRPr lang="en-US" altLang="ko-KR" sz="2000" dirty="0">
              <a:latin typeface="+mn-lt"/>
            </a:endParaRPr>
          </a:p>
          <a:p>
            <a:pPr marL="182563" lvl="1" indent="0">
              <a:lnSpc>
                <a:spcPct val="150000"/>
              </a:lnSpc>
              <a:buNone/>
            </a:pPr>
            <a:endParaRPr lang="en-US" altLang="ko-KR" b="1" dirty="0">
              <a:latin typeface="+mn-lt"/>
            </a:endParaRPr>
          </a:p>
          <a:p>
            <a:pPr marL="182563" lvl="1" indent="0">
              <a:lnSpc>
                <a:spcPct val="150000"/>
              </a:lnSpc>
              <a:buNone/>
            </a:pPr>
            <a:r>
              <a:rPr lang="en-US" altLang="ko-KR" b="1" dirty="0">
                <a:latin typeface="+mn-lt"/>
              </a:rPr>
              <a:t>2. Next</a:t>
            </a:r>
            <a:r>
              <a:rPr lang="ko-KR" altLang="en-US" b="1" dirty="0">
                <a:latin typeface="+mn-lt"/>
              </a:rPr>
              <a:t> </a:t>
            </a:r>
            <a:r>
              <a:rPr lang="en-US" altLang="ko-KR" b="1" dirty="0">
                <a:latin typeface="+mn-lt"/>
              </a:rPr>
              <a:t>steps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모션 억제 연구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5123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ESAL-IMS">
      <a:dk1>
        <a:sysClr val="windowText" lastClr="000000"/>
      </a:dk1>
      <a:lt1>
        <a:sysClr val="window" lastClr="FFFFFF"/>
      </a:lt1>
      <a:dk2>
        <a:srgbClr val="66665C"/>
      </a:dk2>
      <a:lt2>
        <a:srgbClr val="C80150"/>
      </a:lt2>
      <a:accent1>
        <a:srgbClr val="4E67C8"/>
      </a:accent1>
      <a:accent2>
        <a:srgbClr val="59A8D1"/>
      </a:accent2>
      <a:accent3>
        <a:srgbClr val="5DCEAF"/>
      </a:accent3>
      <a:accent4>
        <a:srgbClr val="A7EA52"/>
      </a:accent4>
      <a:accent5>
        <a:srgbClr val="FFB300"/>
      </a:accent5>
      <a:accent6>
        <a:srgbClr val="FF8021"/>
      </a:accent6>
      <a:hlink>
        <a:srgbClr val="56C7AA"/>
      </a:hlink>
      <a:folHlink>
        <a:srgbClr val="59A8D1"/>
      </a:folHlink>
    </a:clrScheme>
    <a:fontScheme name="사용자 지정 3">
      <a:majorFont>
        <a:latin typeface="Arial Black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27133</TotalTime>
  <Words>2782</Words>
  <Application>Microsoft Office PowerPoint</Application>
  <PresentationFormat>A4 Paper (210x297 mm)</PresentationFormat>
  <Paragraphs>459</Paragraphs>
  <Slides>20</Slides>
  <Notes>20</Notes>
  <HiddenSlides>0</HiddenSlides>
  <MMClips>9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맑은 고딕</vt:lpstr>
      <vt:lpstr>Arial</vt:lpstr>
      <vt:lpstr>Arial Black</vt:lpstr>
      <vt:lpstr>Cambria Math</vt:lpstr>
      <vt:lpstr>Consolas</vt:lpstr>
      <vt:lpstr>Wingdings</vt:lpstr>
      <vt:lpstr>Office 테마</vt:lpstr>
      <vt:lpstr>Learning based video motion magnification(W2)</vt:lpstr>
      <vt:lpstr>Outline</vt:lpstr>
      <vt:lpstr>Gantt chart</vt:lpstr>
      <vt:lpstr>Understanding the Data &amp; Model Architecture</vt:lpstr>
      <vt:lpstr>Understanding the Data &amp; Model Architecture</vt:lpstr>
      <vt:lpstr>Understanding the Data &amp; Model Architecture</vt:lpstr>
      <vt:lpstr>Understanding the Data &amp; Model Architecture</vt:lpstr>
      <vt:lpstr>Understanding the Data &amp; Model Architecture</vt:lpstr>
      <vt:lpstr>Understanding the Data &amp; Model Architecture</vt:lpstr>
      <vt:lpstr>Understanding the Data &amp; Model Architecture</vt:lpstr>
      <vt:lpstr>Understanding the Data &amp; Model Architecture</vt:lpstr>
      <vt:lpstr>Understanding the Data &amp; Model Architecture</vt:lpstr>
      <vt:lpstr>Code optimization</vt:lpstr>
      <vt:lpstr>Code optimization</vt:lpstr>
      <vt:lpstr>Code optimization</vt:lpstr>
      <vt:lpstr>Implementation</vt:lpstr>
      <vt:lpstr>Result and Analysis</vt:lpstr>
      <vt:lpstr>Code optimization</vt:lpstr>
      <vt:lpstr>Result and Analysis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최승헌</cp:lastModifiedBy>
  <cp:revision>1979</cp:revision>
  <cp:lastPrinted>2025-07-30T07:55:41Z</cp:lastPrinted>
  <dcterms:created xsi:type="dcterms:W3CDTF">2017-08-14T05:22:50Z</dcterms:created>
  <dcterms:modified xsi:type="dcterms:W3CDTF">2025-07-31T04:50:22Z</dcterms:modified>
  <cp:version/>
</cp:coreProperties>
</file>