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838" r:id="rId1"/>
  </p:sldMasterIdLst>
  <p:notesMasterIdLst>
    <p:notesMasterId r:id="rId17"/>
  </p:notesMasterIdLst>
  <p:handoutMasterIdLst>
    <p:handoutMasterId r:id="rId18"/>
  </p:handoutMasterIdLst>
  <p:sldIdLst>
    <p:sldId id="427" r:id="rId2"/>
    <p:sldId id="440" r:id="rId3"/>
    <p:sldId id="417" r:id="rId4"/>
    <p:sldId id="450" r:id="rId5"/>
    <p:sldId id="443" r:id="rId6"/>
    <p:sldId id="442" r:id="rId7"/>
    <p:sldId id="451" r:id="rId8"/>
    <p:sldId id="454" r:id="rId9"/>
    <p:sldId id="452" r:id="rId10"/>
    <p:sldId id="455" r:id="rId11"/>
    <p:sldId id="449" r:id="rId12"/>
    <p:sldId id="453" r:id="rId13"/>
    <p:sldId id="457" r:id="rId14"/>
    <p:sldId id="446" r:id="rId15"/>
    <p:sldId id="456" r:id="rId16"/>
  </p:sldIdLst>
  <p:sldSz cx="9906000" cy="6858000" type="A4"/>
  <p:notesSz cx="6797675" cy="992822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>
          <p15:clr>
            <a:srgbClr val="A4A3A4"/>
          </p15:clr>
        </p15:guide>
        <p15:guide id="2" pos="311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밝은 스타일 1 - 강조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8B1032C-EA38-4F05-BA0D-38AFFFC7BED3}" styleName="밝은 스타일 3 - 강조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61" autoAdjust="0"/>
    <p:restoredTop sz="89039" autoAdjust="0"/>
  </p:normalViewPr>
  <p:slideViewPr>
    <p:cSldViewPr snapToGrid="0">
      <p:cViewPr varScale="1">
        <p:scale>
          <a:sx n="89" d="100"/>
          <a:sy n="89" d="100"/>
        </p:scale>
        <p:origin x="56" y="1236"/>
      </p:cViewPr>
      <p:guideLst>
        <p:guide orient="horz" pos="2158"/>
        <p:guide pos="3118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80" d="100"/>
          <a:sy n="80" d="100"/>
        </p:scale>
        <p:origin x="401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813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444" y="1"/>
            <a:ext cx="2945659" cy="49813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BC6C58E5-B335-43D1-8539-84214CC4298E}" type="datetime1">
              <a:rPr lang="ko-KR" altLang="en-US"/>
              <a:pPr lvl="0">
                <a:defRPr/>
              </a:pPr>
              <a:t>2025-07-23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444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88E8FDA6-6DC9-4EAB-920B-F536BAB80F47}" type="slidenum">
              <a:rPr lang="ko-KR" altLang="en-US"/>
              <a:pPr lvl="0"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813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4" y="1"/>
            <a:ext cx="2945659" cy="49813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24D4F443-80F1-45FE-964F-4B7F08BCAEFC}" type="datetime1">
              <a:rPr lang="ko-KR" altLang="en-US"/>
              <a:pPr lvl="0">
                <a:defRPr/>
              </a:pPr>
              <a:t>2025-07-23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77900" y="1239838"/>
            <a:ext cx="4841875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4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749B5091-BB0E-4248-8F7A-EFA923AEA320}" type="slidenum">
              <a:rPr lang="ko-KR" altLang="en-US"/>
              <a:pPr lvl="0">
                <a:defRPr/>
              </a:pPr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1157521" rtl="0" eaLnBrk="1" latinLnBrk="1" hangingPunct="1">
      <a:defRPr sz="1521" kern="1200">
        <a:solidFill>
          <a:schemeClr val="tx1"/>
        </a:solidFill>
        <a:latin typeface="+mn-lt"/>
        <a:ea typeface="+mn-ea"/>
        <a:cs typeface="+mn-cs"/>
      </a:defRPr>
    </a:lvl1pPr>
    <a:lvl2pPr marL="578759" algn="l" defTabSz="1157521" rtl="0" eaLnBrk="1" latinLnBrk="1" hangingPunct="1">
      <a:defRPr sz="1521" kern="1200">
        <a:solidFill>
          <a:schemeClr val="tx1"/>
        </a:solidFill>
        <a:latin typeface="+mn-lt"/>
        <a:ea typeface="+mn-ea"/>
        <a:cs typeface="+mn-cs"/>
      </a:defRPr>
    </a:lvl2pPr>
    <a:lvl3pPr marL="1157521" algn="l" defTabSz="1157521" rtl="0" eaLnBrk="1" latinLnBrk="1" hangingPunct="1">
      <a:defRPr sz="1521" kern="1200">
        <a:solidFill>
          <a:schemeClr val="tx1"/>
        </a:solidFill>
        <a:latin typeface="+mn-lt"/>
        <a:ea typeface="+mn-ea"/>
        <a:cs typeface="+mn-cs"/>
      </a:defRPr>
    </a:lvl3pPr>
    <a:lvl4pPr marL="1736281" algn="l" defTabSz="1157521" rtl="0" eaLnBrk="1" latinLnBrk="1" hangingPunct="1">
      <a:defRPr sz="1521" kern="1200">
        <a:solidFill>
          <a:schemeClr val="tx1"/>
        </a:solidFill>
        <a:latin typeface="+mn-lt"/>
        <a:ea typeface="+mn-ea"/>
        <a:cs typeface="+mn-cs"/>
      </a:defRPr>
    </a:lvl4pPr>
    <a:lvl5pPr marL="2315040" algn="l" defTabSz="1157521" rtl="0" eaLnBrk="1" latinLnBrk="1" hangingPunct="1">
      <a:defRPr sz="1521" kern="1200">
        <a:solidFill>
          <a:schemeClr val="tx1"/>
        </a:solidFill>
        <a:latin typeface="+mn-lt"/>
        <a:ea typeface="+mn-ea"/>
        <a:cs typeface="+mn-cs"/>
      </a:defRPr>
    </a:lvl5pPr>
    <a:lvl6pPr marL="2893802" algn="l" defTabSz="1157521" rtl="0" eaLnBrk="1" latinLnBrk="1" hangingPunct="1">
      <a:defRPr sz="1521" kern="1200">
        <a:solidFill>
          <a:schemeClr val="tx1"/>
        </a:solidFill>
        <a:latin typeface="+mn-lt"/>
        <a:ea typeface="+mn-ea"/>
        <a:cs typeface="+mn-cs"/>
      </a:defRPr>
    </a:lvl6pPr>
    <a:lvl7pPr marL="3472561" algn="l" defTabSz="1157521" rtl="0" eaLnBrk="1" latinLnBrk="1" hangingPunct="1">
      <a:defRPr sz="1521" kern="1200">
        <a:solidFill>
          <a:schemeClr val="tx1"/>
        </a:solidFill>
        <a:latin typeface="+mn-lt"/>
        <a:ea typeface="+mn-ea"/>
        <a:cs typeface="+mn-cs"/>
      </a:defRPr>
    </a:lvl7pPr>
    <a:lvl8pPr marL="4051323" algn="l" defTabSz="1157521" rtl="0" eaLnBrk="1" latinLnBrk="1" hangingPunct="1">
      <a:defRPr sz="1521" kern="1200">
        <a:solidFill>
          <a:schemeClr val="tx1"/>
        </a:solidFill>
        <a:latin typeface="+mn-lt"/>
        <a:ea typeface="+mn-ea"/>
        <a:cs typeface="+mn-cs"/>
      </a:defRPr>
    </a:lvl8pPr>
    <a:lvl9pPr marL="4630082" algn="l" defTabSz="1157521" rtl="0" eaLnBrk="1" latinLnBrk="1" hangingPunct="1">
      <a:defRPr sz="152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9B5091-BB0E-4248-8F7A-EFA923AEA320}" type="slidenum">
              <a:rPr lang="ko-KR" altLang="en-US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520478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49B5091-BB0E-4248-8F7A-EFA923AEA320}" type="slidenum">
              <a:rPr lang="ko-KR" altLang="en-US" smtClean="0"/>
              <a:pPr lvl="0">
                <a:defRPr/>
              </a:pPr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281526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F9416-54CB-F5AA-9C33-90E14AC44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AA2B9BD-D955-1549-6060-F9CE0F7403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27878E5-CB25-2F9F-DD7C-BCAB4C3C8E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lang="en-US" altLang="ko-KR" dirty="0"/>
              <a:t>input</a:t>
            </a:r>
            <a:r>
              <a:rPr lang="ko-KR" altLang="en-US" dirty="0"/>
              <a:t> </a:t>
            </a:r>
            <a:r>
              <a:rPr lang="en-US" altLang="ko-KR" dirty="0"/>
              <a:t>video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상단 </a:t>
            </a:r>
            <a:r>
              <a:rPr lang="en-US" altLang="ko-KR" dirty="0"/>
              <a:t>3D</a:t>
            </a:r>
            <a:r>
              <a:rPr lang="ko-KR" altLang="en-US" dirty="0"/>
              <a:t>블록은 영상의 공간</a:t>
            </a:r>
            <a:r>
              <a:rPr lang="en-US" altLang="ko-KR" dirty="0"/>
              <a:t>, </a:t>
            </a:r>
            <a:r>
              <a:rPr lang="ko-KR" altLang="en-US" dirty="0"/>
              <a:t>시간 구조를 시각적으로 표현한것이다</a:t>
            </a:r>
            <a:r>
              <a:rPr lang="en-US" altLang="ko-KR" dirty="0"/>
              <a:t>. </a:t>
            </a:r>
          </a:p>
          <a:p>
            <a:pPr marL="0" indent="0">
              <a:buNone/>
            </a:pPr>
            <a:r>
              <a:rPr lang="ko-KR" altLang="en-US" dirty="0"/>
              <a:t>아래 그래프는 특정 </a:t>
            </a:r>
            <a:r>
              <a:rPr lang="en-US" altLang="ko-KR" dirty="0"/>
              <a:t>y</a:t>
            </a:r>
            <a:r>
              <a:rPr lang="ko-KR" altLang="en-US" dirty="0"/>
              <a:t>위치의 픽셀 값을 시간 축으로 펼쳐 나타낸 것</a:t>
            </a:r>
            <a:r>
              <a:rPr lang="en-US" altLang="ko-KR" dirty="0"/>
              <a:t>. </a:t>
            </a:r>
            <a:r>
              <a:rPr lang="ko-KR" altLang="en-US" dirty="0"/>
              <a:t>영상 내 움직임이나 변화를 파악할 수 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2. spatial</a:t>
            </a:r>
            <a:r>
              <a:rPr lang="ko-KR" altLang="en-US" dirty="0"/>
              <a:t> </a:t>
            </a:r>
            <a:r>
              <a:rPr lang="en-US" altLang="ko-KR" dirty="0"/>
              <a:t>decomposition(</a:t>
            </a:r>
            <a:r>
              <a:rPr lang="ko-KR" altLang="en-US" dirty="0"/>
              <a:t>공간 분해</a:t>
            </a:r>
            <a:r>
              <a:rPr lang="en-US" altLang="ko-KR" dirty="0"/>
              <a:t>)</a:t>
            </a:r>
          </a:p>
          <a:p>
            <a:pPr marL="0" indent="0">
              <a:buNone/>
            </a:pPr>
            <a:r>
              <a:rPr lang="ko-KR" altLang="en-US" dirty="0"/>
              <a:t>입력 비디오를 라플라시안 피라미드 방식으로 공간 주파수 성분별로 분해한다</a:t>
            </a:r>
            <a:r>
              <a:rPr lang="en-US" altLang="ko-KR" dirty="0"/>
              <a:t>. (</a:t>
            </a:r>
            <a:r>
              <a:rPr lang="ko-KR" altLang="en-US" dirty="0"/>
              <a:t>움직임은 경계면이므로 라플라시안으로 바꿔야 파악하기 쉬움</a:t>
            </a:r>
            <a:r>
              <a:rPr lang="en-US" altLang="ko-KR" dirty="0"/>
              <a:t>) </a:t>
            </a:r>
            <a:r>
              <a:rPr lang="ko-KR" altLang="en-US" dirty="0"/>
              <a:t>피라미드의 레벨이 높아질수록 천천히 변하는 값이므로 저주파</a:t>
            </a:r>
            <a:r>
              <a:rPr lang="en-US" altLang="ko-KR" dirty="0"/>
              <a:t>, </a:t>
            </a:r>
            <a:r>
              <a:rPr lang="ko-KR" altLang="en-US" dirty="0"/>
              <a:t>피라미드의 레벨이 낮으면 바로 없어지는 값이므로 고주파이다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3. </a:t>
            </a:r>
            <a:r>
              <a:rPr lang="ko-KR" altLang="en-US" dirty="0"/>
              <a:t>시간 필터링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Butterworth</a:t>
            </a:r>
            <a:r>
              <a:rPr lang="ko-KR" altLang="en-US" dirty="0"/>
              <a:t>필터를 사용하고 </a:t>
            </a:r>
            <a:r>
              <a:rPr lang="en-US" altLang="ko-KR" dirty="0"/>
              <a:t>(</a:t>
            </a:r>
            <a:r>
              <a:rPr lang="ko-KR" altLang="en-US" dirty="0"/>
              <a:t>시간필터</a:t>
            </a:r>
            <a:r>
              <a:rPr lang="en-US" altLang="ko-KR" dirty="0"/>
              <a:t>) </a:t>
            </a:r>
            <a:r>
              <a:rPr lang="ko-KR" altLang="en-US" dirty="0"/>
              <a:t>특정 주파수 대역만 증폭시킨다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4. </a:t>
            </a:r>
            <a:r>
              <a:rPr lang="ko-KR" altLang="en-US" dirty="0"/>
              <a:t>복원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증폭된 주파수 대역을 다시 공간적으로 합성해서 하나의 영상으로 복원한다</a:t>
            </a:r>
            <a:r>
              <a:rPr lang="en-US" altLang="ko-KR" dirty="0"/>
              <a:t>. </a:t>
            </a:r>
            <a:r>
              <a:rPr lang="ko-KR" altLang="en-US" dirty="0"/>
              <a:t>눈에 보이지 않던 미세한 움직임이 증폭된다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045953-6264-CAFE-120F-09F68F3420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49B5091-BB0E-4248-8F7A-EFA923AEA320}" type="slidenum">
              <a:rPr lang="ko-KR" altLang="en-US" smtClean="0"/>
              <a:pPr lvl="0">
                <a:defRPr/>
              </a:pPr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91824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2889B-654C-35EE-2C0D-E00D799C3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71EEEB6-B2FF-2207-D4C1-89B0893495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AFE684-25AF-2769-9305-CCC5AE64E0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97642E-D3AB-9950-4E45-5A9DE53BFD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49B5091-BB0E-4248-8F7A-EFA923AEA320}" type="slidenum">
              <a:rPr lang="ko-KR" altLang="en-US" smtClean="0"/>
              <a:pPr lvl="0">
                <a:defRPr/>
              </a:pPr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613915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5E4E5-A6D2-4C81-6B4C-AE6C5A7DB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CAC7CD8-45C5-B227-88AC-A7B79A6887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E54CE3F-71AD-4F3F-8670-0E513AACF7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C9F5AC1-2AB0-A20F-5663-4E1A414490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49B5091-BB0E-4248-8F7A-EFA923AEA320}" type="slidenum">
              <a:rPr lang="ko-KR" altLang="en-US" smtClean="0"/>
              <a:pPr lvl="0">
                <a:defRPr/>
              </a:pPr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817643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2889B-654C-35EE-2C0D-E00D799C3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71EEEB6-B2FF-2207-D4C1-89B0893495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AFE684-25AF-2769-9305-CCC5AE64E0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97642E-D3AB-9950-4E45-5A9DE53BFD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49B5091-BB0E-4248-8F7A-EFA923AEA320}" type="slidenum">
              <a:rPr lang="ko-KR" altLang="en-US" smtClean="0"/>
              <a:pPr lvl="0">
                <a:defRPr/>
              </a:pPr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613915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B0BC6-A19E-2261-AA9A-B934E33E9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A8833F7-AEBA-0160-2F1F-B48C0F3DDB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4DCE220-3200-C935-1266-44D4AC3179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01FC0A-C57C-6E1A-FEBE-10301EF88F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49B5091-BB0E-4248-8F7A-EFA923AEA320}" type="slidenum">
              <a:rPr lang="ko-KR" altLang="en-US" smtClean="0"/>
              <a:pPr lvl="0">
                <a:defRPr/>
              </a:pPr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199607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564B2-7625-8AF3-C675-C153AA655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8E39FA8-3AA6-2E41-28BB-B55EA69755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E277A23-3338-8AF8-0E73-9CD002F642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A3EDB3-7B57-4E7B-AB5D-64E701047D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49B5091-BB0E-4248-8F7A-EFA923AEA320}" type="slidenum">
              <a:rPr lang="ko-KR" altLang="en-US" smtClean="0"/>
              <a:pPr lvl="0">
                <a:defRPr/>
              </a:pPr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847234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CC554-A75C-2031-6E54-C2ECD9472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68AE69E-790E-14E9-8379-8AFF22F78E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73BC0C4-DD5D-5A9F-B69E-5214B73945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9FA94C-9947-060C-2564-26F438E3C9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49B5091-BB0E-4248-8F7A-EFA923AEA320}" type="slidenum">
              <a:rPr lang="ko-KR" altLang="en-US" smtClean="0"/>
              <a:pPr lvl="0">
                <a:defRPr/>
              </a:pPr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538481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7DA17-C8E2-5230-00E1-C3589C51A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1922854-3A78-3DE0-03ED-5A9AC65FBC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3AC9957-6D95-CDB1-B081-B187FEF84F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7C2B46-49CF-10A9-76F6-60ADD0DE99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49B5091-BB0E-4248-8F7A-EFA923AEA320}" type="slidenum">
              <a:rPr lang="ko-KR" altLang="en-US" smtClean="0"/>
              <a:pPr lvl="0">
                <a:defRPr/>
              </a:pPr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328028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6B300-6A44-3806-1104-AA1D5A9D6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BCD6790-21F8-0CBD-5069-D905DF86D2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7B5240A-4E83-D3E9-65EC-6AD6931FB2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12BC44-06E1-C1AA-816A-132A08B5EC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49B5091-BB0E-4248-8F7A-EFA923AEA320}" type="slidenum">
              <a:rPr lang="ko-KR" altLang="en-US" smtClean="0"/>
              <a:pPr lvl="0">
                <a:defRPr/>
              </a:pPr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410556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D8DAA-619F-6B20-698B-3910EE619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FCA184A-CB43-F619-8F04-30BA737DA7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8E83D6-8B79-C6F6-A198-9718CE9F23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C1EA4C6-9703-818E-3EC4-0D4D9277A0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49B5091-BB0E-4248-8F7A-EFA923AEA320}" type="slidenum">
              <a:rPr lang="ko-KR" altLang="en-US" smtClean="0"/>
              <a:pPr lvl="0">
                <a:defRPr/>
              </a:pPr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665084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EA201-0080-A40C-03B6-AB5B7EA06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4123365-AE9C-E607-E94A-410ED51D04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C2901CD-7340-BE9C-35F7-6E729F37DB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FBAF098-A440-A024-26D6-7BEB1EAE7B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49B5091-BB0E-4248-8F7A-EFA923AEA320}" type="slidenum">
              <a:rPr lang="ko-KR" altLang="en-US" smtClean="0"/>
              <a:pPr lvl="0">
                <a:defRPr/>
              </a:pPr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537635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916D5-49DD-47E5-7655-5D70AFDE3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3BB4F25-5A41-48A8-A195-1E74FE52C8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5C485B6-5D96-7798-7F0C-BB8E6F058D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094544A-40B8-BD85-FB9F-B0EDC2DDF5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49B5091-BB0E-4248-8F7A-EFA923AEA320}" type="slidenum">
              <a:rPr lang="ko-KR" altLang="en-US" smtClean="0"/>
              <a:pPr lvl="0">
                <a:defRPr/>
              </a:pPr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516925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8244" y="3648941"/>
            <a:ext cx="2302498" cy="42677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1467" y="2550857"/>
            <a:ext cx="8983066" cy="1294790"/>
          </a:xfrm>
        </p:spPr>
        <p:txBody>
          <a:bodyPr anchor="b">
            <a:normAutofit/>
          </a:bodyPr>
          <a:lstStyle>
            <a:lvl1pPr algn="l">
              <a:defRPr sz="4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1467" y="4148242"/>
            <a:ext cx="8983066" cy="1655762"/>
          </a:xfrm>
        </p:spPr>
        <p:txBody>
          <a:bodyPr/>
          <a:lstStyle>
            <a:lvl1pPr marL="0" indent="0" algn="l">
              <a:buNone/>
              <a:defRPr sz="2400" i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sp>
        <p:nvSpPr>
          <p:cNvPr id="10" name="직사각형 9"/>
          <p:cNvSpPr/>
          <p:nvPr userDrawn="1"/>
        </p:nvSpPr>
        <p:spPr>
          <a:xfrm>
            <a:off x="461467" y="3989995"/>
            <a:ext cx="6641356" cy="45719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lvl="0" algn="ctr"/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508403" y="6469469"/>
            <a:ext cx="2301640" cy="304403"/>
          </a:xfrm>
        </p:spPr>
        <p:txBody>
          <a:bodyPr/>
          <a:lstStyle>
            <a:lvl1pPr>
              <a:defRPr b="1">
                <a:solidFill>
                  <a:schemeClr val="tx2"/>
                </a:solidFill>
              </a:defRPr>
            </a:lvl1pPr>
          </a:lstStyle>
          <a:p>
            <a:fld id="{8B38620B-A437-4F0D-A730-8BB93955CBDE}" type="slidenum">
              <a:rPr lang="ko-KR" altLang="en-US" smtClean="0"/>
              <a:pPr/>
              <a:t>‹#›</a:t>
            </a:fld>
            <a:r>
              <a:rPr lang="ko-KR" altLang="en-US" dirty="0"/>
              <a:t> </a:t>
            </a:r>
            <a:r>
              <a:rPr lang="en-US" altLang="ko-KR" dirty="0"/>
              <a:t>/ 29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68705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7608" y="314078"/>
            <a:ext cx="1181545" cy="219003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57" y="587299"/>
            <a:ext cx="9729578" cy="5584432"/>
          </a:xfrm>
        </p:spPr>
        <p:txBody>
          <a:bodyPr/>
          <a:lstStyle>
            <a:lvl1pPr marL="182563" indent="-182563" latinLnBrk="0">
              <a:lnSpc>
                <a:spcPct val="120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22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38163" indent="-355600" latinLnBrk="0">
              <a:lnSpc>
                <a:spcPct val="120000"/>
              </a:lnSpc>
              <a:buFont typeface="Wingdings" panose="05000000000000000000" pitchFamily="2" charset="2"/>
              <a:buChar char="ü"/>
              <a:defRPr sz="22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719138" indent="-273050" latinLnBrk="0">
              <a:lnSpc>
                <a:spcPct val="120000"/>
              </a:lnSpc>
              <a:buFont typeface="Wingdings" panose="05000000000000000000" pitchFamily="2" charset="2"/>
              <a:buChar char="§"/>
              <a:defRPr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984250" indent="-266700" latinLnBrk="0">
              <a:lnSpc>
                <a:spcPct val="12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508403" y="6469469"/>
            <a:ext cx="2301640" cy="304403"/>
          </a:xfrm>
        </p:spPr>
        <p:txBody>
          <a:bodyPr/>
          <a:lstStyle>
            <a:lvl1pPr>
              <a:defRPr b="1">
                <a:solidFill>
                  <a:schemeClr val="tx2"/>
                </a:solidFill>
              </a:defRPr>
            </a:lvl1pPr>
          </a:lstStyle>
          <a:p>
            <a:fld id="{8B38620B-A437-4F0D-A730-8BB93955CBDE}" type="slidenum">
              <a:rPr lang="ko-KR" altLang="en-US" smtClean="0"/>
              <a:pPr/>
              <a:t>‹#›</a:t>
            </a:fld>
            <a:r>
              <a:rPr lang="ko-KR" altLang="en-US" dirty="0"/>
              <a:t> </a:t>
            </a:r>
            <a:r>
              <a:rPr lang="en-US" altLang="ko-KR" dirty="0"/>
              <a:t>/ 10</a:t>
            </a:r>
            <a:endParaRPr lang="ko-KR" altLang="en-US" dirty="0"/>
          </a:p>
        </p:txBody>
      </p:sp>
      <p:sp>
        <p:nvSpPr>
          <p:cNvPr id="9" name="직사각형 8"/>
          <p:cNvSpPr/>
          <p:nvPr userDrawn="1"/>
        </p:nvSpPr>
        <p:spPr>
          <a:xfrm>
            <a:off x="176421" y="471116"/>
            <a:ext cx="8431004" cy="45719"/>
          </a:xfrm>
          <a:prstGeom prst="rect">
            <a:avLst/>
          </a:prstGeom>
          <a:solidFill>
            <a:srgbClr val="C8015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lvl="0" algn="ctr"/>
            <a:endParaRPr lang="ko-KR" altLang="en-US" dirty="0"/>
          </a:p>
        </p:txBody>
      </p:sp>
      <p:sp>
        <p:nvSpPr>
          <p:cNvPr id="14" name="Footer Placeholder 4"/>
          <p:cNvSpPr txBox="1">
            <a:spLocks/>
          </p:cNvSpPr>
          <p:nvPr userDrawn="1"/>
        </p:nvSpPr>
        <p:spPr>
          <a:xfrm>
            <a:off x="102413" y="6469469"/>
            <a:ext cx="3343275" cy="304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850" b="1" kern="1200">
                <a:solidFill>
                  <a:schemeClr val="tx2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i="1" dirty="0">
                <a:solidFill>
                  <a:schemeClr val="bg2"/>
                </a:solidFill>
              </a:rPr>
              <a:t>Embedded</a:t>
            </a:r>
            <a:r>
              <a:rPr lang="en-US" altLang="ko-KR" i="1" baseline="0" dirty="0">
                <a:solidFill>
                  <a:schemeClr val="bg2"/>
                </a:solidFill>
              </a:rPr>
              <a:t> System Architecture Lab</a:t>
            </a:r>
          </a:p>
          <a:p>
            <a:r>
              <a:rPr lang="en-US" altLang="ko-KR" i="1" baseline="0" dirty="0">
                <a:solidFill>
                  <a:schemeClr val="tx2"/>
                </a:solidFill>
              </a:rPr>
              <a:t>Department of Electrical Engineering</a:t>
            </a:r>
            <a:endParaRPr lang="ko-KR" altLang="en-US" i="1" dirty="0">
              <a:solidFill>
                <a:schemeClr val="tx2"/>
              </a:solidFill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02413" y="140019"/>
            <a:ext cx="9627165" cy="329979"/>
          </a:xfrm>
        </p:spPr>
        <p:txBody>
          <a:bodyPr>
            <a:noAutofit/>
          </a:bodyPr>
          <a:lstStyle>
            <a:lvl1pPr>
              <a:defRPr sz="2400" b="1">
                <a:solidFill>
                  <a:srgbClr val="C8015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7591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>
            <p:ph type="ctrTitle"/>
          </p:nvPr>
        </p:nvSpPr>
        <p:spPr>
          <a:xfrm>
            <a:off x="742950" y="1329879"/>
            <a:ext cx="8420100" cy="1294790"/>
          </a:xfrm>
        </p:spPr>
        <p:txBody>
          <a:bodyPr anchor="b">
            <a:normAutofit/>
          </a:bodyPr>
          <a:lstStyle>
            <a:lvl1pPr algn="ctr">
              <a:defRPr sz="4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17" name="Subtitle 2"/>
          <p:cNvSpPr>
            <a:spLocks noGrp="1"/>
          </p:cNvSpPr>
          <p:nvPr>
            <p:ph type="subTitle" idx="1"/>
          </p:nvPr>
        </p:nvSpPr>
        <p:spPr>
          <a:xfrm>
            <a:off x="461467" y="3434881"/>
            <a:ext cx="8983066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sp>
        <p:nvSpPr>
          <p:cNvPr id="18" name="직사각형 9"/>
          <p:cNvSpPr/>
          <p:nvPr userDrawn="1"/>
        </p:nvSpPr>
        <p:spPr>
          <a:xfrm>
            <a:off x="461467" y="2770795"/>
            <a:ext cx="8983066" cy="45719"/>
          </a:xfrm>
          <a:prstGeom prst="rect">
            <a:avLst/>
          </a:prstGeom>
          <a:solidFill>
            <a:srgbClr val="C8015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lvl="0" algn="ctr"/>
            <a:endParaRPr lang="ko-KR" altLang="en-US" dirty="0"/>
          </a:p>
        </p:txBody>
      </p:sp>
      <p:pic>
        <p:nvPicPr>
          <p:cNvPr id="19" name="그림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6144" y="6092701"/>
            <a:ext cx="2798389" cy="403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033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38620B-A437-4F0D-A730-8BB93955CBDE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92513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4" r:id="rId3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jpe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jpeg"/><Relationship Id="rId10" Type="http://schemas.openxmlformats.org/officeDocument/2006/relationships/image" Target="../media/image16.png"/><Relationship Id="rId4" Type="http://schemas.openxmlformats.org/officeDocument/2006/relationships/image" Target="../media/image10.jpeg"/><Relationship Id="rId9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video" Target="../media/media4.mp4"/><Relationship Id="rId13" Type="http://schemas.openxmlformats.org/officeDocument/2006/relationships/slideLayout" Target="../slideLayouts/slideLayout2.xml"/><Relationship Id="rId18" Type="http://schemas.openxmlformats.org/officeDocument/2006/relationships/image" Target="../media/image24.png"/><Relationship Id="rId3" Type="http://schemas.microsoft.com/office/2007/relationships/media" Target="../media/media2.mp4"/><Relationship Id="rId7" Type="http://schemas.microsoft.com/office/2007/relationships/media" Target="../media/media4.mp4"/><Relationship Id="rId12" Type="http://schemas.openxmlformats.org/officeDocument/2006/relationships/video" Target="../media/media6.mp4"/><Relationship Id="rId17" Type="http://schemas.openxmlformats.org/officeDocument/2006/relationships/image" Target="../media/image23.png"/><Relationship Id="rId2" Type="http://schemas.openxmlformats.org/officeDocument/2006/relationships/video" Target="../media/media1.mp4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1" Type="http://schemas.microsoft.com/office/2007/relationships/media" Target="../media/media1.mp4"/><Relationship Id="rId6" Type="http://schemas.openxmlformats.org/officeDocument/2006/relationships/video" Target="../media/media3.mp4"/><Relationship Id="rId11" Type="http://schemas.microsoft.com/office/2007/relationships/media" Target="../media/media6.mp4"/><Relationship Id="rId5" Type="http://schemas.microsoft.com/office/2007/relationships/media" Target="../media/media3.mp4"/><Relationship Id="rId15" Type="http://schemas.openxmlformats.org/officeDocument/2006/relationships/image" Target="../media/image21.png"/><Relationship Id="rId10" Type="http://schemas.openxmlformats.org/officeDocument/2006/relationships/video" Target="../media/media5.mp4"/><Relationship Id="rId19" Type="http://schemas.openxmlformats.org/officeDocument/2006/relationships/image" Target="../media/image25.png"/><Relationship Id="rId4" Type="http://schemas.openxmlformats.org/officeDocument/2006/relationships/video" Target="../media/media2.mp4"/><Relationship Id="rId9" Type="http://schemas.microsoft.com/office/2007/relationships/media" Target="../media/media5.mp4"/><Relationship Id="rId14" Type="http://schemas.openxmlformats.org/officeDocument/2006/relationships/notesSlide" Target="../notesSlides/notesSlide1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2.xml"/><Relationship Id="rId3" Type="http://schemas.microsoft.com/office/2007/relationships/media" Target="../media/media7.mp4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29.png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video" Target="../media/media8.mp4"/><Relationship Id="rId11" Type="http://schemas.openxmlformats.org/officeDocument/2006/relationships/image" Target="../media/image28.png"/><Relationship Id="rId5" Type="http://schemas.microsoft.com/office/2007/relationships/media" Target="../media/media8.mp4"/><Relationship Id="rId10" Type="http://schemas.openxmlformats.org/officeDocument/2006/relationships/image" Target="../media/image27.png"/><Relationship Id="rId4" Type="http://schemas.openxmlformats.org/officeDocument/2006/relationships/video" Target="../media/media7.mp4"/><Relationship Id="rId9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Learning based video motion magnification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b="1" dirty="0" err="1"/>
              <a:t>Seungheon</a:t>
            </a:r>
            <a:r>
              <a:rPr lang="en-US" altLang="ko-KR" b="1" dirty="0"/>
              <a:t> Choi</a:t>
            </a:r>
          </a:p>
          <a:p>
            <a:r>
              <a:rPr lang="en-US" altLang="ko-KR" dirty="0"/>
              <a:t>Department of Electronic Engineering</a:t>
            </a:r>
          </a:p>
          <a:p>
            <a:r>
              <a:rPr lang="en-US" altLang="ko-KR" dirty="0"/>
              <a:t>Kyungpook National University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71287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ECAAC-C567-4673-4B0E-EB7B16360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527606EF-A9D6-00DB-67AB-DB1CE5B78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Outline</a:t>
            </a:r>
            <a:endParaRPr lang="ko-KR" altLang="en-US" dirty="0"/>
          </a:p>
        </p:txBody>
      </p:sp>
      <p:sp>
        <p:nvSpPr>
          <p:cNvPr id="32" name="내용 개체 틀 1">
            <a:extLst>
              <a:ext uri="{FF2B5EF4-FFF2-40B4-BE49-F238E27FC236}">
                <a16:creationId xmlns:a16="http://schemas.microsoft.com/office/drawing/2014/main" id="{6237D350-37DF-23C6-6DCF-07E9262F23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57" y="587299"/>
            <a:ext cx="9729578" cy="2657128"/>
          </a:xfrm>
        </p:spPr>
        <p:txBody>
          <a:bodyPr/>
          <a:lstStyle/>
          <a:p>
            <a:r>
              <a:rPr lang="en-US" altLang="ko-KR" dirty="0"/>
              <a:t>1. Introduction</a:t>
            </a:r>
          </a:p>
          <a:p>
            <a:r>
              <a:rPr lang="en-US" altLang="ko-KR" dirty="0"/>
              <a:t>2. Gantt chart</a:t>
            </a:r>
          </a:p>
          <a:p>
            <a:r>
              <a:rPr lang="en-US" altLang="ko-KR" dirty="0"/>
              <a:t>3. Implementation</a:t>
            </a:r>
          </a:p>
          <a:p>
            <a:r>
              <a:rPr lang="en-US" altLang="ko-KR" dirty="0"/>
              <a:t>4. Result and Analysis</a:t>
            </a:r>
          </a:p>
          <a:p>
            <a:r>
              <a:rPr lang="en-US" altLang="ko-KR" dirty="0"/>
              <a:t>5. Conclusion	</a:t>
            </a:r>
          </a:p>
          <a:p>
            <a:pPr lvl="1"/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D4C24ED-5520-BD17-A25B-5FE2576E6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8620B-A437-4F0D-A730-8BB93955CBDE}" type="slidenum">
              <a:rPr lang="ko-KR" altLang="en-US" smtClean="0"/>
              <a:pPr/>
              <a:t>2</a:t>
            </a:fld>
            <a:r>
              <a:rPr lang="ko-KR" altLang="en-US" dirty="0"/>
              <a:t> </a:t>
            </a:r>
            <a:r>
              <a:rPr lang="en-US" altLang="ko-KR" dirty="0"/>
              <a:t>/ 15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571131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507A2965-5F77-309D-C914-C14C299CE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Introduction</a:t>
            </a:r>
          </a:p>
        </p:txBody>
      </p:sp>
      <p:sp>
        <p:nvSpPr>
          <p:cNvPr id="32" name="내용 개체 틀 1">
            <a:extLst>
              <a:ext uri="{FF2B5EF4-FFF2-40B4-BE49-F238E27FC236}">
                <a16:creationId xmlns:a16="http://schemas.microsoft.com/office/drawing/2014/main" id="{788B914E-8BA2-A95F-AA26-47E0E2987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57" y="587298"/>
            <a:ext cx="9729578" cy="618657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1. Objectives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+mn-lt"/>
              </a:rPr>
              <a:t>Learning-based Video Motion Magnification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2. Research Focus</a:t>
            </a:r>
          </a:p>
          <a:p>
            <a:pPr marL="639763" lvl="1" indent="-45720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Learning motion filters without hand-crafted temporal filters</a:t>
            </a:r>
          </a:p>
          <a:p>
            <a:pPr marL="639763" lvl="1" indent="-45720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sz="2000" dirty="0">
                <a:latin typeface="+mn-ea"/>
              </a:rPr>
              <a:t>End-to-end CNN model with 2D Conv (no temporal filter) </a:t>
            </a:r>
          </a:p>
          <a:p>
            <a:pPr marL="639763" lvl="1" indent="-45720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sz="2000" dirty="0">
                <a:latin typeface="+mn-ea"/>
              </a:rPr>
              <a:t>Supports both static &amp; dynamic motion modes</a:t>
            </a:r>
            <a:endParaRPr lang="en-US" altLang="ko-KR" sz="1800" dirty="0">
              <a:latin typeface="+mn-ea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93F4BA6-A460-158F-18DA-2826FBA15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8620B-A437-4F0D-A730-8BB93955CBDE}" type="slidenum">
              <a:rPr lang="ko-KR" altLang="en-US" smtClean="0"/>
              <a:pPr/>
              <a:t>3</a:t>
            </a:fld>
            <a:r>
              <a:rPr lang="ko-KR" altLang="en-US" dirty="0"/>
              <a:t> </a:t>
            </a:r>
            <a:r>
              <a:rPr lang="en-US" altLang="ko-KR" dirty="0"/>
              <a:t>/ 15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48528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9B842-C596-3D3E-48A0-683D398BB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00E05C3F-BE3B-9013-AA3B-DF050D0DD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Introduction</a:t>
            </a:r>
          </a:p>
        </p:txBody>
      </p:sp>
      <p:sp>
        <p:nvSpPr>
          <p:cNvPr id="32" name="내용 개체 틀 1">
            <a:extLst>
              <a:ext uri="{FF2B5EF4-FFF2-40B4-BE49-F238E27FC236}">
                <a16:creationId xmlns:a16="http://schemas.microsoft.com/office/drawing/2014/main" id="{2A31A099-0EF3-E650-C061-F3C2C01854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57" y="587298"/>
            <a:ext cx="9729578" cy="618657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3. Legacy Approaches : Eulerian video Magnification (Wu et al.)</a:t>
            </a:r>
          </a:p>
          <a:p>
            <a:pPr marL="639763" lvl="1" indent="-45720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dirty="0"/>
              <a:t>Bandpass filter + Laplacian pyramid </a:t>
            </a:r>
          </a:p>
          <a:p>
            <a:pPr marL="639763" lvl="1" indent="-45720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dirty="0"/>
              <a:t>Amplifies motion by processing pixel intensities over time </a:t>
            </a:r>
          </a:p>
          <a:p>
            <a:pPr marL="639763" lvl="1" indent="-45720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dirty="0"/>
              <a:t>Requires careful filter tuning</a:t>
            </a:r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388BB03-D970-8E8D-866F-141B8836C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8620B-A437-4F0D-A730-8BB93955CBDE}" type="slidenum">
              <a:rPr lang="ko-KR" altLang="en-US" smtClean="0"/>
              <a:pPr/>
              <a:t>4</a:t>
            </a:fld>
            <a:r>
              <a:rPr lang="ko-KR" altLang="en-US" dirty="0"/>
              <a:t> </a:t>
            </a:r>
            <a:r>
              <a:rPr lang="en-US" altLang="ko-KR" dirty="0"/>
              <a:t>/ 15</a:t>
            </a:r>
            <a:endParaRPr lang="ko-KR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E5F983B-456C-F322-9A99-AF188047F4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7" y="3275902"/>
            <a:ext cx="7575184" cy="2894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7A697D6-7E4F-9DE5-BC22-6B4CC0CBBA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1633" y="4014433"/>
            <a:ext cx="2157945" cy="14177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A2A2613-8852-F966-3837-266AB6A7FC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7095" y="2427274"/>
            <a:ext cx="3003826" cy="390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438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63F2B-1958-3F20-3819-66A20068D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CA2F001E-62A4-1B45-9B68-EE7CC2F9C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Introduction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내용 개체 틀 1">
                <a:extLst>
                  <a:ext uri="{FF2B5EF4-FFF2-40B4-BE49-F238E27FC236}">
                    <a16:creationId xmlns:a16="http://schemas.microsoft.com/office/drawing/2014/main" id="{A5F8FE6D-A11A-C68D-8053-DAB15EAD3C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557" y="587298"/>
                <a:ext cx="9729578" cy="6186574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dirty="0"/>
                  <a:t>4. Proposed Method : </a:t>
                </a:r>
                <a:r>
                  <a:rPr lang="en-US" altLang="ko-KR" dirty="0" err="1"/>
                  <a:t>DeepMag</a:t>
                </a:r>
                <a:r>
                  <a:rPr lang="en-US" altLang="ko-KR" dirty="0"/>
                  <a:t> (ECCV 2018)</a:t>
                </a:r>
              </a:p>
              <a:p>
                <a:pPr marL="639763" lvl="1" indent="-457200">
                  <a:lnSpc>
                    <a:spcPct val="100000"/>
                  </a:lnSpc>
                  <a:buFont typeface="+mj-ea"/>
                  <a:buAutoNum type="circleNumDbPlain"/>
                </a:pPr>
                <a:r>
                  <a:rPr lang="en-US" altLang="ko-KR" dirty="0"/>
                  <a:t>Learns motion features from synthetic motion-labeled images  </a:t>
                </a:r>
              </a:p>
              <a:p>
                <a:pPr marL="639763" lvl="1" indent="-457200">
                  <a:lnSpc>
                    <a:spcPct val="100000"/>
                  </a:lnSpc>
                  <a:buFont typeface="+mj-ea"/>
                  <a:buAutoNum type="circleNumDbPlain"/>
                </a:pPr>
                <a:r>
                  <a:rPr lang="en-US" altLang="ko-KR" dirty="0"/>
                  <a:t>No need for hand-crafted temporal filters  </a:t>
                </a:r>
              </a:p>
              <a:p>
                <a:pPr marL="639763" lvl="1" indent="-457200">
                  <a:lnSpc>
                    <a:spcPct val="100000"/>
                  </a:lnSpc>
                  <a:buFont typeface="+mj-ea"/>
                  <a:buAutoNum type="circleNumDbPlain"/>
                </a:pPr>
                <a:r>
                  <a:rPr lang="en-US" altLang="ko-KR" dirty="0"/>
                  <a:t>Lightweight 2D CNN model  </a:t>
                </a:r>
              </a:p>
              <a:p>
                <a:pPr marL="639763" lvl="1" indent="-457200">
                  <a:lnSpc>
                    <a:spcPct val="100000"/>
                  </a:lnSpc>
                  <a:buFont typeface="+mj-ea"/>
                  <a:buAutoNum type="circleNumDbPlain"/>
                </a:pPr>
                <a:r>
                  <a:rPr lang="en-US" altLang="ko-KR" dirty="0"/>
                  <a:t>Works with only 2 frames (static/dynamic mode)</a:t>
                </a:r>
              </a:p>
              <a:p>
                <a:pPr marL="639763" lvl="1" indent="-457200">
                  <a:lnSpc>
                    <a:spcPct val="100000"/>
                  </a:lnSpc>
                  <a:buFont typeface="+mj-ea"/>
                  <a:buAutoNum type="circleNumDbPlain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m</m:t>
                        </m:r>
                      </m:sub>
                    </m:sSub>
                    <m:d>
                      <m:dPr>
                        <m:ctrlPr>
                          <a:rPr lang="en-US" altLang="ko-KR" b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latin typeface="Cambria Math" panose="02040503050406030204" pitchFamily="18" charset="0"/>
                              </a:rPr>
                              <m:t>M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</m:sub>
                        </m:sSub>
                        <m:r>
                          <a:rPr lang="en-US" altLang="ko-KR" b="0" i="0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b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latin typeface="Cambria Math" panose="02040503050406030204" pitchFamily="18" charset="0"/>
                              </a:rPr>
                              <m:t>M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latin typeface="Cambria Math" panose="02040503050406030204" pitchFamily="18" charset="0"/>
                              </a:rPr>
                              <m:t>b</m:t>
                            </m:r>
                          </m:sub>
                        </m:sSub>
                        <m:r>
                          <a:rPr lang="en-US" altLang="ko-KR" b="0" i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ko-KR" altLang="en-US" b="0" i="0" smtClean="0"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d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altLang="ko-KR" b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+ </m:t>
                    </m:r>
                    <m:r>
                      <m:rPr>
                        <m:sty m:val="p"/>
                      </m:rPr>
                      <a:rPr lang="ko-KR" altLang="en-US" b="0" i="0" smtClean="0">
                        <a:latin typeface="Cambria Math" panose="02040503050406030204" pitchFamily="18" charset="0"/>
                      </a:rPr>
                      <m:t>α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b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b</m:t>
                        </m:r>
                      </m:sub>
                    </m:sSub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b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ko-KR" altLang="en-US" dirty="0"/>
              </a:p>
            </p:txBody>
          </p:sp>
        </mc:Choice>
        <mc:Fallback>
          <p:sp>
            <p:nvSpPr>
              <p:cNvPr id="32" name="내용 개체 틀 1">
                <a:extLst>
                  <a:ext uri="{FF2B5EF4-FFF2-40B4-BE49-F238E27FC236}">
                    <a16:creationId xmlns:a16="http://schemas.microsoft.com/office/drawing/2014/main" id="{A5F8FE6D-A11A-C68D-8053-DAB15EAD3C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557" y="587298"/>
                <a:ext cx="9729578" cy="6186574"/>
              </a:xfrm>
              <a:blipFill>
                <a:blip r:embed="rId3"/>
                <a:stretch>
                  <a:fillRect l="-75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F4FB01F-BAF4-C994-F4A0-E109AF76E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8620B-A437-4F0D-A730-8BB93955CBDE}" type="slidenum">
              <a:rPr lang="ko-KR" altLang="en-US" smtClean="0"/>
              <a:pPr/>
              <a:t>5</a:t>
            </a:fld>
            <a:r>
              <a:rPr lang="ko-KR" altLang="en-US" dirty="0"/>
              <a:t> </a:t>
            </a:r>
            <a:r>
              <a:rPr lang="en-US" altLang="ko-KR" dirty="0"/>
              <a:t>/ 15</a:t>
            </a:r>
            <a:endParaRPr lang="ko-KR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35FAD7-FF93-565E-A9E9-1FA2B0FD2E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356" y="3224519"/>
            <a:ext cx="8392564" cy="3193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2349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85675-3FEA-6CC0-812D-87986038E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6032BB20-3AD5-794B-429B-72A284B5D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Gantt chart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5C825BB-8B66-45F1-A0B7-136CBD108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8620B-A437-4F0D-A730-8BB93955CBDE}" type="slidenum">
              <a:rPr lang="ko-KR" altLang="en-US" smtClean="0"/>
              <a:pPr/>
              <a:t>6</a:t>
            </a:fld>
            <a:r>
              <a:rPr lang="ko-KR" altLang="en-US" dirty="0"/>
              <a:t> </a:t>
            </a:r>
            <a:r>
              <a:rPr lang="en-US" altLang="ko-KR" dirty="0"/>
              <a:t>/ 15</a:t>
            </a:r>
            <a:endParaRPr lang="ko-KR" alt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BC42286-BE32-2175-4A93-AA54E1BC19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8217353"/>
              </p:ext>
            </p:extLst>
          </p:nvPr>
        </p:nvGraphicFramePr>
        <p:xfrm>
          <a:off x="246354" y="1278780"/>
          <a:ext cx="9413291" cy="46782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9035">
                  <a:extLst>
                    <a:ext uri="{9D8B030D-6E8A-4147-A177-3AD203B41FA5}">
                      <a16:colId xmlns:a16="http://schemas.microsoft.com/office/drawing/2014/main" val="3970873885"/>
                    </a:ext>
                  </a:extLst>
                </a:gridCol>
                <a:gridCol w="713032">
                  <a:extLst>
                    <a:ext uri="{9D8B030D-6E8A-4147-A177-3AD203B41FA5}">
                      <a16:colId xmlns:a16="http://schemas.microsoft.com/office/drawing/2014/main" val="855267482"/>
                    </a:ext>
                  </a:extLst>
                </a:gridCol>
                <a:gridCol w="713032">
                  <a:extLst>
                    <a:ext uri="{9D8B030D-6E8A-4147-A177-3AD203B41FA5}">
                      <a16:colId xmlns:a16="http://schemas.microsoft.com/office/drawing/2014/main" val="4182672622"/>
                    </a:ext>
                  </a:extLst>
                </a:gridCol>
                <a:gridCol w="713032">
                  <a:extLst>
                    <a:ext uri="{9D8B030D-6E8A-4147-A177-3AD203B41FA5}">
                      <a16:colId xmlns:a16="http://schemas.microsoft.com/office/drawing/2014/main" val="2505224699"/>
                    </a:ext>
                  </a:extLst>
                </a:gridCol>
                <a:gridCol w="713032">
                  <a:extLst>
                    <a:ext uri="{9D8B030D-6E8A-4147-A177-3AD203B41FA5}">
                      <a16:colId xmlns:a16="http://schemas.microsoft.com/office/drawing/2014/main" val="1118137737"/>
                    </a:ext>
                  </a:extLst>
                </a:gridCol>
                <a:gridCol w="713032">
                  <a:extLst>
                    <a:ext uri="{9D8B030D-6E8A-4147-A177-3AD203B41FA5}">
                      <a16:colId xmlns:a16="http://schemas.microsoft.com/office/drawing/2014/main" val="2321747252"/>
                    </a:ext>
                  </a:extLst>
                </a:gridCol>
                <a:gridCol w="713032">
                  <a:extLst>
                    <a:ext uri="{9D8B030D-6E8A-4147-A177-3AD203B41FA5}">
                      <a16:colId xmlns:a16="http://schemas.microsoft.com/office/drawing/2014/main" val="3831305581"/>
                    </a:ext>
                  </a:extLst>
                </a:gridCol>
                <a:gridCol w="713032">
                  <a:extLst>
                    <a:ext uri="{9D8B030D-6E8A-4147-A177-3AD203B41FA5}">
                      <a16:colId xmlns:a16="http://schemas.microsoft.com/office/drawing/2014/main" val="3486438122"/>
                    </a:ext>
                  </a:extLst>
                </a:gridCol>
                <a:gridCol w="713032">
                  <a:extLst>
                    <a:ext uri="{9D8B030D-6E8A-4147-A177-3AD203B41FA5}">
                      <a16:colId xmlns:a16="http://schemas.microsoft.com/office/drawing/2014/main" val="3652681326"/>
                    </a:ext>
                  </a:extLst>
                </a:gridCol>
              </a:tblGrid>
              <a:tr h="345056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week1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week2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week3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Week4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8592226"/>
                  </a:ext>
                </a:extLst>
              </a:tr>
              <a:tr h="6160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논문 분석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771250"/>
                  </a:ext>
                </a:extLst>
              </a:tr>
              <a:tr h="6160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코드 실행 및 결과 분석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5886805"/>
                  </a:ext>
                </a:extLst>
              </a:tr>
              <a:tr h="6160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학습 데이터 파악 및 학습 재현</a:t>
                      </a:r>
                      <a:endParaRPr lang="en-US" altLang="ko-KR" sz="14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8030739"/>
                  </a:ext>
                </a:extLst>
              </a:tr>
              <a:tr h="6160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Code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구조 분석 및 모델 구조 이해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6950557"/>
                  </a:ext>
                </a:extLst>
              </a:tr>
              <a:tr h="6160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모션 감소 목적에 맞춘 모델 변경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1788799"/>
                  </a:ext>
                </a:extLst>
              </a:tr>
              <a:tr h="6160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네트워크 수정 및 재학습</a:t>
                      </a:r>
                      <a:endParaRPr lang="en-US" altLang="ko-KR" sz="1400" dirty="0"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손실함수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파라미터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2548000"/>
                  </a:ext>
                </a:extLst>
              </a:tr>
              <a:tr h="6160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결과 분석 및 디버깅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9696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E752A62-8C4C-B894-1D49-2EE2A197BE0C}"/>
              </a:ext>
            </a:extLst>
          </p:cNvPr>
          <p:cNvCxnSpPr>
            <a:cxnSpLocks/>
          </p:cNvCxnSpPr>
          <p:nvPr/>
        </p:nvCxnSpPr>
        <p:spPr>
          <a:xfrm flipV="1">
            <a:off x="5011520" y="5957030"/>
            <a:ext cx="0" cy="30478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801D543-F2F3-5BC8-DABD-0F65AA8E0E45}"/>
              </a:ext>
            </a:extLst>
          </p:cNvPr>
          <p:cNvSpPr txBox="1"/>
          <p:nvPr/>
        </p:nvSpPr>
        <p:spPr>
          <a:xfrm>
            <a:off x="4703674" y="6222239"/>
            <a:ext cx="10387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today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7682522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63F2B-1958-3F20-3819-66A20068D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CA2F001E-62A4-1B45-9B68-EE7CC2F9C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Implementation</a:t>
            </a:r>
          </a:p>
        </p:txBody>
      </p:sp>
      <p:sp>
        <p:nvSpPr>
          <p:cNvPr id="32" name="내용 개체 틀 1">
            <a:extLst>
              <a:ext uri="{FF2B5EF4-FFF2-40B4-BE49-F238E27FC236}">
                <a16:creationId xmlns:a16="http://schemas.microsoft.com/office/drawing/2014/main" id="{A5F8FE6D-A11A-C68D-8053-DAB15EAD3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57" y="587298"/>
            <a:ext cx="9729578" cy="618657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1. System Specifications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OS : Ubuntu 24.04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Device : </a:t>
            </a:r>
            <a:r>
              <a:rPr lang="en-US" altLang="ko-KR" sz="2000" dirty="0" err="1"/>
              <a:t>ESALab</a:t>
            </a:r>
            <a:r>
              <a:rPr lang="en-US" altLang="ko-KR" sz="2000" dirty="0"/>
              <a:t> Server (Xeon 4210, RTX2080 Ti, 62GB RAM)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Python Version : Python 3.6.13 (Docker : </a:t>
            </a:r>
            <a:r>
              <a:rPr lang="en-US" altLang="ko-KR" sz="2000" dirty="0" err="1"/>
              <a:t>deepmag</a:t>
            </a:r>
            <a:r>
              <a:rPr lang="en-US" altLang="ko-KR" sz="2000" dirty="0"/>
              <a:t>)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TensorFlow : 1.15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TensorFlow saved Model (</a:t>
            </a:r>
            <a:r>
              <a:rPr lang="pt-BR" altLang="ko-KR" sz="2000" dirty="0"/>
              <a:t>o3f_hmhm2_bg_qnoise_mix4_nl_n_t_ds3)</a:t>
            </a:r>
            <a:endParaRPr lang="en-US" altLang="ko-KR" sz="2000" dirty="0"/>
          </a:p>
          <a:p>
            <a:pPr lvl="2">
              <a:lnSpc>
                <a:spcPct val="150000"/>
              </a:lnSpc>
            </a:pPr>
            <a:r>
              <a:rPr lang="en-US" altLang="ko-KR" dirty="0"/>
              <a:t>Input : float32[batch, height, width, channels]	</a:t>
            </a:r>
          </a:p>
          <a:p>
            <a:pPr lvl="2">
              <a:lnSpc>
                <a:spcPct val="150000"/>
              </a:lnSpc>
            </a:pPr>
            <a:r>
              <a:rPr lang="en-US" altLang="ko-KR" dirty="0"/>
              <a:t>Output : float32[batch, height, width, channels]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Dataset</a:t>
            </a:r>
          </a:p>
          <a:p>
            <a:pPr lvl="2">
              <a:lnSpc>
                <a:spcPct val="150000"/>
              </a:lnSpc>
            </a:pPr>
            <a:r>
              <a:rPr kumimoji="1" lang="en-US" altLang="ko-KR" sz="1800" dirty="0"/>
              <a:t>Synthetic Dataset from MS COCO, PASCAL VOC</a:t>
            </a:r>
          </a:p>
          <a:p>
            <a:pPr lvl="2">
              <a:lnSpc>
                <a:spcPct val="150000"/>
              </a:lnSpc>
            </a:pPr>
            <a:r>
              <a:rPr kumimoji="1" lang="en-US" altLang="ko-KR" sz="1800" dirty="0"/>
              <a:t>Motion-labeled training pairs via synthetic transformation</a:t>
            </a:r>
            <a:endParaRPr lang="en-US" altLang="ko-KR" sz="1800" dirty="0"/>
          </a:p>
          <a:p>
            <a:pPr lvl="1">
              <a:lnSpc>
                <a:spcPct val="150000"/>
              </a:lnSpc>
            </a:pPr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F4FB01F-BAF4-C994-F4A0-E109AF76E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8620B-A437-4F0D-A730-8BB93955CBDE}" type="slidenum">
              <a:rPr lang="ko-KR" altLang="en-US" smtClean="0"/>
              <a:pPr/>
              <a:t>7</a:t>
            </a:fld>
            <a:r>
              <a:rPr lang="ko-KR" altLang="en-US" dirty="0"/>
              <a:t> </a:t>
            </a:r>
            <a:r>
              <a:rPr lang="en-US" altLang="ko-KR" dirty="0"/>
              <a:t>/ 15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751770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65BBF-5408-0F35-617C-B7166A3B7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45EC64A-0FB6-8E0F-1692-D0E6B947A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Implementation</a:t>
            </a:r>
          </a:p>
        </p:txBody>
      </p:sp>
      <p:sp>
        <p:nvSpPr>
          <p:cNvPr id="32" name="내용 개체 틀 1">
            <a:extLst>
              <a:ext uri="{FF2B5EF4-FFF2-40B4-BE49-F238E27FC236}">
                <a16:creationId xmlns:a16="http://schemas.microsoft.com/office/drawing/2014/main" id="{71CE551A-5E9D-57A4-4512-0A128EC481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57" y="587298"/>
            <a:ext cx="9729578" cy="94889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3. Training</a:t>
            </a:r>
            <a:endParaRPr lang="en-US" altLang="ko-KR" sz="200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C95A522-810D-EFEB-AF26-885EA0B20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8620B-A437-4F0D-A730-8BB93955CBDE}" type="slidenum">
              <a:rPr lang="ko-KR" altLang="en-US" smtClean="0"/>
              <a:pPr/>
              <a:t>8</a:t>
            </a:fld>
            <a:r>
              <a:rPr lang="ko-KR" altLang="en-US" dirty="0"/>
              <a:t> </a:t>
            </a:r>
            <a:r>
              <a:rPr lang="en-US" altLang="ko-KR" dirty="0"/>
              <a:t>/ 15</a:t>
            </a:r>
            <a:endParaRPr lang="ko-KR" alt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D1DF95B-F266-8A47-B6C2-105CD6C11B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1253183"/>
              </p:ext>
            </p:extLst>
          </p:nvPr>
        </p:nvGraphicFramePr>
        <p:xfrm>
          <a:off x="852679" y="1295121"/>
          <a:ext cx="8043333" cy="49078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65121">
                  <a:extLst>
                    <a:ext uri="{9D8B030D-6E8A-4147-A177-3AD203B41FA5}">
                      <a16:colId xmlns:a16="http://schemas.microsoft.com/office/drawing/2014/main" val="1703185561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4040557870"/>
                    </a:ext>
                  </a:extLst>
                </a:gridCol>
                <a:gridCol w="3358812">
                  <a:extLst>
                    <a:ext uri="{9D8B030D-6E8A-4147-A177-3AD203B41FA5}">
                      <a16:colId xmlns:a16="http://schemas.microsoft.com/office/drawing/2014/main" val="4000653405"/>
                    </a:ext>
                  </a:extLst>
                </a:gridCol>
              </a:tblGrid>
              <a:tr h="61348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Dataset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MS COCO 200,000</a:t>
                      </a:r>
                    </a:p>
                    <a:p>
                      <a:pPr algn="ctr" latinLnBrk="1"/>
                      <a:r>
                        <a:rPr lang="en-US" altLang="ko-KR" sz="1200" dirty="0"/>
                        <a:t>PASCAL VOC 7,000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배경 위에 </a:t>
                      </a:r>
                      <a:r>
                        <a:rPr lang="en-US" altLang="ko-KR" sz="1200" dirty="0"/>
                        <a:t>7~15</a:t>
                      </a:r>
                      <a:r>
                        <a:rPr lang="ko-KR" altLang="en-US" sz="1200" dirty="0"/>
                        <a:t>개 객체 합성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4872388"/>
                  </a:ext>
                </a:extLst>
              </a:tr>
              <a:tr h="61348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Image_size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384x384px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학습에 사용될 입력 이미지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3176537"/>
                  </a:ext>
                </a:extLst>
              </a:tr>
              <a:tr h="61348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Batch_size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4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한 번의 학습 스텝에서 처리할 샘플 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3040380"/>
                  </a:ext>
                </a:extLst>
              </a:tr>
              <a:tr h="61348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Learning rate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0.0001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학습률</a:t>
                      </a:r>
                      <a:r>
                        <a:rPr lang="en-US" altLang="ko-KR" sz="1200" dirty="0"/>
                        <a:t>, weight</a:t>
                      </a:r>
                      <a:r>
                        <a:rPr lang="ko-KR" altLang="en-US" sz="1200" dirty="0"/>
                        <a:t>를 얼마나 빠르게 업데이트할 지 결정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1619690"/>
                  </a:ext>
                </a:extLst>
              </a:tr>
              <a:tr h="61348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Poisson_noise_n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0.3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데이터 증강을 위한 포아송 노이즈의 세기</a:t>
                      </a:r>
                      <a:endParaRPr lang="en-US" altLang="ko-KR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6980560"/>
                  </a:ext>
                </a:extLst>
              </a:tr>
              <a:tr h="61348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Save_freq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1000step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몇 포인트마다 체크포인트를 저장할지 결정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9209341"/>
                  </a:ext>
                </a:extLst>
              </a:tr>
              <a:tr h="61348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Step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232,480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한개의 </a:t>
                      </a:r>
                      <a:r>
                        <a:rPr lang="en-US" altLang="ko-KR" sz="1200" dirty="0"/>
                        <a:t>batch</a:t>
                      </a:r>
                      <a:r>
                        <a:rPr lang="ko-KR" altLang="en-US" sz="1200" dirty="0"/>
                        <a:t>를 처리하고 파리미터를 업데이트한 횟수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8275584"/>
                  </a:ext>
                </a:extLst>
              </a:tr>
              <a:tr h="61348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epoch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232,480x4/200,000 = 4.65 epoch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전체 학습 데이터를 반복 학습한 횟수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80748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85940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B71A0-972F-B4EC-957A-0D8752955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278C0BC3-2898-5A22-9097-C2C3496BA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Implementation</a:t>
            </a:r>
          </a:p>
        </p:txBody>
      </p:sp>
      <p:sp>
        <p:nvSpPr>
          <p:cNvPr id="32" name="내용 개체 틀 1">
            <a:extLst>
              <a:ext uri="{FF2B5EF4-FFF2-40B4-BE49-F238E27FC236}">
                <a16:creationId xmlns:a16="http://schemas.microsoft.com/office/drawing/2014/main" id="{C3261F20-BB32-DDE3-BA8A-89E8B4145E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57" y="587298"/>
            <a:ext cx="9729578" cy="94889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3. Training – loss function</a:t>
            </a:r>
            <a:endParaRPr lang="en-US" altLang="ko-KR" sz="200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1E201C-856A-0A4A-F4C1-876B87D3A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8620B-A437-4F0D-A730-8BB93955CBDE}" type="slidenum">
              <a:rPr lang="ko-KR" altLang="en-US" smtClean="0"/>
              <a:pPr/>
              <a:t>9</a:t>
            </a:fld>
            <a:r>
              <a:rPr lang="ko-KR" altLang="en-US" dirty="0"/>
              <a:t> </a:t>
            </a:r>
            <a:r>
              <a:rPr lang="en-US" altLang="ko-KR" dirty="0"/>
              <a:t>/ 15</a:t>
            </a:r>
            <a:endParaRPr lang="ko-KR" altLang="en-US" dirty="0"/>
          </a:p>
        </p:txBody>
      </p:sp>
      <p:pic>
        <p:nvPicPr>
          <p:cNvPr id="7" name="Picture 6" descr="A child sitting on the sidewalk&#10;&#10;AI-generated content may be incorrect.">
            <a:extLst>
              <a:ext uri="{FF2B5EF4-FFF2-40B4-BE49-F238E27FC236}">
                <a16:creationId xmlns:a16="http://schemas.microsoft.com/office/drawing/2014/main" id="{25A71DDA-569B-DA76-9B24-9D7AC0FC70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2801" y="2128386"/>
            <a:ext cx="1444564" cy="1444564"/>
          </a:xfrm>
          <a:prstGeom prst="rect">
            <a:avLst/>
          </a:prstGeom>
        </p:spPr>
      </p:pic>
      <p:pic>
        <p:nvPicPr>
          <p:cNvPr id="9" name="Picture 8" descr="A child sitting on a street&#10;&#10;AI-generated content may be incorrect.">
            <a:extLst>
              <a:ext uri="{FF2B5EF4-FFF2-40B4-BE49-F238E27FC236}">
                <a16:creationId xmlns:a16="http://schemas.microsoft.com/office/drawing/2014/main" id="{4D8FB3CD-7B6F-BFE4-F18F-DBC3E175D81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460" y="1387910"/>
            <a:ext cx="1062720" cy="1062720"/>
          </a:xfrm>
          <a:prstGeom prst="rect">
            <a:avLst/>
          </a:prstGeom>
        </p:spPr>
      </p:pic>
      <p:pic>
        <p:nvPicPr>
          <p:cNvPr id="11" name="Picture 10" descr="A child sitting on a small bicycle in a city&#10;&#10;AI-generated content may be incorrect.">
            <a:extLst>
              <a:ext uri="{FF2B5EF4-FFF2-40B4-BE49-F238E27FC236}">
                <a16:creationId xmlns:a16="http://schemas.microsoft.com/office/drawing/2014/main" id="{C82D406E-3185-59E6-B1E6-A6857600B0C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460" y="3252559"/>
            <a:ext cx="1062720" cy="1062720"/>
          </a:xfrm>
          <a:prstGeom prst="rect">
            <a:avLst/>
          </a:prstGeom>
        </p:spPr>
      </p:pic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0D5317D-8DB2-57FC-8BFF-8B53EC06672C}"/>
              </a:ext>
            </a:extLst>
          </p:cNvPr>
          <p:cNvSpPr/>
          <p:nvPr/>
        </p:nvSpPr>
        <p:spPr>
          <a:xfrm>
            <a:off x="2358917" y="1653492"/>
            <a:ext cx="1360535" cy="239435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model</a:t>
            </a:r>
            <a:endParaRPr lang="ko-KR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3644BB3-EA7B-BA92-63C5-F612AD1ADDE9}"/>
                  </a:ext>
                </a:extLst>
              </p:cNvPr>
              <p:cNvSpPr txBox="1"/>
              <p:nvPr/>
            </p:nvSpPr>
            <p:spPr>
              <a:xfrm>
                <a:off x="494748" y="2382638"/>
                <a:ext cx="95930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3644BB3-EA7B-BA92-63C5-F612AD1ADD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748" y="2382638"/>
                <a:ext cx="95930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BC3D0B5-6036-816A-61A5-BCE121796DE0}"/>
                  </a:ext>
                </a:extLst>
              </p:cNvPr>
              <p:cNvSpPr txBox="1"/>
              <p:nvPr/>
            </p:nvSpPr>
            <p:spPr>
              <a:xfrm>
                <a:off x="494748" y="4261423"/>
                <a:ext cx="95930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BC3D0B5-6036-816A-61A5-BCE121796D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748" y="4261423"/>
                <a:ext cx="959305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CF19527-DAD4-8688-7B0D-30C3876C157F}"/>
              </a:ext>
            </a:extLst>
          </p:cNvPr>
          <p:cNvCxnSpPr>
            <a:cxnSpLocks/>
          </p:cNvCxnSpPr>
          <p:nvPr/>
        </p:nvCxnSpPr>
        <p:spPr>
          <a:xfrm>
            <a:off x="1480677" y="2067552"/>
            <a:ext cx="87811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CBDA832-24E7-30D4-D1F6-A76A73A55A6F}"/>
              </a:ext>
            </a:extLst>
          </p:cNvPr>
          <p:cNvCxnSpPr>
            <a:cxnSpLocks/>
          </p:cNvCxnSpPr>
          <p:nvPr/>
        </p:nvCxnSpPr>
        <p:spPr>
          <a:xfrm>
            <a:off x="1507241" y="3783919"/>
            <a:ext cx="85155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4DD9343-688E-C30D-351B-6590A144DEE9}"/>
              </a:ext>
            </a:extLst>
          </p:cNvPr>
          <p:cNvCxnSpPr>
            <a:cxnSpLocks/>
            <a:stCxn id="18" idx="3"/>
            <a:endCxn id="27" idx="1"/>
          </p:cNvCxnSpPr>
          <p:nvPr/>
        </p:nvCxnSpPr>
        <p:spPr>
          <a:xfrm>
            <a:off x="3719452" y="2850668"/>
            <a:ext cx="94985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Picture 26" descr="A child sitting on the sidewalk&#10;&#10;AI-generated content may be incorrect.">
            <a:extLst>
              <a:ext uri="{FF2B5EF4-FFF2-40B4-BE49-F238E27FC236}">
                <a16:creationId xmlns:a16="http://schemas.microsoft.com/office/drawing/2014/main" id="{72F646D1-013E-F5CA-83CD-B3DBEA70DD4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9304" y="2128386"/>
            <a:ext cx="1444564" cy="144456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088D1AD-430B-0B62-BFA0-B615313CC20F}"/>
                  </a:ext>
                </a:extLst>
              </p:cNvPr>
              <p:cNvSpPr txBox="1"/>
              <p:nvPr/>
            </p:nvSpPr>
            <p:spPr>
              <a:xfrm>
                <a:off x="4915995" y="3510467"/>
                <a:ext cx="959305" cy="3767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acc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088D1AD-430B-0B62-BFA0-B615313CC2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5995" y="3510467"/>
                <a:ext cx="959305" cy="37677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3C04C1C-9392-58CD-2CCE-3233D53F49BC}"/>
                  </a:ext>
                </a:extLst>
              </p:cNvPr>
              <p:cNvSpPr txBox="1"/>
              <p:nvPr/>
            </p:nvSpPr>
            <p:spPr>
              <a:xfrm>
                <a:off x="7425430" y="3510467"/>
                <a:ext cx="959305" cy="3767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3C04C1C-9392-58CD-2CCE-3233D53F49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5430" y="3510467"/>
                <a:ext cx="959305" cy="37677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10A8238D-ECB8-CFBD-DA95-D3FC3ABD2C01}"/>
              </a:ext>
            </a:extLst>
          </p:cNvPr>
          <p:cNvCxnSpPr>
            <a:stCxn id="34" idx="2"/>
            <a:endCxn id="35" idx="2"/>
          </p:cNvCxnSpPr>
          <p:nvPr/>
        </p:nvCxnSpPr>
        <p:spPr>
          <a:xfrm rot="16200000" flipH="1">
            <a:off x="6650365" y="2632519"/>
            <a:ext cx="12700" cy="2509435"/>
          </a:xfrm>
          <a:prstGeom prst="curvedConnector3">
            <a:avLst>
              <a:gd name="adj1" fmla="val 3504362"/>
            </a:avLst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FD68B8D5-738A-20FB-C962-B538CAB52EBD}"/>
              </a:ext>
            </a:extLst>
          </p:cNvPr>
          <p:cNvSpPr txBox="1"/>
          <p:nvPr/>
        </p:nvSpPr>
        <p:spPr>
          <a:xfrm>
            <a:off x="6224104" y="4301906"/>
            <a:ext cx="15846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Loss function</a:t>
            </a:r>
            <a:endParaRPr lang="ko-KR" altLang="en-US" sz="1100" dirty="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E7BDFF4F-A6C0-7B1B-EF26-7AA0C3222014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7749"/>
          <a:stretch>
            <a:fillRect/>
          </a:stretch>
        </p:blipFill>
        <p:spPr>
          <a:xfrm>
            <a:off x="1004237" y="5442708"/>
            <a:ext cx="7330133" cy="393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5441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7ABFB-E710-D6DA-D349-EFADD2C1B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5A341009-D3C8-5832-E69C-A9B51D3A7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Implementation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CFAAC5B-21A5-3149-DEF6-F7A63AA97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8620B-A437-4F0D-A730-8BB93955CBDE}" type="slidenum">
              <a:rPr lang="ko-KR" altLang="en-US" smtClean="0"/>
              <a:pPr/>
              <a:t>10</a:t>
            </a:fld>
            <a:r>
              <a:rPr lang="ko-KR" altLang="en-US" dirty="0"/>
              <a:t> </a:t>
            </a:r>
            <a:r>
              <a:rPr lang="en-US" altLang="ko-KR" dirty="0"/>
              <a:t>/ 15</a:t>
            </a:r>
            <a:endParaRPr lang="ko-KR" alt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672040CA-60CA-BBCA-5382-E942435C57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7005" y="3934501"/>
            <a:ext cx="9906000" cy="183955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81207E7-8231-880E-36E2-25EAC68EF984}"/>
              </a:ext>
            </a:extLst>
          </p:cNvPr>
          <p:cNvSpPr txBox="1"/>
          <p:nvPr/>
        </p:nvSpPr>
        <p:spPr>
          <a:xfrm>
            <a:off x="9557" y="3680585"/>
            <a:ext cx="48947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loss</a:t>
            </a:r>
            <a:endParaRPr lang="ko-KR" altLang="en-US" sz="105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67ACE3C-E5D4-4045-25EC-10921A27995B}"/>
              </a:ext>
            </a:extLst>
          </p:cNvPr>
          <p:cNvSpPr txBox="1"/>
          <p:nvPr/>
        </p:nvSpPr>
        <p:spPr>
          <a:xfrm>
            <a:off x="9489306" y="5729347"/>
            <a:ext cx="5610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step</a:t>
            </a:r>
            <a:endParaRPr lang="ko-KR" altLang="en-US" sz="1100" dirty="0"/>
          </a:p>
        </p:txBody>
      </p:sp>
      <p:sp>
        <p:nvSpPr>
          <p:cNvPr id="12" name="내용 개체 틀 1">
            <a:extLst>
              <a:ext uri="{FF2B5EF4-FFF2-40B4-BE49-F238E27FC236}">
                <a16:creationId xmlns:a16="http://schemas.microsoft.com/office/drawing/2014/main" id="{425B35C4-AFD4-3D70-9AF0-71A2978E2E7D}"/>
              </a:ext>
            </a:extLst>
          </p:cNvPr>
          <p:cNvSpPr txBox="1">
            <a:spLocks/>
          </p:cNvSpPr>
          <p:nvPr/>
        </p:nvSpPr>
        <p:spPr>
          <a:xfrm>
            <a:off x="0" y="587298"/>
            <a:ext cx="9729578" cy="61865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563" indent="-182563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bg1"/>
              </a:buClr>
              <a:buFont typeface="Arial" panose="020B0604020202020204" pitchFamily="34" charset="0"/>
              <a:buChar char="•"/>
              <a:defRPr sz="22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38163" indent="-355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2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719138" indent="-2730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984250" indent="-2667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dirty="0"/>
              <a:t>3. Training - result</a:t>
            </a:r>
            <a:endParaRPr lang="en-US" altLang="ko-KR" sz="2000" dirty="0"/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Total Steps: 232,480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Total time : 14H</a:t>
            </a:r>
          </a:p>
          <a:p>
            <a:pPr marL="182563" lvl="1" indent="0">
              <a:lnSpc>
                <a:spcPct val="100000"/>
              </a:lnSpc>
              <a:buNone/>
            </a:pPr>
            <a:endParaRPr lang="en-US" altLang="ko-KR" dirty="0"/>
          </a:p>
          <a:p>
            <a:pPr marL="182563" lvl="1" indent="0">
              <a:lnSpc>
                <a:spcPct val="100000"/>
              </a:lnSpc>
              <a:buNone/>
            </a:pPr>
            <a:r>
              <a:rPr lang="en-US" altLang="ko-KR" dirty="0"/>
              <a:t>Initial loss start around 0.3</a:t>
            </a:r>
          </a:p>
          <a:p>
            <a:pPr marL="182563" lvl="1" indent="0">
              <a:lnSpc>
                <a:spcPct val="100000"/>
              </a:lnSpc>
              <a:buNone/>
            </a:pPr>
            <a:r>
              <a:rPr lang="en-US" altLang="ko-KR" dirty="0"/>
              <a:t>Rapid decrease in early step(0-30K)</a:t>
            </a:r>
          </a:p>
          <a:p>
            <a:pPr marL="182563" lvl="1" indent="0">
              <a:lnSpc>
                <a:spcPct val="100000"/>
              </a:lnSpc>
              <a:buNone/>
            </a:pPr>
            <a:r>
              <a:rPr lang="en-US" altLang="ko-KR" dirty="0"/>
              <a:t>Stabilized between 0.07-0.09 after ~40k steps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5CF27E7-1F2E-9A79-D856-6AA45CE530E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386"/>
          <a:stretch>
            <a:fillRect/>
          </a:stretch>
        </p:blipFill>
        <p:spPr>
          <a:xfrm>
            <a:off x="8552743" y="3556000"/>
            <a:ext cx="1257300" cy="378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0183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BAB46-8A73-99F1-F3BB-4078C8DEE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024434A-81ED-0047-14D3-EDBF9C44A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Implementation</a:t>
            </a:r>
          </a:p>
        </p:txBody>
      </p:sp>
      <p:sp>
        <p:nvSpPr>
          <p:cNvPr id="32" name="내용 개체 틀 1">
            <a:extLst>
              <a:ext uri="{FF2B5EF4-FFF2-40B4-BE49-F238E27FC236}">
                <a16:creationId xmlns:a16="http://schemas.microsoft.com/office/drawing/2014/main" id="{B3CEF6B5-4E80-D896-90CC-E311DF4352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57" y="587299"/>
            <a:ext cx="9729578" cy="54655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2. inference</a:t>
            </a:r>
            <a:endParaRPr lang="en-US" altLang="ko-KR" sz="200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EC454E2-52A0-ECF1-7EF4-B5B103B77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8620B-A437-4F0D-A730-8BB93955CBDE}" type="slidenum">
              <a:rPr lang="ko-KR" altLang="en-US" smtClean="0"/>
              <a:pPr/>
              <a:t>11</a:t>
            </a:fld>
            <a:r>
              <a:rPr lang="ko-KR" altLang="en-US" dirty="0"/>
              <a:t> </a:t>
            </a:r>
            <a:r>
              <a:rPr lang="en-US" altLang="ko-KR" dirty="0"/>
              <a:t>/ 15</a:t>
            </a:r>
            <a:endParaRPr lang="ko-KR" alt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B8B58C5-848A-FDA7-A316-B9A39047124A}"/>
              </a:ext>
            </a:extLst>
          </p:cNvPr>
          <p:cNvCxnSpPr>
            <a:cxnSpLocks/>
          </p:cNvCxnSpPr>
          <p:nvPr/>
        </p:nvCxnSpPr>
        <p:spPr>
          <a:xfrm>
            <a:off x="1230987" y="2065122"/>
            <a:ext cx="43159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5EC2BFE-17F2-377F-8626-5FF5E1E56690}"/>
              </a:ext>
            </a:extLst>
          </p:cNvPr>
          <p:cNvSpPr/>
          <p:nvPr/>
        </p:nvSpPr>
        <p:spPr>
          <a:xfrm>
            <a:off x="5387704" y="2039581"/>
            <a:ext cx="1000150" cy="74714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000.PNG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2109ADA-F65F-E589-241B-456BEA5878C3}"/>
              </a:ext>
            </a:extLst>
          </p:cNvPr>
          <p:cNvSpPr/>
          <p:nvPr/>
        </p:nvSpPr>
        <p:spPr>
          <a:xfrm>
            <a:off x="6850543" y="2039581"/>
            <a:ext cx="1000150" cy="74714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001.PNG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C2FEEDB5-F68A-D58A-9502-23FC9354A1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9581478"/>
              </p:ext>
            </p:extLst>
          </p:nvPr>
        </p:nvGraphicFramePr>
        <p:xfrm>
          <a:off x="1759459" y="1836926"/>
          <a:ext cx="145796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400994891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88048344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84291026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16883285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34781366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52637924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172981804"/>
                    </a:ext>
                  </a:extLst>
                </a:gridCol>
              </a:tblGrid>
              <a:tr h="349294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6918314"/>
                  </a:ext>
                </a:extLst>
              </a:tr>
            </a:tbl>
          </a:graphicData>
        </a:graphic>
      </p:graphicFrame>
      <p:pic>
        <p:nvPicPr>
          <p:cNvPr id="2050" name="Picture 2" descr="동영상 - 무료 환대개 아이콘">
            <a:extLst>
              <a:ext uri="{FF2B5EF4-FFF2-40B4-BE49-F238E27FC236}">
                <a16:creationId xmlns:a16="http://schemas.microsoft.com/office/drawing/2014/main" id="{1D7B711C-DB78-7C41-3B30-694FBA1C10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131" y="1424736"/>
            <a:ext cx="893977" cy="893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4C27482-5F52-453A-CED5-2455B27DFAD1}"/>
              </a:ext>
            </a:extLst>
          </p:cNvPr>
          <p:cNvSpPr txBox="1"/>
          <p:nvPr/>
        </p:nvSpPr>
        <p:spPr>
          <a:xfrm>
            <a:off x="257454" y="2238449"/>
            <a:ext cx="1558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Baby.mp4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4B0D586-ADC0-AEAE-3E5F-AC5DAFD7971E}"/>
              </a:ext>
            </a:extLst>
          </p:cNvPr>
          <p:cNvSpPr txBox="1"/>
          <p:nvPr/>
        </p:nvSpPr>
        <p:spPr>
          <a:xfrm>
            <a:off x="1733500" y="2309975"/>
            <a:ext cx="14045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dirty="0"/>
              <a:t>00%d.PNG</a:t>
            </a:r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929A9DA-2C4E-1874-37D2-CAA6E6BE4BDA}"/>
              </a:ext>
            </a:extLst>
          </p:cNvPr>
          <p:cNvSpPr txBox="1"/>
          <p:nvPr/>
        </p:nvSpPr>
        <p:spPr>
          <a:xfrm>
            <a:off x="3267838" y="4707504"/>
            <a:ext cx="3952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…</a:t>
            </a:r>
            <a:endParaRPr lang="ko-KR" altLang="en-US" sz="24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7F6AFCA-5615-ABD8-4590-0F5C47EE6A3A}"/>
              </a:ext>
            </a:extLst>
          </p:cNvPr>
          <p:cNvSpPr/>
          <p:nvPr/>
        </p:nvSpPr>
        <p:spPr>
          <a:xfrm>
            <a:off x="4337360" y="1608277"/>
            <a:ext cx="4750613" cy="386974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880B2C0-776A-73B9-E4A2-C49941CDF369}"/>
              </a:ext>
            </a:extLst>
          </p:cNvPr>
          <p:cNvSpPr/>
          <p:nvPr/>
        </p:nvSpPr>
        <p:spPr>
          <a:xfrm>
            <a:off x="4565655" y="1941525"/>
            <a:ext cx="4346754" cy="94325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AE249A9-2FE2-1C89-CDCC-EBDDE528B116}"/>
              </a:ext>
            </a:extLst>
          </p:cNvPr>
          <p:cNvSpPr txBox="1"/>
          <p:nvPr/>
        </p:nvSpPr>
        <p:spPr>
          <a:xfrm>
            <a:off x="7976063" y="1608277"/>
            <a:ext cx="1938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Encoder</a:t>
            </a:r>
            <a:endParaRPr lang="ko-KR" altLang="en-US" dirty="0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9E6DCAD3-AB75-DDDC-6C8E-19A1E0457407}"/>
              </a:ext>
            </a:extLst>
          </p:cNvPr>
          <p:cNvCxnSpPr/>
          <p:nvPr/>
        </p:nvCxnSpPr>
        <p:spPr>
          <a:xfrm>
            <a:off x="1846271" y="1521562"/>
            <a:ext cx="0" cy="31536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03F7286E-0E7D-0693-DC15-B19275BDDEB2}"/>
              </a:ext>
            </a:extLst>
          </p:cNvPr>
          <p:cNvCxnSpPr/>
          <p:nvPr/>
        </p:nvCxnSpPr>
        <p:spPr>
          <a:xfrm>
            <a:off x="2087673" y="1521562"/>
            <a:ext cx="0" cy="31536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32984475-2C30-F30F-55C6-11F40227C2E8}"/>
              </a:ext>
            </a:extLst>
          </p:cNvPr>
          <p:cNvCxnSpPr/>
          <p:nvPr/>
        </p:nvCxnSpPr>
        <p:spPr>
          <a:xfrm>
            <a:off x="1846271" y="1521562"/>
            <a:ext cx="241402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0870F6DC-5EB0-C82A-08C2-8AD89D6F354E}"/>
              </a:ext>
            </a:extLst>
          </p:cNvPr>
          <p:cNvCxnSpPr>
            <a:cxnSpLocks/>
          </p:cNvCxnSpPr>
          <p:nvPr/>
        </p:nvCxnSpPr>
        <p:spPr>
          <a:xfrm>
            <a:off x="3732785" y="2065122"/>
            <a:ext cx="83287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2BAE0F05-1E0C-1671-3F6E-77F1DC0B6BD9}"/>
              </a:ext>
            </a:extLst>
          </p:cNvPr>
          <p:cNvSpPr/>
          <p:nvPr/>
        </p:nvSpPr>
        <p:spPr>
          <a:xfrm>
            <a:off x="5449823" y="3501594"/>
            <a:ext cx="3462585" cy="80706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806DF91-14B1-9B17-D09D-9EEB50616AC4}"/>
              </a:ext>
            </a:extLst>
          </p:cNvPr>
          <p:cNvSpPr txBox="1"/>
          <p:nvPr/>
        </p:nvSpPr>
        <p:spPr>
          <a:xfrm>
            <a:off x="7567214" y="3132261"/>
            <a:ext cx="1460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Manipulator</a:t>
            </a:r>
            <a:endParaRPr lang="ko-KR" altLang="en-US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6CC56D6-3A51-B2E2-2559-04AB9AAE2CDC}"/>
              </a:ext>
            </a:extLst>
          </p:cNvPr>
          <p:cNvSpPr txBox="1"/>
          <p:nvPr/>
        </p:nvSpPr>
        <p:spPr>
          <a:xfrm>
            <a:off x="6847277" y="3101483"/>
            <a:ext cx="66767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Shape </a:t>
            </a:r>
            <a:r>
              <a:rPr lang="en-US" altLang="ko-KR" sz="1100" dirty="0" err="1"/>
              <a:t>repr</a:t>
            </a:r>
            <a:r>
              <a:rPr lang="en-US" altLang="ko-KR" sz="1100" dirty="0"/>
              <a:t>.</a:t>
            </a:r>
            <a:endParaRPr lang="ko-KR" altLang="en-US" sz="11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F77542F-2D80-C5AA-1044-0247B797D3DC}"/>
              </a:ext>
            </a:extLst>
          </p:cNvPr>
          <p:cNvSpPr txBox="1"/>
          <p:nvPr/>
        </p:nvSpPr>
        <p:spPr>
          <a:xfrm>
            <a:off x="5380554" y="3102744"/>
            <a:ext cx="66767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Shape </a:t>
            </a:r>
            <a:r>
              <a:rPr lang="en-US" altLang="ko-KR" sz="1100" dirty="0" err="1"/>
              <a:t>repr</a:t>
            </a:r>
            <a:r>
              <a:rPr lang="en-US" altLang="ko-KR" sz="1100" dirty="0"/>
              <a:t>.</a:t>
            </a:r>
            <a:endParaRPr lang="ko-KR" altLang="en-US" sz="1100" dirty="0"/>
          </a:p>
        </p:txBody>
      </p:sp>
      <p:sp>
        <p:nvSpPr>
          <p:cNvPr id="2048" name="Rectangle 2047">
            <a:extLst>
              <a:ext uri="{FF2B5EF4-FFF2-40B4-BE49-F238E27FC236}">
                <a16:creationId xmlns:a16="http://schemas.microsoft.com/office/drawing/2014/main" id="{153C7ED7-6FB7-6BD7-425F-98AF29013CDD}"/>
              </a:ext>
            </a:extLst>
          </p:cNvPr>
          <p:cNvSpPr/>
          <p:nvPr/>
        </p:nvSpPr>
        <p:spPr>
          <a:xfrm>
            <a:off x="4565655" y="4656245"/>
            <a:ext cx="4346754" cy="7408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49" name="TextBox 2048">
            <a:extLst>
              <a:ext uri="{FF2B5EF4-FFF2-40B4-BE49-F238E27FC236}">
                <a16:creationId xmlns:a16="http://schemas.microsoft.com/office/drawing/2014/main" id="{A683C273-3618-3092-0D54-87E04D1D5C22}"/>
              </a:ext>
            </a:extLst>
          </p:cNvPr>
          <p:cNvSpPr txBox="1"/>
          <p:nvPr/>
        </p:nvSpPr>
        <p:spPr>
          <a:xfrm>
            <a:off x="7976063" y="4338172"/>
            <a:ext cx="1460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Decoder</a:t>
            </a:r>
            <a:endParaRPr lang="ko-KR" altLang="en-US" dirty="0"/>
          </a:p>
        </p:txBody>
      </p:sp>
      <p:cxnSp>
        <p:nvCxnSpPr>
          <p:cNvPr id="2054" name="Connector: Elbow 2053">
            <a:extLst>
              <a:ext uri="{FF2B5EF4-FFF2-40B4-BE49-F238E27FC236}">
                <a16:creationId xmlns:a16="http://schemas.microsoft.com/office/drawing/2014/main" id="{BD58BC27-BA25-5F05-3630-0B6AD8077655}"/>
              </a:ext>
            </a:extLst>
          </p:cNvPr>
          <p:cNvCxnSpPr>
            <a:cxnSpLocks/>
          </p:cNvCxnSpPr>
          <p:nvPr/>
        </p:nvCxnSpPr>
        <p:spPr>
          <a:xfrm rot="5400000">
            <a:off x="4273933" y="3351101"/>
            <a:ext cx="1771462" cy="838825"/>
          </a:xfrm>
          <a:prstGeom prst="bentConnector3">
            <a:avLst>
              <a:gd name="adj1" fmla="val 1198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4" name="Straight Arrow Connector 2073">
            <a:extLst>
              <a:ext uri="{FF2B5EF4-FFF2-40B4-BE49-F238E27FC236}">
                <a16:creationId xmlns:a16="http://schemas.microsoft.com/office/drawing/2014/main" id="{B1B0EC8E-238E-9FC9-282A-50A928517CFA}"/>
              </a:ext>
            </a:extLst>
          </p:cNvPr>
          <p:cNvCxnSpPr>
            <a:cxnSpLocks/>
            <a:endCxn id="53" idx="3"/>
          </p:cNvCxnSpPr>
          <p:nvPr/>
        </p:nvCxnSpPr>
        <p:spPr>
          <a:xfrm flipH="1">
            <a:off x="8912408" y="3905124"/>
            <a:ext cx="42178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7" name="TextBox 2076">
            <a:extLst>
              <a:ext uri="{FF2B5EF4-FFF2-40B4-BE49-F238E27FC236}">
                <a16:creationId xmlns:a16="http://schemas.microsoft.com/office/drawing/2014/main" id="{B5F7BD63-B460-8D71-96D3-36FBF40D16A2}"/>
              </a:ext>
            </a:extLst>
          </p:cNvPr>
          <p:cNvSpPr txBox="1"/>
          <p:nvPr/>
        </p:nvSpPr>
        <p:spPr>
          <a:xfrm>
            <a:off x="9318680" y="3648581"/>
            <a:ext cx="8507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altLang="ko-KR" sz="2400" dirty="0"/>
              <a:t>α</a:t>
            </a:r>
            <a:endParaRPr lang="ko-KR" altLang="en-US" sz="2400" dirty="0"/>
          </a:p>
        </p:txBody>
      </p:sp>
      <p:sp>
        <p:nvSpPr>
          <p:cNvPr id="2078" name="TextBox 2077">
            <a:extLst>
              <a:ext uri="{FF2B5EF4-FFF2-40B4-BE49-F238E27FC236}">
                <a16:creationId xmlns:a16="http://schemas.microsoft.com/office/drawing/2014/main" id="{AD681EE0-DAE1-B2E9-7F56-AEE8B8BF21DC}"/>
              </a:ext>
            </a:extLst>
          </p:cNvPr>
          <p:cNvSpPr txBox="1"/>
          <p:nvPr/>
        </p:nvSpPr>
        <p:spPr>
          <a:xfrm>
            <a:off x="4702677" y="4265819"/>
            <a:ext cx="66767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Texture </a:t>
            </a:r>
            <a:r>
              <a:rPr lang="en-US" altLang="ko-KR" sz="1100" dirty="0" err="1"/>
              <a:t>repr</a:t>
            </a:r>
            <a:r>
              <a:rPr lang="en-US" altLang="ko-KR" sz="1100" dirty="0"/>
              <a:t>.</a:t>
            </a:r>
            <a:endParaRPr lang="ko-KR" altLang="en-US" sz="1100" dirty="0"/>
          </a:p>
        </p:txBody>
      </p:sp>
      <p:cxnSp>
        <p:nvCxnSpPr>
          <p:cNvPr id="2082" name="Straight Arrow Connector 2081">
            <a:extLst>
              <a:ext uri="{FF2B5EF4-FFF2-40B4-BE49-F238E27FC236}">
                <a16:creationId xmlns:a16="http://schemas.microsoft.com/office/drawing/2014/main" id="{43D599AC-F9E2-6A2A-B23B-55EEE4AA6668}"/>
              </a:ext>
            </a:extLst>
          </p:cNvPr>
          <p:cNvCxnSpPr>
            <a:cxnSpLocks/>
            <a:stCxn id="2048" idx="1"/>
          </p:cNvCxnSpPr>
          <p:nvPr/>
        </p:nvCxnSpPr>
        <p:spPr>
          <a:xfrm flipH="1">
            <a:off x="3732785" y="5026670"/>
            <a:ext cx="83287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84" name="Table 2083">
            <a:extLst>
              <a:ext uri="{FF2B5EF4-FFF2-40B4-BE49-F238E27FC236}">
                <a16:creationId xmlns:a16="http://schemas.microsoft.com/office/drawing/2014/main" id="{475A1614-3DCF-3FAD-986D-AE7A848E25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1627942"/>
              </p:ext>
            </p:extLst>
          </p:nvPr>
        </p:nvGraphicFramePr>
        <p:xfrm>
          <a:off x="1815590" y="4857359"/>
          <a:ext cx="145796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400994891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88048344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84291026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16883285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34781366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52637924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172981804"/>
                    </a:ext>
                  </a:extLst>
                </a:gridCol>
              </a:tblGrid>
              <a:tr h="349294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6918314"/>
                  </a:ext>
                </a:extLst>
              </a:tr>
            </a:tbl>
          </a:graphicData>
        </a:graphic>
      </p:graphicFrame>
      <p:sp>
        <p:nvSpPr>
          <p:cNvPr id="2085" name="TextBox 2084">
            <a:extLst>
              <a:ext uri="{FF2B5EF4-FFF2-40B4-BE49-F238E27FC236}">
                <a16:creationId xmlns:a16="http://schemas.microsoft.com/office/drawing/2014/main" id="{F70D60A2-1C58-B652-4821-6CF96EDD82A3}"/>
              </a:ext>
            </a:extLst>
          </p:cNvPr>
          <p:cNvSpPr txBox="1"/>
          <p:nvPr/>
        </p:nvSpPr>
        <p:spPr>
          <a:xfrm>
            <a:off x="1734058" y="5193417"/>
            <a:ext cx="16566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Magnified frame</a:t>
            </a:r>
            <a:endParaRPr lang="ko-KR" altLang="en-US" sz="1400" dirty="0"/>
          </a:p>
        </p:txBody>
      </p:sp>
      <p:cxnSp>
        <p:nvCxnSpPr>
          <p:cNvPr id="2087" name="Straight Connector 2086">
            <a:extLst>
              <a:ext uri="{FF2B5EF4-FFF2-40B4-BE49-F238E27FC236}">
                <a16:creationId xmlns:a16="http://schemas.microsoft.com/office/drawing/2014/main" id="{54BA29F1-A49A-BD9D-211C-D31226EB9D8F}"/>
              </a:ext>
            </a:extLst>
          </p:cNvPr>
          <p:cNvCxnSpPr/>
          <p:nvPr/>
        </p:nvCxnSpPr>
        <p:spPr>
          <a:xfrm>
            <a:off x="3171950" y="4856513"/>
            <a:ext cx="27432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8" name="Straight Connector 2087">
            <a:extLst>
              <a:ext uri="{FF2B5EF4-FFF2-40B4-BE49-F238E27FC236}">
                <a16:creationId xmlns:a16="http://schemas.microsoft.com/office/drawing/2014/main" id="{92133C7B-6B6E-A3D8-6946-FD190702CB8A}"/>
              </a:ext>
            </a:extLst>
          </p:cNvPr>
          <p:cNvCxnSpPr/>
          <p:nvPr/>
        </p:nvCxnSpPr>
        <p:spPr>
          <a:xfrm>
            <a:off x="3171950" y="5224390"/>
            <a:ext cx="27432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4" name="Oval 2093">
            <a:extLst>
              <a:ext uri="{FF2B5EF4-FFF2-40B4-BE49-F238E27FC236}">
                <a16:creationId xmlns:a16="http://schemas.microsoft.com/office/drawing/2014/main" id="{4099BCF2-6134-3081-534A-F472C6A27962}"/>
              </a:ext>
            </a:extLst>
          </p:cNvPr>
          <p:cNvSpPr/>
          <p:nvPr/>
        </p:nvSpPr>
        <p:spPr>
          <a:xfrm>
            <a:off x="7176806" y="3756454"/>
            <a:ext cx="347623" cy="35379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chemeClr val="tx1"/>
                </a:solidFill>
              </a:rPr>
              <a:t>ㅡ</a:t>
            </a:r>
          </a:p>
        </p:txBody>
      </p:sp>
      <p:cxnSp>
        <p:nvCxnSpPr>
          <p:cNvPr id="2096" name="Straight Connector 2095">
            <a:extLst>
              <a:ext uri="{FF2B5EF4-FFF2-40B4-BE49-F238E27FC236}">
                <a16:creationId xmlns:a16="http://schemas.microsoft.com/office/drawing/2014/main" id="{884FE9C7-0C1F-EFD4-60D4-BBC9B6BB3E8C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5887779" y="2786722"/>
            <a:ext cx="0" cy="11466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98" name="Straight Arrow Connector 2097">
            <a:extLst>
              <a:ext uri="{FF2B5EF4-FFF2-40B4-BE49-F238E27FC236}">
                <a16:creationId xmlns:a16="http://schemas.microsoft.com/office/drawing/2014/main" id="{C3DF3C24-BE21-B3CB-CA49-DB0B2D2FC0B1}"/>
              </a:ext>
            </a:extLst>
          </p:cNvPr>
          <p:cNvCxnSpPr>
            <a:cxnSpLocks/>
            <a:endCxn id="2094" idx="2"/>
          </p:cNvCxnSpPr>
          <p:nvPr/>
        </p:nvCxnSpPr>
        <p:spPr>
          <a:xfrm>
            <a:off x="5887779" y="3933350"/>
            <a:ext cx="128902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01" name="Straight Arrow Connector 2100">
            <a:extLst>
              <a:ext uri="{FF2B5EF4-FFF2-40B4-BE49-F238E27FC236}">
                <a16:creationId xmlns:a16="http://schemas.microsoft.com/office/drawing/2014/main" id="{17344F44-7EA7-0725-0351-6511B344AA13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7350618" y="2786722"/>
            <a:ext cx="0" cy="9573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10" name="Straight Arrow Connector 2109">
            <a:extLst>
              <a:ext uri="{FF2B5EF4-FFF2-40B4-BE49-F238E27FC236}">
                <a16:creationId xmlns:a16="http://schemas.microsoft.com/office/drawing/2014/main" id="{AB54A0C7-FA14-6231-4ECE-8F13D9FE2550}"/>
              </a:ext>
            </a:extLst>
          </p:cNvPr>
          <p:cNvCxnSpPr>
            <a:stCxn id="2094" idx="4"/>
          </p:cNvCxnSpPr>
          <p:nvPr/>
        </p:nvCxnSpPr>
        <p:spPr>
          <a:xfrm>
            <a:off x="7350618" y="4110246"/>
            <a:ext cx="0" cy="5459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11" name="TextBox 2110">
            <a:extLst>
              <a:ext uri="{FF2B5EF4-FFF2-40B4-BE49-F238E27FC236}">
                <a16:creationId xmlns:a16="http://schemas.microsoft.com/office/drawing/2014/main" id="{FD441570-9A57-EC2D-DD2B-1625D6FCE0A6}"/>
              </a:ext>
            </a:extLst>
          </p:cNvPr>
          <p:cNvSpPr txBox="1"/>
          <p:nvPr/>
        </p:nvSpPr>
        <p:spPr>
          <a:xfrm>
            <a:off x="7325224" y="4425438"/>
            <a:ext cx="6676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Shape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6714961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30F31-F1A0-3BAE-E2F0-7AAB79509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78347FA8-377E-CFCF-FA44-5E2B602B2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Result and Analysis</a:t>
            </a:r>
          </a:p>
        </p:txBody>
      </p:sp>
      <p:sp>
        <p:nvSpPr>
          <p:cNvPr id="32" name="내용 개체 틀 1">
            <a:extLst>
              <a:ext uri="{FF2B5EF4-FFF2-40B4-BE49-F238E27FC236}">
                <a16:creationId xmlns:a16="http://schemas.microsoft.com/office/drawing/2014/main" id="{0E5F7EC5-931C-B254-E8EF-2D08F1332B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57" y="587298"/>
            <a:ext cx="9729578" cy="84835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1. Result</a:t>
            </a:r>
            <a:endParaRPr lang="en-US" altLang="ko-KR" sz="200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D3DE02A-27FE-FAAA-23B3-B0AD6595C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8620B-A437-4F0D-A730-8BB93955CBDE}" type="slidenum">
              <a:rPr lang="ko-KR" altLang="en-US" smtClean="0"/>
              <a:pPr/>
              <a:t>12</a:t>
            </a:fld>
            <a:r>
              <a:rPr lang="ko-KR" altLang="en-US" dirty="0"/>
              <a:t> </a:t>
            </a:r>
            <a:r>
              <a:rPr lang="en-US" altLang="ko-KR" dirty="0"/>
              <a:t>/ 15</a:t>
            </a:r>
            <a:endParaRPr lang="ko-KR" altLang="en-US" dirty="0"/>
          </a:p>
        </p:txBody>
      </p:sp>
      <p:pic>
        <p:nvPicPr>
          <p:cNvPr id="4" name="baby">
            <a:hlinkClick r:id="" action="ppaction://media"/>
            <a:extLst>
              <a:ext uri="{FF2B5EF4-FFF2-40B4-BE49-F238E27FC236}">
                <a16:creationId xmlns:a16="http://schemas.microsoft.com/office/drawing/2014/main" id="{893EA286-400B-91F9-DB94-EDAF9142A1E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317294" y="1518720"/>
            <a:ext cx="2769558" cy="1569416"/>
          </a:xfrm>
          <a:prstGeom prst="rect">
            <a:avLst/>
          </a:prstGeom>
        </p:spPr>
      </p:pic>
      <p:pic>
        <p:nvPicPr>
          <p:cNvPr id="5" name="output">
            <a:hlinkClick r:id="" action="ppaction://media"/>
            <a:extLst>
              <a:ext uri="{FF2B5EF4-FFF2-40B4-BE49-F238E27FC236}">
                <a16:creationId xmlns:a16="http://schemas.microsoft.com/office/drawing/2014/main" id="{AAD993AA-9CF7-DA55-3C11-EAFAF4F995F9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317294" y="3827669"/>
            <a:ext cx="2769558" cy="1569416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2875045-B0C9-2047-E53E-7CA856C0B864}"/>
              </a:ext>
            </a:extLst>
          </p:cNvPr>
          <p:cNvCxnSpPr>
            <a:cxnSpLocks/>
          </p:cNvCxnSpPr>
          <p:nvPr/>
        </p:nvCxnSpPr>
        <p:spPr>
          <a:xfrm>
            <a:off x="3273287" y="1435652"/>
            <a:ext cx="0" cy="478403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6DB1758-5F01-D185-022F-6280A12D06BA}"/>
              </a:ext>
            </a:extLst>
          </p:cNvPr>
          <p:cNvSpPr txBox="1"/>
          <p:nvPr/>
        </p:nvSpPr>
        <p:spPr>
          <a:xfrm>
            <a:off x="507097" y="5397085"/>
            <a:ext cx="2579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Static mode, </a:t>
            </a:r>
            <a:r>
              <a:rPr lang="el-GR" altLang="ko-KR" dirty="0"/>
              <a:t>α</a:t>
            </a:r>
            <a:r>
              <a:rPr lang="en-US" altLang="ko-KR" dirty="0"/>
              <a:t>=10</a:t>
            </a:r>
            <a:endParaRPr lang="ko-KR" altLang="en-US" dirty="0"/>
          </a:p>
        </p:txBody>
      </p:sp>
      <p:pic>
        <p:nvPicPr>
          <p:cNvPr id="10" name="raw">
            <a:hlinkClick r:id="" action="ppaction://media"/>
            <a:extLst>
              <a:ext uri="{FF2B5EF4-FFF2-40B4-BE49-F238E27FC236}">
                <a16:creationId xmlns:a16="http://schemas.microsoft.com/office/drawing/2014/main" id="{096C16D2-DA6F-FB03-130E-66FE36F28228}"/>
              </a:ext>
            </a:extLst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7"/>
          <a:stretch>
            <a:fillRect/>
          </a:stretch>
        </p:blipFill>
        <p:spPr>
          <a:xfrm>
            <a:off x="3459724" y="1518720"/>
            <a:ext cx="2733460" cy="153757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42D2EF7-0B2C-AB4D-1156-9A29FB99D761}"/>
              </a:ext>
            </a:extLst>
          </p:cNvPr>
          <p:cNvSpPr txBox="1"/>
          <p:nvPr/>
        </p:nvSpPr>
        <p:spPr>
          <a:xfrm>
            <a:off x="1302228" y="3078821"/>
            <a:ext cx="796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input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4177CD-B00E-1918-7B4C-05CE652DAF7C}"/>
              </a:ext>
            </a:extLst>
          </p:cNvPr>
          <p:cNvSpPr txBox="1"/>
          <p:nvPr/>
        </p:nvSpPr>
        <p:spPr>
          <a:xfrm>
            <a:off x="4476329" y="3078821"/>
            <a:ext cx="796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input</a:t>
            </a:r>
            <a:endParaRPr lang="ko-KR" alt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ABFBE8F-CBCB-0E3B-DB64-1D3F682CDE92}"/>
              </a:ext>
            </a:extLst>
          </p:cNvPr>
          <p:cNvCxnSpPr>
            <a:cxnSpLocks/>
          </p:cNvCxnSpPr>
          <p:nvPr/>
        </p:nvCxnSpPr>
        <p:spPr>
          <a:xfrm>
            <a:off x="6422887" y="1435652"/>
            <a:ext cx="0" cy="478403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5" name="output5">
            <a:hlinkClick r:id="" action="ppaction://media"/>
            <a:extLst>
              <a:ext uri="{FF2B5EF4-FFF2-40B4-BE49-F238E27FC236}">
                <a16:creationId xmlns:a16="http://schemas.microsoft.com/office/drawing/2014/main" id="{F79E94A0-3463-ACED-E303-14AB3FFF5691}"/>
              </a:ext>
            </a:extLst>
          </p:cNvPr>
          <p:cNvPicPr>
            <a:picLocks noChangeAspect="1"/>
          </p:cNvPicPr>
          <p:nvPr>
            <a:vide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3459724" y="3827669"/>
            <a:ext cx="2733460" cy="153757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B24D200-ECC0-5C8F-E003-5DDB771142A4}"/>
              </a:ext>
            </a:extLst>
          </p:cNvPr>
          <p:cNvSpPr txBox="1"/>
          <p:nvPr/>
        </p:nvSpPr>
        <p:spPr>
          <a:xfrm>
            <a:off x="3770827" y="5397085"/>
            <a:ext cx="2579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Static mode, </a:t>
            </a:r>
            <a:r>
              <a:rPr lang="el-GR" altLang="ko-KR" dirty="0"/>
              <a:t>α</a:t>
            </a:r>
            <a:r>
              <a:rPr lang="en-US" altLang="ko-KR" dirty="0"/>
              <a:t>=5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6438C8-52FB-BA6A-419E-D0FBD05BB231}"/>
              </a:ext>
            </a:extLst>
          </p:cNvPr>
          <p:cNvSpPr txBox="1"/>
          <p:nvPr/>
        </p:nvSpPr>
        <p:spPr>
          <a:xfrm>
            <a:off x="7807738" y="3078821"/>
            <a:ext cx="796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input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625F348-6ADD-2EA3-F73B-397EEF2AFBBF}"/>
              </a:ext>
            </a:extLst>
          </p:cNvPr>
          <p:cNvSpPr txBox="1"/>
          <p:nvPr/>
        </p:nvSpPr>
        <p:spPr>
          <a:xfrm>
            <a:off x="6920426" y="5397085"/>
            <a:ext cx="2579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Dynamic mode, </a:t>
            </a:r>
            <a:r>
              <a:rPr lang="el-GR" altLang="ko-KR" dirty="0"/>
              <a:t>α</a:t>
            </a:r>
            <a:r>
              <a:rPr lang="en-US" altLang="ko-KR" dirty="0"/>
              <a:t>=1.5</a:t>
            </a:r>
            <a:endParaRPr lang="ko-KR" altLang="en-US" dirty="0"/>
          </a:p>
        </p:txBody>
      </p:sp>
      <p:pic>
        <p:nvPicPr>
          <p:cNvPr id="21" name="move_test_0724_3">
            <a:hlinkClick r:id="" action="ppaction://media"/>
            <a:extLst>
              <a:ext uri="{FF2B5EF4-FFF2-40B4-BE49-F238E27FC236}">
                <a16:creationId xmlns:a16="http://schemas.microsoft.com/office/drawing/2014/main" id="{4CA6C204-4661-7EB8-FE64-FF8094EDA8A9}"/>
              </a:ext>
            </a:extLst>
          </p:cNvPr>
          <p:cNvPicPr>
            <a:picLocks noChangeAspect="1"/>
          </p:cNvPicPr>
          <p:nvPr>
            <a:vide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9"/>
          <a:stretch>
            <a:fillRect/>
          </a:stretch>
        </p:blipFill>
        <p:spPr>
          <a:xfrm>
            <a:off x="6809994" y="1518720"/>
            <a:ext cx="2727154" cy="1534024"/>
          </a:xfrm>
          <a:prstGeom prst="rect">
            <a:avLst/>
          </a:prstGeom>
        </p:spPr>
      </p:pic>
      <p:pic>
        <p:nvPicPr>
          <p:cNvPr id="23" name="dynamic 1.5">
            <a:hlinkClick r:id="" action="ppaction://media"/>
            <a:extLst>
              <a:ext uri="{FF2B5EF4-FFF2-40B4-BE49-F238E27FC236}">
                <a16:creationId xmlns:a16="http://schemas.microsoft.com/office/drawing/2014/main" id="{0CBA720C-8DDF-D8B5-B0D3-116B76BB3ACD}"/>
              </a:ext>
            </a:extLst>
          </p:cNvPr>
          <p:cNvPicPr>
            <a:picLocks noChangeAspect="1"/>
          </p:cNvPicPr>
          <p:nvPr>
            <a:vide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20"/>
          <a:stretch>
            <a:fillRect/>
          </a:stretch>
        </p:blipFill>
        <p:spPr>
          <a:xfrm>
            <a:off x="6809994" y="3827668"/>
            <a:ext cx="2727152" cy="1534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383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3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003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852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8500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2" dur="10680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6" dur="10667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2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33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34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8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39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seq concurrent="1" nextAc="seek">
              <p:cTn id="40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44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video>
              <p:cMediaNode vol="80000">
                <p:cTn id="45" fill="hold" display="0">
                  <p:stCondLst>
                    <p:cond delay="indefinite"/>
                  </p:stCondLst>
                </p:cTn>
                <p:tgtEl>
                  <p:spTgt spid="15"/>
                </p:tgtEl>
              </p:cMediaNode>
            </p:video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50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video>
              <p:cMediaNode vol="80000">
                <p:cTn id="51" fill="hold" display="0">
                  <p:stCondLst>
                    <p:cond delay="indefinite"/>
                  </p:stCondLst>
                </p:cTn>
                <p:tgtEl>
                  <p:spTgt spid="21"/>
                </p:tgtEl>
              </p:cMediaNode>
            </p:video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56" dur="1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video>
              <p:cMediaNode vol="80000">
                <p:cTn id="57" fill="hold" display="0">
                  <p:stCondLst>
                    <p:cond delay="indefinite"/>
                  </p:stCondLst>
                </p:cTn>
                <p:tgtEl>
                  <p:spTgt spid="23"/>
                </p:tgtEl>
              </p:cMediaNode>
            </p:video>
            <p:seq concurrent="1" nextAc="seek">
              <p:cTn id="58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2" dur="1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A86EA-B16D-7130-8974-458CB20E4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7CD14FE6-A3F1-D5B3-6BCD-FFBEC67EA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Result and Analysis</a:t>
            </a:r>
          </a:p>
        </p:txBody>
      </p:sp>
      <p:sp>
        <p:nvSpPr>
          <p:cNvPr id="32" name="내용 개체 틀 1">
            <a:extLst>
              <a:ext uri="{FF2B5EF4-FFF2-40B4-BE49-F238E27FC236}">
                <a16:creationId xmlns:a16="http://schemas.microsoft.com/office/drawing/2014/main" id="{D2BD20D0-C023-003D-FCC0-889E412D7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57" y="587298"/>
            <a:ext cx="9729578" cy="84835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1. Result</a:t>
            </a:r>
            <a:endParaRPr lang="en-US" altLang="ko-KR" sz="200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1629B5D-01A8-34EF-0936-5FC04FAC7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8620B-A437-4F0D-A730-8BB93955CBDE}" type="slidenum">
              <a:rPr lang="ko-KR" altLang="en-US" smtClean="0"/>
              <a:pPr/>
              <a:t>13</a:t>
            </a:fld>
            <a:r>
              <a:rPr lang="ko-KR" altLang="en-US" dirty="0"/>
              <a:t> </a:t>
            </a:r>
            <a:r>
              <a:rPr lang="en-US" altLang="ko-KR" dirty="0"/>
              <a:t>/ 15</a:t>
            </a:r>
            <a:endParaRPr lang="ko-KR" altLang="en-US" dirty="0"/>
          </a:p>
        </p:txBody>
      </p:sp>
      <p:pic>
        <p:nvPicPr>
          <p:cNvPr id="5" name="output">
            <a:hlinkClick r:id="" action="ppaction://media"/>
            <a:extLst>
              <a:ext uri="{FF2B5EF4-FFF2-40B4-BE49-F238E27FC236}">
                <a16:creationId xmlns:a16="http://schemas.microsoft.com/office/drawing/2014/main" id="{66A2A922-333C-0632-C87D-CF4B5D1CFD2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71519" y="2446509"/>
            <a:ext cx="2792550" cy="158244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5CFF624-F0FB-43A6-7486-2A4854C365DF}"/>
              </a:ext>
            </a:extLst>
          </p:cNvPr>
          <p:cNvSpPr txBox="1"/>
          <p:nvPr/>
        </p:nvSpPr>
        <p:spPr>
          <a:xfrm>
            <a:off x="1105273" y="4028954"/>
            <a:ext cx="796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input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FA1FF9B-A1F0-1C91-EAD0-239AC4053DDE}"/>
                  </a:ext>
                </a:extLst>
              </p:cNvPr>
              <p:cNvSpPr txBox="1"/>
              <p:nvPr/>
            </p:nvSpPr>
            <p:spPr>
              <a:xfrm>
                <a:off x="1431235" y="722251"/>
                <a:ext cx="498281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atin typeface="Cambria Math" panose="02040503050406030204" pitchFamily="18" charset="0"/>
                            </a:rPr>
                            <m:t>G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atin typeface="Cambria Math" panose="02040503050406030204" pitchFamily="18" charset="0"/>
                            </a:rPr>
                            <m:t>m</m:t>
                          </m:r>
                        </m:sub>
                      </m:sSub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b="0" i="0" smtClean="0"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b="0" i="0" smtClean="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sub>
                          </m:sSub>
                          <m:r>
                            <a:rPr lang="en-US" altLang="ko-KR" b="0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b="0" i="0" smtClean="0"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b="0" i="0" smtClean="0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sub>
                          </m:sSub>
                          <m:r>
                            <a:rPr lang="en-US" altLang="ko-KR" b="0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ko-KR" altLang="en-US" b="0" i="0" smtClean="0">
                              <a:latin typeface="Cambria Math" panose="02040503050406030204" pitchFamily="18" charset="0"/>
                            </a:rPr>
                            <m:t>α</m:t>
                          </m:r>
                        </m:e>
                      </m:d>
                      <m:r>
                        <a:rPr lang="en-US" altLang="ko-KR" b="0" i="0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</m:sSub>
                      <m:r>
                        <a:rPr lang="en-US" altLang="ko-KR" b="0" i="0" smtClean="0">
                          <a:latin typeface="Cambria Math" panose="02040503050406030204" pitchFamily="18" charset="0"/>
                        </a:rPr>
                        <m:t>+ </m:t>
                      </m:r>
                      <m:r>
                        <m:rPr>
                          <m:sty m:val="p"/>
                        </m:rPr>
                        <a:rPr lang="ko-KR" altLang="en-US" b="0" i="0" smtClean="0">
                          <a:latin typeface="Cambria Math" panose="02040503050406030204" pitchFamily="18" charset="0"/>
                        </a:rPr>
                        <m:t>α</m:t>
                      </m:r>
                      <m:r>
                        <a:rPr lang="en-US" altLang="ko-KR" b="0" i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  <m:r>
                        <a:rPr lang="en-US" altLang="ko-KR" b="0" i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</m:sSub>
                      <m:r>
                        <a:rPr lang="en-US" altLang="ko-KR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FA1FF9B-A1F0-1C91-EAD0-239AC4053D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1235" y="722251"/>
                <a:ext cx="4982816" cy="369332"/>
              </a:xfrm>
              <a:prstGeom prst="rect">
                <a:avLst/>
              </a:prstGeom>
              <a:blipFill>
                <a:blip r:embed="rId10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maged_baby">
            <a:hlinkClick r:id="" action="ppaction://media"/>
            <a:extLst>
              <a:ext uri="{FF2B5EF4-FFF2-40B4-BE49-F238E27FC236}">
                <a16:creationId xmlns:a16="http://schemas.microsoft.com/office/drawing/2014/main" id="{69F6F240-88DC-9D7A-38F7-E2695C93626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3370087" y="2446509"/>
            <a:ext cx="2792550" cy="158244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2132757-7438-F537-E9B7-10A179A94FF3}"/>
              </a:ext>
            </a:extLst>
          </p:cNvPr>
          <p:cNvSpPr txBox="1"/>
          <p:nvPr/>
        </p:nvSpPr>
        <p:spPr>
          <a:xfrm>
            <a:off x="3897823" y="4028954"/>
            <a:ext cx="2162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Dynamic </a:t>
            </a:r>
            <a:r>
              <a:rPr lang="el-GR" altLang="ko-KR" dirty="0"/>
              <a:t>α</a:t>
            </a:r>
            <a:r>
              <a:rPr lang="en-US" altLang="ko-KR" dirty="0"/>
              <a:t>=0.5 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653D4B1-DBB5-0CFA-3E89-989953484E71}"/>
              </a:ext>
            </a:extLst>
          </p:cNvPr>
          <p:cNvSpPr txBox="1"/>
          <p:nvPr/>
        </p:nvSpPr>
        <p:spPr>
          <a:xfrm>
            <a:off x="4332999" y="2103682"/>
            <a:ext cx="866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level1</a:t>
            </a:r>
            <a:endParaRPr lang="ko-KR" altLang="en-US" dirty="0"/>
          </a:p>
        </p:txBody>
      </p:sp>
      <p:pic>
        <p:nvPicPr>
          <p:cNvPr id="22" name="maged21">
            <a:hlinkClick r:id="" action="ppaction://media"/>
            <a:extLst>
              <a:ext uri="{FF2B5EF4-FFF2-40B4-BE49-F238E27FC236}">
                <a16:creationId xmlns:a16="http://schemas.microsoft.com/office/drawing/2014/main" id="{BC3CF047-3235-B823-7B60-83F6D56B5C4D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6481203" y="2446509"/>
            <a:ext cx="2792550" cy="1582445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92932DF6-531C-5831-63B8-2D97FAF47BDF}"/>
              </a:ext>
            </a:extLst>
          </p:cNvPr>
          <p:cNvSpPr txBox="1"/>
          <p:nvPr/>
        </p:nvSpPr>
        <p:spPr>
          <a:xfrm>
            <a:off x="6914446" y="4028954"/>
            <a:ext cx="2162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Dynamic </a:t>
            </a:r>
            <a:r>
              <a:rPr lang="el-GR" altLang="ko-KR" dirty="0"/>
              <a:t>α</a:t>
            </a:r>
            <a:r>
              <a:rPr lang="en-US" altLang="ko-KR" dirty="0"/>
              <a:t>=0.5 </a:t>
            </a:r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CEC2629-AE2E-AEA0-333D-DEC4A99200B4}"/>
              </a:ext>
            </a:extLst>
          </p:cNvPr>
          <p:cNvSpPr txBox="1"/>
          <p:nvPr/>
        </p:nvSpPr>
        <p:spPr>
          <a:xfrm>
            <a:off x="7508403" y="2103682"/>
            <a:ext cx="866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level2</a:t>
            </a:r>
            <a:endParaRPr lang="ko-KR" altLang="en-US" dirty="0"/>
          </a:p>
        </p:txBody>
      </p:sp>
      <p:pic>
        <p:nvPicPr>
          <p:cNvPr id="26" name="maged51">
            <a:hlinkClick r:id="" action="ppaction://media"/>
            <a:extLst>
              <a:ext uri="{FF2B5EF4-FFF2-40B4-BE49-F238E27FC236}">
                <a16:creationId xmlns:a16="http://schemas.microsoft.com/office/drawing/2014/main" id="{EB80C8E4-48F9-3A14-A07D-263EE514B0EC}"/>
              </a:ext>
            </a:extLst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3370087" y="4812549"/>
            <a:ext cx="2792549" cy="1582444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B9C31D7D-5012-56B5-0C12-523576D5A065}"/>
              </a:ext>
            </a:extLst>
          </p:cNvPr>
          <p:cNvSpPr txBox="1"/>
          <p:nvPr/>
        </p:nvSpPr>
        <p:spPr>
          <a:xfrm>
            <a:off x="4441210" y="4527148"/>
            <a:ext cx="866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level5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25074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3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0034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10034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10034" fill="hold"/>
                                        <p:tgtEl>
                                          <p:spTgt spid="2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9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4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25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0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video>
              <p:cMediaNode vol="80000">
                <p:cTn id="31" fill="hold" display="0">
                  <p:stCondLst>
                    <p:cond delay="indefinite"/>
                  </p:stCondLst>
                </p:cTn>
                <p:tgtEl>
                  <p:spTgt spid="22"/>
                </p:tgtEl>
              </p:cMediaNode>
            </p:video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6" dur="1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video>
              <p:cMediaNode vol="80000">
                <p:cTn id="37" fill="hold" display="0">
                  <p:stCondLst>
                    <p:cond delay="indefinite"/>
                  </p:stCondLst>
                </p:cTn>
                <p:tgtEl>
                  <p:spTgt spid="26"/>
                </p:tgtEl>
              </p:cMediaNode>
            </p:video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42" dur="1" fill="hold"/>
                                        <p:tgtEl>
                                          <p:spTgt spid="2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A06A8-FD9F-C3EE-B9A3-5F64167E0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C474EAA8-6EAC-00C7-7795-82F4BFC22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Conclusion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1DB111D-203D-AFD2-6C0A-DFC0B32DA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8620B-A437-4F0D-A730-8BB93955CBDE}" type="slidenum">
              <a:rPr lang="ko-KR" altLang="en-US" smtClean="0"/>
              <a:pPr/>
              <a:t>14</a:t>
            </a:fld>
            <a:r>
              <a:rPr lang="ko-KR" altLang="en-US" dirty="0"/>
              <a:t> </a:t>
            </a:r>
            <a:r>
              <a:rPr lang="en-US" altLang="ko-KR" dirty="0"/>
              <a:t>/ 15</a:t>
            </a:r>
            <a:endParaRPr lang="ko-KR" altLang="en-US" dirty="0"/>
          </a:p>
        </p:txBody>
      </p:sp>
      <p:sp>
        <p:nvSpPr>
          <p:cNvPr id="8" name="내용 개체 틀 1">
            <a:extLst>
              <a:ext uri="{FF2B5EF4-FFF2-40B4-BE49-F238E27FC236}">
                <a16:creationId xmlns:a16="http://schemas.microsoft.com/office/drawing/2014/main" id="{31519F89-F13F-CE0F-1292-BAFA3BE8AB88}"/>
              </a:ext>
            </a:extLst>
          </p:cNvPr>
          <p:cNvSpPr txBox="1">
            <a:spLocks/>
          </p:cNvSpPr>
          <p:nvPr/>
        </p:nvSpPr>
        <p:spPr>
          <a:xfrm>
            <a:off x="9557" y="587298"/>
            <a:ext cx="9729578" cy="61865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563" indent="-182563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bg1"/>
              </a:buClr>
              <a:buFont typeface="Arial" panose="020B0604020202020204" pitchFamily="34" charset="0"/>
              <a:buChar char="•"/>
              <a:defRPr sz="22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38163" indent="-355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2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719138" indent="-2730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984250" indent="-2667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dirty="0"/>
              <a:t>1. Research Summary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+mn-lt"/>
              </a:rPr>
              <a:t>CNN</a:t>
            </a:r>
            <a:r>
              <a:rPr lang="ko-KR" altLang="en-US" sz="2000" dirty="0">
                <a:latin typeface="+mn-lt"/>
              </a:rPr>
              <a:t>만으로 영상 모션 증폭 가능성 확인  </a:t>
            </a:r>
            <a:endParaRPr lang="en-US" altLang="ko-KR" sz="2000" dirty="0">
              <a:latin typeface="+mn-lt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+mn-lt"/>
              </a:rPr>
              <a:t>전통적 필터 기반 접근 대체 가능 </a:t>
            </a:r>
            <a:endParaRPr lang="en-US" altLang="ko-KR" sz="2000" dirty="0"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altLang="ko-KR" dirty="0"/>
              <a:t>2. Achievements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+mn-ea"/>
              </a:rPr>
              <a:t>논문 구현 및 실행 환경 세팅  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+mn-ea"/>
              </a:rPr>
              <a:t>모델 추론 검증 완료</a:t>
            </a:r>
            <a:endParaRPr lang="en-US" altLang="ko-KR" sz="2000" dirty="0">
              <a:latin typeface="+mn-ea"/>
            </a:endParaRPr>
          </a:p>
          <a:p>
            <a:pPr marL="182563" lvl="1" indent="0">
              <a:lnSpc>
                <a:spcPct val="150000"/>
              </a:lnSpc>
              <a:buNone/>
            </a:pPr>
            <a:r>
              <a:rPr lang="en-US" altLang="ko-KR" b="1" dirty="0">
                <a:latin typeface="+mn-lt"/>
              </a:rPr>
              <a:t>3. Next</a:t>
            </a:r>
            <a:r>
              <a:rPr lang="ko-KR" altLang="en-US" b="1" dirty="0">
                <a:latin typeface="+mn-lt"/>
              </a:rPr>
              <a:t> </a:t>
            </a:r>
            <a:r>
              <a:rPr lang="en-US" altLang="ko-KR" b="1" dirty="0">
                <a:latin typeface="+mn-lt"/>
              </a:rPr>
              <a:t>steps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+mn-ea"/>
              </a:rPr>
              <a:t>다양한 파라미터의 학습 후 분석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+mn-ea"/>
              </a:rPr>
              <a:t>Code </a:t>
            </a:r>
            <a:r>
              <a:rPr lang="ko-KR" altLang="en-US" sz="2000" dirty="0">
                <a:latin typeface="+mn-ea"/>
              </a:rPr>
              <a:t>분석 후 </a:t>
            </a:r>
            <a:r>
              <a:rPr lang="en-US" altLang="ko-KR" sz="2000" dirty="0">
                <a:latin typeface="+mn-ea"/>
              </a:rPr>
              <a:t>customize</a:t>
            </a:r>
          </a:p>
          <a:p>
            <a:pPr marL="182563" lvl="1" indent="0">
              <a:lnSpc>
                <a:spcPct val="150000"/>
              </a:lnSpc>
              <a:buNone/>
            </a:pPr>
            <a:endParaRPr lang="en-US" altLang="ko-KR" sz="2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651236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A1643-3254-7CB5-8B16-AE8CD09BF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DC580D2C-81E7-868D-19B1-485FD3FC1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Conclusion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9DF82C3-26F2-5DD5-631D-1136FCD8C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8620B-A437-4F0D-A730-8BB93955CBDE}" type="slidenum">
              <a:rPr lang="ko-KR" altLang="en-US" smtClean="0"/>
              <a:pPr/>
              <a:t>15</a:t>
            </a:fld>
            <a:r>
              <a:rPr lang="ko-KR" altLang="en-US" dirty="0"/>
              <a:t> </a:t>
            </a:r>
            <a:r>
              <a:rPr lang="en-US" altLang="ko-KR" dirty="0"/>
              <a:t>/ 15</a:t>
            </a:r>
            <a:endParaRPr lang="ko-KR" altLang="en-US" dirty="0"/>
          </a:p>
        </p:txBody>
      </p:sp>
      <p:sp>
        <p:nvSpPr>
          <p:cNvPr id="8" name="내용 개체 틀 1">
            <a:extLst>
              <a:ext uri="{FF2B5EF4-FFF2-40B4-BE49-F238E27FC236}">
                <a16:creationId xmlns:a16="http://schemas.microsoft.com/office/drawing/2014/main" id="{20E44661-4D72-CC0A-F1CE-13805FB6F87C}"/>
              </a:ext>
            </a:extLst>
          </p:cNvPr>
          <p:cNvSpPr txBox="1">
            <a:spLocks/>
          </p:cNvSpPr>
          <p:nvPr/>
        </p:nvSpPr>
        <p:spPr>
          <a:xfrm>
            <a:off x="9557" y="587297"/>
            <a:ext cx="9729578" cy="4806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563" indent="-182563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bg1"/>
              </a:buClr>
              <a:buFont typeface="Arial" panose="020B0604020202020204" pitchFamily="34" charset="0"/>
              <a:buChar char="•"/>
              <a:defRPr sz="22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38163" indent="-355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2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719138" indent="-2730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984250" indent="-2667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1400" dirty="0">
                <a:latin typeface="+mn-ea"/>
              </a:rPr>
              <a:t>궁금한 점들</a:t>
            </a:r>
            <a:endParaRPr lang="en-US" altLang="ko-KR" sz="14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400" dirty="0">
                <a:latin typeface="+mn-ea"/>
              </a:rPr>
              <a:t>노이즈감소를 목적으로 모델 재설계를 목표로 합니다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latin typeface="+mn-ea"/>
              </a:rPr>
              <a:t>1.</a:t>
            </a:r>
            <a:r>
              <a:rPr lang="ko-KR" altLang="en-US" sz="1400" dirty="0">
                <a:latin typeface="+mn-ea"/>
              </a:rPr>
              <a:t> 노이즈 제거의 아이디어</a:t>
            </a:r>
            <a:endParaRPr lang="en-US" altLang="ko-KR" sz="1400" dirty="0">
              <a:latin typeface="+mn-ea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400" b="0" dirty="0">
                <a:latin typeface="+mn-ea"/>
              </a:rPr>
              <a:t>Manipulator</a:t>
            </a:r>
            <a:r>
              <a:rPr lang="ko-KR" altLang="en-US" sz="1400" b="0" dirty="0">
                <a:latin typeface="+mn-ea"/>
              </a:rPr>
              <a:t>에서 </a:t>
            </a:r>
            <a:r>
              <a:rPr lang="el-GR" altLang="ko-KR" sz="1400" b="0" dirty="0">
                <a:latin typeface="+mn-ea"/>
              </a:rPr>
              <a:t>α</a:t>
            </a:r>
            <a:r>
              <a:rPr lang="en-US" altLang="ko-KR" sz="1400" b="0" dirty="0">
                <a:latin typeface="+mn-ea"/>
              </a:rPr>
              <a:t> </a:t>
            </a:r>
            <a:r>
              <a:rPr lang="ko-KR" altLang="en-US" sz="1400" b="0" dirty="0">
                <a:latin typeface="+mn-ea"/>
              </a:rPr>
              <a:t>값을 </a:t>
            </a:r>
            <a:r>
              <a:rPr lang="en-US" altLang="ko-KR" sz="1400" b="0" dirty="0">
                <a:latin typeface="+mn-ea"/>
              </a:rPr>
              <a:t>0.5</a:t>
            </a:r>
            <a:r>
              <a:rPr lang="ko-KR" altLang="en-US" sz="1400" b="0" dirty="0">
                <a:latin typeface="+mn-ea"/>
              </a:rPr>
              <a:t>로 줄이는 방식</a:t>
            </a:r>
            <a:endParaRPr lang="en-US" altLang="ko-KR" sz="1400" b="0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ko-KR" sz="1400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ko-KR" sz="14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latin typeface="+mn-ea"/>
              </a:rPr>
              <a:t>2. </a:t>
            </a:r>
            <a:r>
              <a:rPr lang="ko-KR" altLang="en-US" sz="1400" dirty="0">
                <a:latin typeface="+mn-ea"/>
              </a:rPr>
              <a:t>모델 학습에 대한 의문</a:t>
            </a:r>
            <a:endParaRPr lang="en-US" altLang="ko-KR" sz="14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400" b="0" dirty="0">
                <a:latin typeface="+mn-ea"/>
              </a:rPr>
              <a:t>이 논문에서 과한 움직임을 </a:t>
            </a:r>
            <a:r>
              <a:rPr lang="en-US" altLang="ko-KR" sz="1400" b="0" dirty="0">
                <a:latin typeface="+mn-ea"/>
              </a:rPr>
              <a:t>synthetic dataset</a:t>
            </a:r>
            <a:r>
              <a:rPr lang="ko-KR" altLang="en-US" sz="1400" b="0" dirty="0">
                <a:latin typeface="+mn-ea"/>
              </a:rPr>
              <a:t>으로 만들어 내서 오차 학습을 하였다면</a:t>
            </a:r>
            <a:r>
              <a:rPr lang="en-US" altLang="ko-KR" sz="1400" b="0" dirty="0">
                <a:latin typeface="+mn-ea"/>
              </a:rPr>
              <a:t>, </a:t>
            </a:r>
          </a:p>
          <a:p>
            <a:pPr>
              <a:lnSpc>
                <a:spcPct val="150000"/>
              </a:lnSpc>
            </a:pPr>
            <a:r>
              <a:rPr lang="ko-KR" altLang="en-US" sz="1400" b="0" dirty="0">
                <a:latin typeface="+mn-ea"/>
              </a:rPr>
              <a:t>반대로 과한 움직임을 입력으로 넣고 정적인 이미지로 오차학습을 하면 움직임을 감소하는쪽으로 학습이 되는지 궁금합니다</a:t>
            </a:r>
            <a:r>
              <a:rPr lang="en-US" altLang="ko-KR" sz="1400" b="0" dirty="0"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800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ko-KR" sz="1800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ko-KR" sz="1800" dirty="0">
              <a:latin typeface="+mn-ea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ko-KR" sz="1800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ko-KR" sz="18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030230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ESAL-IMS">
      <a:dk1>
        <a:sysClr val="windowText" lastClr="000000"/>
      </a:dk1>
      <a:lt1>
        <a:sysClr val="window" lastClr="FFFFFF"/>
      </a:lt1>
      <a:dk2>
        <a:srgbClr val="66665C"/>
      </a:dk2>
      <a:lt2>
        <a:srgbClr val="C80150"/>
      </a:lt2>
      <a:accent1>
        <a:srgbClr val="4E67C8"/>
      </a:accent1>
      <a:accent2>
        <a:srgbClr val="59A8D1"/>
      </a:accent2>
      <a:accent3>
        <a:srgbClr val="5DCEAF"/>
      </a:accent3>
      <a:accent4>
        <a:srgbClr val="A7EA52"/>
      </a:accent4>
      <a:accent5>
        <a:srgbClr val="FFB300"/>
      </a:accent5>
      <a:accent6>
        <a:srgbClr val="FF8021"/>
      </a:accent6>
      <a:hlink>
        <a:srgbClr val="56C7AA"/>
      </a:hlink>
      <a:folHlink>
        <a:srgbClr val="59A8D1"/>
      </a:folHlink>
    </a:clrScheme>
    <a:fontScheme name="사용자 지정 3">
      <a:majorFont>
        <a:latin typeface="Arial Black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24762</TotalTime>
  <Words>794</Words>
  <Application>Microsoft Office PowerPoint</Application>
  <PresentationFormat>A4 Paper (210x297 mm)</PresentationFormat>
  <Paragraphs>197</Paragraphs>
  <Slides>15</Slides>
  <Notes>14</Notes>
  <HiddenSlides>0</HiddenSlides>
  <MMClips>10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맑은 고딕</vt:lpstr>
      <vt:lpstr>Arial</vt:lpstr>
      <vt:lpstr>Arial Black</vt:lpstr>
      <vt:lpstr>Cambria Math</vt:lpstr>
      <vt:lpstr>Wingdings</vt:lpstr>
      <vt:lpstr>Office 테마</vt:lpstr>
      <vt:lpstr>Learning based video motion magnification</vt:lpstr>
      <vt:lpstr>Outline</vt:lpstr>
      <vt:lpstr>Introduction</vt:lpstr>
      <vt:lpstr>Introduction</vt:lpstr>
      <vt:lpstr>Introduction</vt:lpstr>
      <vt:lpstr>Gantt chart</vt:lpstr>
      <vt:lpstr>Implementation</vt:lpstr>
      <vt:lpstr>Implementation</vt:lpstr>
      <vt:lpstr>Implementation</vt:lpstr>
      <vt:lpstr>Implementation</vt:lpstr>
      <vt:lpstr>Implementation</vt:lpstr>
      <vt:lpstr>Result and Analysis</vt:lpstr>
      <vt:lpstr>Result and Analysis</vt:lpstr>
      <vt:lpstr>Conclusion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사용자</dc:creator>
  <cp:lastModifiedBy>최승헌</cp:lastModifiedBy>
  <cp:revision>1943</cp:revision>
  <cp:lastPrinted>2025-07-24T04:34:42Z</cp:lastPrinted>
  <dcterms:created xsi:type="dcterms:W3CDTF">2017-08-14T05:22:50Z</dcterms:created>
  <dcterms:modified xsi:type="dcterms:W3CDTF">2025-07-24T04:39:05Z</dcterms:modified>
  <cp:version/>
</cp:coreProperties>
</file>